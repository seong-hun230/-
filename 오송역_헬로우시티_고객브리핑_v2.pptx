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41" r:id="rId92"/>
    <p:sldId id="342" r:id="rId93"/>
    <p:sldId id="343" r:id="rId94"/>
    <p:sldId id="259" r:id="rId10"/>
    <p:sldId id="310" r:id="rId61"/>
    <p:sldId id="348" r:id="rId99"/>
    <p:sldId id="260" r:id="rId11"/>
    <p:sldId id="264" r:id="rId15"/>
    <p:sldId id="265" r:id="rId16"/>
    <p:sldId id="349" r:id="rId100"/>
    <p:sldId id="319" r:id="rId70"/>
    <p:sldId id="317" r:id="rId68"/>
    <p:sldId id="314" r:id="rId65"/>
    <p:sldId id="315" r:id="rId66"/>
    <p:sldId id="344" r:id="rId95"/>
    <p:sldId id="293" r:id="rId44"/>
    <p:sldId id="297" r:id="rId48"/>
    <p:sldId id="298" r:id="rId49"/>
    <p:sldId id="345" r:id="rId96"/>
    <p:sldId id="266" r:id="rId17"/>
    <p:sldId id="267" r:id="rId18"/>
    <p:sldId id="269" r:id="rId20"/>
    <p:sldId id="270" r:id="rId21"/>
    <p:sldId id="271" r:id="rId22"/>
    <p:sldId id="346" r:id="rId97"/>
    <p:sldId id="299" r:id="rId50"/>
    <p:sldId id="273" r:id="rId24"/>
    <p:sldId id="350" r:id="rId101"/>
    <p:sldId id="272" r:id="rId23"/>
    <p:sldId id="275" r:id="rId26"/>
    <p:sldId id="274" r:id="rId25"/>
    <p:sldId id="351" r:id="rId102"/>
    <p:sldId id="347" r:id="rId98"/>
    <p:sldId id="300" r:id="rId51"/>
    <p:sldId id="282" r:id="rId33"/>
    <p:sldId id="276" r:id="rId27"/>
    <p:sldId id="281" r:id="rId32"/>
    <p:sldId id="280" r:id="rId31"/>
    <p:sldId id="352" r:id="rId103"/>
    <p:sldId id="305" r:id="rId56"/>
    <p:sldId id="261" r:id="rId12"/>
    <p:sldId id="263" r:id="rId14"/>
    <p:sldId id="311" r:id="rId62"/>
    <p:sldId id="312" r:id="rId63"/>
    <p:sldId id="313" r:id="rId64"/>
    <p:sldId id="316" r:id="rId67"/>
    <p:sldId id="318" r:id="rId69"/>
    <p:sldId id="320" r:id="rId71"/>
    <p:sldId id="294" r:id="rId45"/>
    <p:sldId id="295" r:id="rId46"/>
    <p:sldId id="296" r:id="rId47"/>
    <p:sldId id="278" r:id="rId29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323" r:id="rId74"/>
    <p:sldId id="324" r:id="rId75"/>
    <p:sldId id="325" r:id="rId76"/>
    <p:sldId id="326" r:id="rId77"/>
    <p:sldId id="327" r:id="rId78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6" Type="http://schemas.openxmlformats.org/officeDocument/2006/relationships/slide" Target="slides/slide50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3" Type="http://schemas.openxmlformats.org/officeDocument/2006/relationships/notesMaster" Target="notesMasters/notesMaster1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[오프닝 · 30초] 안녕하세요, 오늘 브리핑을 맡은 ○○○입니다. 30분 정도면 오송역 헬로우시티를 판단하실 근거를 모두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[훅 · 40초] 먼저 질문 하나 드리겠습니다. KTX역 바로 앞, 49층 주거복합 84㎡가 6억대라면 믿기십니까? (고객 반응 확인) 대부분 '그게 가능해?'라고 하십니다. 오늘 그 답을 하나씩 확인시켜 드리겠습니다.</a:t>
            </a:r>
          </a:p>
          <a:p>
            <a:r>
              <a:t>※ 6억대는 '공급 예정'으로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[순서 · 30초] 고객님이 궁금해하실 순서대로 준비했습니다. 왜 오송인지, 수요가 진짜인지, 왜 헬로우시티인지, 왜 이 가격이고 안전한지, 마지막으로 앞으로의 가치와 절차입니다. 중간에 궁금하신 건 언제든 물어보세요.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[STEP 1 간지 · 15초] 집값이 오르려면 호재가 있어야 하고, 호재는 교통이 있어야 생깁니다. 그래서 첫 번째 질문, 왜 오송인가부터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[전국의 심장 · 60초] (고객 참여) 오송역에서 서울역까지 KTX로 몇 분 걸릴까요? 50분대입니다. 부산·광주도 1시간대입니다. 수도권·영남·호남이 오송에서 만납니다. 세종 정부청사도 BRT로 30분대입니다.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[분기역 · 40초] 오송역은 경부선과 호남선이 갈라지는 국내 유일의 고속철도 분기역입니다. 이용객이 10년 동안 약 3배 늘어 연간 1,250만 명입니다. 사람이 모이는 역입니다.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[교통호재 · 60초] 지금도 빠른데 더 빨라집니다. CTX, 서울~세종 고속도로, 평택~오송 2복선화, 천안~청주공항 복선전철, 충북선 고속화까지 모두 오송을 지납니다.</a:t>
            </a:r>
          </a:p>
          <a:p>
            <a:r>
              <a:t>※ 모두 '예정'이며 일정 변경 가능하다고 함께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[세종역 무산 · 40초] 한때 세종역이 생기면 오송역이 약해진다는 말이 있었지만, 국토부가 경제성이 없다며 추진하지 않기로 했습니다. 대통령 집무실과 국회 세종의사당이 세종으로 오면, 그 관문은 결국 KTX 오송역입니다.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[오송신도시 규모 · 40초] 오송신도시는 광교나 평택보다 크고, 전국 5위 규모입니다. 이미 만들어진 산단에 더해 6곳이 추가로 개발되고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[개발호재 지도 · 60초] 지도에서 번호 하나하나가 개발호재입니다. 영재학교, 셀트리온, KAIST, 서울대병원, CTX, 환승센터까지 모두 헬로우시티 반경 안에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[들어오는 돈 · 60초] 숫자로 보시면 더 명확합니다. 셀트리온 2조, 제3산단 2조 3천억, 환승센터 1조 이상입니다. 돈과 일자리가 들어오는 곳에 사람이 오고, 사람이 오는 곳의 집값이 오릅니다.</a:t>
            </a:r>
          </a:p>
          <a:p>
            <a:r>
              <a:t>※ '무조건 오른다' 단정 금지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[셀트리온 · 40초] 이번 달 2일 충북도·청주시·셀트리온그룹이 2조원 투자협약을 맺었습니다. 6만평 생산시설, 신규 고용 700명입니다. 앵커 기업이 오면 협력업체가 따라옵니다.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[제3산단·KAIST·서울대병원 · 40초] 제3생명과학 국가산단 사업비만 2조 3천억, 고용유발 1만 1천여 명입니다. 여기에 KAIST 바이오 캠퍼스와 서울대병원 임상병원이 계획되어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[환승센터 · 40초] 오송역도 단순한 기차역에서 상업·업무·숙박이 들어서는 1조원 규모 복합 랜드마크로 바뀔 계획입니다. 현재 재공모가 진행 중입니다.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[동대구역 사례 · 30초] 동대구역이 복합개발 이후 어떻게 변했는지 보시면 오송역의 미래를 그려보실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[STEP 2 간지 · 15초] 호재가 많아도 사람이 오지 않으면 소용없습니다. 수요가 진짜인지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[인구 · 40초] 청주는 89만 명을 넘어 100만 특례시를 향하고 있고, 오송읍 인구는 5년 만에 2배가 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[공급 절벽 · 40초] 사람은 늘어나는데, 현재 2027년 이후 흥덕구 신규 공급 계획이 없습니다. 공급이 부족하면 가격을 받쳐줍니다.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[힐스테이트 사례 · 60초] 같은 오송역세권에서 올해 1월 공급된 힐스테이트 민간임대 200세대에 3만 4천 건이 넘게 몰렸습니다. 172.6 대 1, 즉시 마감입니다. 조합원 입주권 프리미엄 호가가 7천~9천만원입니다. 수요는 이미 증명됐습니다.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[STEP 3 간지 · 15초] 그럼 오송역세권 안에서도 왜 헬로우시티인지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[역세권 중심 · 40초] 21만 6천 평 오송역세권 도시개발사업의 중심, 역 바로 앞 일반상업지역에 들어서는 49층 주거복합이 헬로우시티입니다.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[동탄역 비교 · 60초] KTX 동탄역 앞 주거복합은 주변 시세의 약 1.6배로 형성돼 있습니다. 헬로우시티는 같은 KTX 초역세권 입지에 개발호재까지 더해져 있습니다.</a:t>
            </a:r>
          </a:p>
          <a:p>
            <a:r>
              <a:t>※ '동탄처럼 된다' 단정 금지, 성장 사례로만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[사업개요 · 40초] 지하 3층~지상 49층, 아파트 480세대입니다. 설계는 포스코A&amp;C, 자금관리는 신한자산신탁이 맡았습니다. 주차는 세대당 1.7대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[84A 평면 · 60초] 4베이 판상형에 와이드 거실, 아일랜드 주방, 팬트리까지 갖췄습니다. 커뮤니티에는 피트니스, 골프연습장이 계획되어 있습니다. (고객 가족 구성에 맞춰 공간 설명)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[일반 아파트 비교 · 40초] 역세권, 49층 조망, 단지 내 상가는 확실한 장점입니다. 전용률이나 관리비처럼 주상복합의 특성도 솔직하게 말씀드립니다. 장단점을 다 아시고 판단하시는 게 맞습니다.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[STEP 4 간지 · 15초] 이제 가장 궁금하셨던 가격, 그리고 안전성입니다.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[가격 비교 · 60초] 흥덕구 리딩단지 84㎡가 7억~10억대입니다. 흥덕구 평균 매매가는 2년여간 약 20% 올랐습니다. 헬로우시티는 역 앞 49층 84㎡가 6억대 공급 예정입니다. (잠시 멈추고 고객 반응 확인)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싼가 · 60초] 이 가격이 가능한 이유는 품질이 아니라 구조입니다. 지역주택조합은 조합원이 사업주체라 시행이익과 금융비용이 덜 붙습니다. 청약통장도, 추첨도 필요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[걱정되시죠 · 60초] 지역주택조합이라고 하면 걱정되시는 게 당연합니다. 가장 많이 묻는 4가지 걱정에 서류로 답하겠습니다. 저희 말만 믿지 마시고 직접 확인하십시오.</a:t>
            </a:r>
          </a:p>
          <a:p>
            <a:r>
              <a:t>※ '100% 안전', '추가분담금 절대 없음' 금지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[일반 지주택 비교 · 60초] 일반 지주택이 실패하는 가장 큰 이유는 땅입니다. 헬로우시티는 토지 99.9%를 계약한 뒤 모집을 시작했습니다. 출발선이 다릅니다.</a:t>
            </a:r>
          </a:p>
          <a:p>
            <a:r>
              <a:t>※ 계약 완료와 소유권 이전은 다른 단계임을 함께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 단계 · 40초] 일반 지주택은 토지 확보 단계에서 멈추는 경우가 많지만, 헬로우시티는 그 단계를 이미 넘었습니다. 2031년 2월 입주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[협력사 · 40초] 설계는 포스코A&amp;C, 자금관리는 신한금융그룹 100% 자회사인 신한자산신탁, 업무대행은 지주택을 추가분담금 없이 입주까지 완료한 경험이 있는 팍스디앤엠입니다.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[법적 안전장치 · 60초] 개인의 약속이 아니라 법이 정한 장치입니다. 사업승인 기준이 95%에서 80%로 낮아졌고, 2년·3년 기한이 있으며, 가입비는 신탁에 보관되고 예치일부터 30일 안에는 이유 없이 철회할 수 있습니다.</a:t>
            </a:r>
          </a:p>
          <a:p>
            <a:r>
              <a:t>※ 30일은 계약일이 아닌 예치일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[STEP 5 간지 · 15초] 마지막으로 앞으로의 가치, 그리고 진행 절차입니다.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[미래가치 타임라인 · 60초] 조합설립부터 입주, 입주 후까지 호재가 계속 이어집니다. 영재학교 개교, CTX 착공, 셀트리온 투자, KAIST·서울대병원, CTX 개통까지, 시간이 갈수록 가치가 쌓이는 구조입니다.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[자격 · 40초] 자격은 두 가지입니다. 충북 6개월 이상 거주, 그리고 무주택이거나 85㎡ 이하 1채 소유 세대주입니다. 세대원 주택까지 함께 보니 등본으로 바로 확인해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[일정·납부 · 40초] 정계약 후 조합설립인가, 사업계획승인, 착공, 입주 순으로 진행되며, 중도금은 집단대출로 진행 예정입니다. 신한은행이 홍보관에 상주합니다.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[분담금 · 40초] 평균 분담금은 약 6억 7,495만원이며, 동·호수별 금액은 총회에서 확정됩니다. 동·호수는 사업계획승인 후 공개추첨으로 배정합니다.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[계약 일정 · 40초] 정계약은 10월 23일부터 25일까지 3일간이고, 이후 예비자, 잔여 선착순 순서입니다. 계약권한은 정계약 기간 내 1회 양도가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[클로징 · 90초] 결정 전에 이 6가지를 직접 확인하십시오. 모두 보여드리겠습니다. 480세대 한정이고, 계약 후에도 30일 철회 장치가 있습니다. 오송역 앞 49층 84㎡가 6억대, 경쟁력이 있는지 판단해 주십시오. (서류 확인 → 자격 확인 → 계약 안내로 연결)</a:t>
            </a:r>
          </a:p>
          <a:p>
            <a:r>
              <a:t>※ 오늘 날짜에 맞게 '진행 단계' 날짜 수정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[엔딩] 감사합니다. 궁금하신 점은 지금 바로 말씀해 주세요. (숨김 부록 슬라이드는 질문 시 '슬라이드 번호 입력 + Enter'로 이동)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부록] 고객 질문이 있을 때만 보여주는 참고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4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4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3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2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3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3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5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3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3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3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5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5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5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5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5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5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6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6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6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1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5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5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5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1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1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2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3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4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4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4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1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1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4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1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notesSlide" Target="../notesSlides/notesSlide4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notesSlide" Target="../notesSlides/notesSlide1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notesSlide" Target="../notesSlides/notesSlide4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Relationship Id="rId3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Relationship Id="rId3" Type="http://schemas.openxmlformats.org/officeDocument/2006/relationships/notesSlide" Target="../notesSlides/notesSlide6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notesSlide" Target="../notesSlides/notesSlide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Relationship Id="rId3" Type="http://schemas.openxmlformats.org/officeDocument/2006/relationships/notesSlide" Target="../notesSlides/notesSlide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4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Relationship Id="rId3" Type="http://schemas.openxmlformats.org/officeDocument/2006/relationships/notesSlide" Target="../notesSlides/notesSlide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Relationship Id="rId3" Type="http://schemas.openxmlformats.org/officeDocument/2006/relationships/notesSlide" Target="../notesSlides/notesSlide1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Relationship Id="rId3" Type="http://schemas.openxmlformats.org/officeDocument/2006/relationships/notesSlide" Target="../notesSlides/notesSlide2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Relationship Id="rId3" Type="http://schemas.openxmlformats.org/officeDocument/2006/relationships/notesSlide" Target="../notesSlides/notesSlide3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Let's be the Main!"/>
          <p:cNvSpPr txBox="1"/>
          <p:nvPr/>
        </p:nvSpPr>
        <p:spPr>
          <a:xfrm>
            <a:off x="358140" y="4848215"/>
            <a:ext cx="1872874" cy="2435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8" b="1" spc="2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Let's be the Main!</a:t>
            </a:r>
          </a:p>
        </p:txBody>
      </p:sp>
      <p:sp>
        <p:nvSpPr>
          <p:cNvPr id="3" name="텍스트 3: 오송역 메인 1열, 최상에서 누리는 자부심!"/>
          <p:cNvSpPr txBox="1"/>
          <p:nvPr/>
        </p:nvSpPr>
        <p:spPr>
          <a:xfrm>
            <a:off x="358140" y="5163535"/>
            <a:ext cx="296220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3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메인 1열, 최상에서 누리는 자부심!</a:t>
            </a:r>
          </a:p>
        </p:txBody>
      </p:sp>
      <p:sp>
        <p:nvSpPr>
          <p:cNvPr id="4" name="텍스트 4: 오송역 헬로우시티 – 교육자료"/>
          <p:cNvSpPr txBox="1"/>
          <p:nvPr/>
        </p:nvSpPr>
        <p:spPr>
          <a:xfrm>
            <a:off x="358140" y="5427113"/>
            <a:ext cx="4808286" cy="4882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8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65" b="1" spc="-3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 – 사업 브리핑</a:t>
            </a:r>
          </a:p>
        </p:txBody>
      </p:sp>
      <p:sp>
        <p:nvSpPr>
          <p:cNvPr id="5" name="텍스트 5: 오송역세권 도시개발사업지구 C-17BL  ·  아파트 "/>
          <p:cNvSpPr txBox="1"/>
          <p:nvPr/>
        </p:nvSpPr>
        <p:spPr>
          <a:xfrm>
            <a:off x="358140" y="6213920"/>
            <a:ext cx="5742051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48" dirty="0">
                <a:solidFill>
                  <a:srgbClr val="DCE8E0"/>
                </a:solidFill>
                <a:latin typeface="맑은 고딕"/>
                <a:ea typeface="맑은 고딕"/>
                <a:cs typeface="맑은 고딕"/>
              </a:rPr>
              <a:t>오송역세권 도시개발사업지구 C-17BL  ·  아파트 480세대·오피스텔 36실 및 총 516가구 ·  토지확보완료형 지역주택조합</a:t>
            </a:r>
          </a:p>
        </p:txBody>
      </p:sp>
      <p:sp>
        <p:nvSpPr>
          <p:cNvPr id="6" name="텍스트 6: 주식회사 지그디앤씨 |  대표번호 1544-0048  "/>
          <p:cNvSpPr txBox="1"/>
          <p:nvPr/>
        </p:nvSpPr>
        <p:spPr>
          <a:xfrm>
            <a:off x="358140" y="6455322"/>
            <a:ext cx="419798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0" dirty="0">
                <a:solidFill>
                  <a:srgbClr val="C9DCD2"/>
                </a:solidFill>
                <a:latin typeface="맑은 고딕"/>
                <a:ea typeface="맑은 고딕"/>
                <a:cs typeface="맑은 고딕"/>
              </a:rPr>
              <a:t>주식회사 지그디앤씨 |  대표번호 1544-0048  |  주택홍보관 2026.10.23(금) 오픈 예정</a:t>
            </a:r>
          </a:p>
        </p:txBody>
      </p:sp>
      <p:sp>
        <p:nvSpPr>
          <p:cNvPr id="7" name="텍스트 7: 총괄"/>
          <p:cNvSpPr txBox="1"/>
          <p:nvPr/>
        </p:nvSpPr>
        <p:spPr>
          <a:xfrm>
            <a:off x="7240778" y="5192491"/>
            <a:ext cx="33928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1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총괄</a:t>
            </a:r>
          </a:p>
        </p:txBody>
      </p:sp>
      <p:sp>
        <p:nvSpPr>
          <p:cNvPr id="8" name="텍스트 8: 본부"/>
          <p:cNvSpPr txBox="1"/>
          <p:nvPr/>
        </p:nvSpPr>
        <p:spPr>
          <a:xfrm>
            <a:off x="8404606" y="5192491"/>
            <a:ext cx="33928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1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본부</a:t>
            </a:r>
          </a:p>
        </p:txBody>
      </p:sp>
      <p:sp>
        <p:nvSpPr>
          <p:cNvPr id="9" name="텍스트 9: 팀"/>
          <p:cNvSpPr txBox="1"/>
          <p:nvPr/>
        </p:nvSpPr>
        <p:spPr>
          <a:xfrm>
            <a:off x="9567926" y="5192491"/>
            <a:ext cx="18231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1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0" name="텍스트 10: 성명/직급 :"/>
          <p:cNvSpPr txBox="1"/>
          <p:nvPr/>
        </p:nvSpPr>
        <p:spPr>
          <a:xfrm>
            <a:off x="6598031" y="6011793"/>
            <a:ext cx="80953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13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성명/직급 :</a:t>
            </a:r>
          </a:p>
        </p:txBody>
      </p:sp>
      <p:sp>
        <p:nvSpPr>
          <p:cNvPr id="11" name="텍스트 11: 본 이미지는 이해를 돕기 위해 AI로 제작한 이미지입니"/>
          <p:cNvSpPr txBox="1"/>
          <p:nvPr/>
        </p:nvSpPr>
        <p:spPr>
          <a:xfrm>
            <a:off x="7125589" y="103951"/>
            <a:ext cx="263898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2" dirty="0">
                <a:solidFill>
                  <a:srgbClr val="C9DCD2"/>
                </a:solidFill>
                <a:latin typeface="맑은 고딕"/>
                <a:ea typeface="맑은 고딕"/>
                <a:cs typeface="맑은 고딕"/>
              </a:rPr>
              <a:t>본 이미지는 이해를 돕기 위해 AI로 제작한 이미지입니다.</a:t>
            </a:r>
          </a:p>
        </p:txBody>
      </p:sp>
      <p:sp>
        <p:nvSpPr>
          <p:cNvPr id="12" name="텍스트 12: 1"/>
          <p:cNvSpPr txBox="1"/>
          <p:nvPr/>
        </p:nvSpPr>
        <p:spPr>
          <a:xfrm>
            <a:off x="9577705" y="6621609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1 ·  입지 및 개발호재 │ 전국의 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오송인가  │  전국의 심장 청주, 지역사회의 이해</a:t>
            </a:r>
          </a:p>
        </p:txBody>
      </p:sp>
      <p:sp>
        <p:nvSpPr>
          <p:cNvPr id="3" name="텍스트 3: 청주시는, 수도권·영남·호남이 ‘오송’에서 만나는 전국"/>
          <p:cNvSpPr txBox="1"/>
          <p:nvPr/>
        </p:nvSpPr>
        <p:spPr>
          <a:xfrm>
            <a:off x="304800" y="664811"/>
            <a:ext cx="8733948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청주시는, 수도권·영남·호남이 ‘오송’에서 만나는 </a:t>
            </a:r>
            <a:r>
              <a:rPr lang="ko-KR" altLang="en-US" sz="2664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전국의 심장</a:t>
            </a:r>
            <a:r>
              <a:rPr lang="ko-KR" altLang="en-US" sz="266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이자,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KTX오송역 중심의 교통·국가전략사업이 밀집된 </a:t>
            </a:r>
            <a:r>
              <a:rPr lang="ko-KR" altLang="en-US" sz="2662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전국 개발 중심지</a:t>
            </a:r>
          </a:p>
        </p:txBody>
      </p:sp>
      <p:sp>
        <p:nvSpPr>
          <p:cNvPr id="4" name="텍스트 4: 정읍"/>
          <p:cNvSpPr txBox="1"/>
          <p:nvPr/>
        </p:nvSpPr>
        <p:spPr>
          <a:xfrm>
            <a:off x="1720342" y="4819189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정읍</a:t>
            </a:r>
          </a:p>
        </p:txBody>
      </p:sp>
      <p:sp>
        <p:nvSpPr>
          <p:cNvPr id="5" name="텍스트 5: 목포"/>
          <p:cNvSpPr txBox="1"/>
          <p:nvPr/>
        </p:nvSpPr>
        <p:spPr>
          <a:xfrm>
            <a:off x="1320419" y="5644917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목포</a:t>
            </a:r>
          </a:p>
        </p:txBody>
      </p:sp>
      <p:sp>
        <p:nvSpPr>
          <p:cNvPr id="6" name="텍스트 6: 천안아산"/>
          <p:cNvSpPr txBox="1"/>
          <p:nvPr/>
        </p:nvSpPr>
        <p:spPr>
          <a:xfrm>
            <a:off x="1863851" y="3150155"/>
            <a:ext cx="50003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천안아산</a:t>
            </a:r>
          </a:p>
        </p:txBody>
      </p:sp>
      <p:sp>
        <p:nvSpPr>
          <p:cNvPr id="7" name="텍스트 7: 대전"/>
          <p:cNvSpPr txBox="1"/>
          <p:nvPr/>
        </p:nvSpPr>
        <p:spPr>
          <a:xfrm>
            <a:off x="2786760" y="3726862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대전</a:t>
            </a:r>
          </a:p>
        </p:txBody>
      </p:sp>
      <p:sp>
        <p:nvSpPr>
          <p:cNvPr id="8" name="텍스트 8: 김천구미"/>
          <p:cNvSpPr txBox="1"/>
          <p:nvPr/>
        </p:nvSpPr>
        <p:spPr>
          <a:xfrm>
            <a:off x="3326638" y="3919775"/>
            <a:ext cx="50003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김천구미</a:t>
            </a:r>
          </a:p>
        </p:txBody>
      </p:sp>
      <p:sp>
        <p:nvSpPr>
          <p:cNvPr id="9" name="텍스트 9: 울산"/>
          <p:cNvSpPr txBox="1"/>
          <p:nvPr/>
        </p:nvSpPr>
        <p:spPr>
          <a:xfrm>
            <a:off x="4410202" y="4499149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울산</a:t>
            </a:r>
          </a:p>
        </p:txBody>
      </p:sp>
      <p:sp>
        <p:nvSpPr>
          <p:cNvPr id="10" name="텍스트 10: 공주"/>
          <p:cNvSpPr txBox="1"/>
          <p:nvPr/>
        </p:nvSpPr>
        <p:spPr>
          <a:xfrm>
            <a:off x="1937639" y="3726862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공주</a:t>
            </a:r>
          </a:p>
        </p:txBody>
      </p:sp>
      <p:sp>
        <p:nvSpPr>
          <p:cNvPr id="11" name="텍스트 11: 익산"/>
          <p:cNvSpPr txBox="1"/>
          <p:nvPr/>
        </p:nvSpPr>
        <p:spPr>
          <a:xfrm>
            <a:off x="1775205" y="4369609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익산</a:t>
            </a:r>
          </a:p>
        </p:txBody>
      </p:sp>
      <p:sp>
        <p:nvSpPr>
          <p:cNvPr id="12" name="텍스트 12: KTX 서울역"/>
          <p:cNvSpPr txBox="1"/>
          <p:nvPr/>
        </p:nvSpPr>
        <p:spPr>
          <a:xfrm>
            <a:off x="2446020" y="2235486"/>
            <a:ext cx="70504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8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서울역</a:t>
            </a:r>
          </a:p>
        </p:txBody>
      </p:sp>
      <p:sp>
        <p:nvSpPr>
          <p:cNvPr id="13" name="텍스트 13: KTX 광주송정"/>
          <p:cNvSpPr txBox="1"/>
          <p:nvPr/>
        </p:nvSpPr>
        <p:spPr>
          <a:xfrm>
            <a:off x="2137282" y="5328698"/>
            <a:ext cx="82848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9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광주송정</a:t>
            </a:r>
          </a:p>
        </p:txBody>
      </p:sp>
      <p:sp>
        <p:nvSpPr>
          <p:cNvPr id="14" name="텍스트 14: KTX 부산"/>
          <p:cNvSpPr txBox="1"/>
          <p:nvPr/>
        </p:nvSpPr>
        <p:spPr>
          <a:xfrm>
            <a:off x="4533010" y="4896771"/>
            <a:ext cx="58159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부산</a:t>
            </a:r>
          </a:p>
        </p:txBody>
      </p:sp>
      <p:sp>
        <p:nvSpPr>
          <p:cNvPr id="15" name="텍스트 15: 53분"/>
          <p:cNvSpPr txBox="1"/>
          <p:nvPr/>
        </p:nvSpPr>
        <p:spPr>
          <a:xfrm>
            <a:off x="2571623" y="2479517"/>
            <a:ext cx="42310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1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53분</a:t>
            </a:r>
          </a:p>
        </p:txBody>
      </p:sp>
      <p:sp>
        <p:nvSpPr>
          <p:cNvPr id="16" name="텍스트 16: 1시간"/>
          <p:cNvSpPr txBox="1"/>
          <p:nvPr/>
        </p:nvSpPr>
        <p:spPr>
          <a:xfrm>
            <a:off x="2292730" y="5578977"/>
            <a:ext cx="46120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7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1시간</a:t>
            </a:r>
          </a:p>
        </p:txBody>
      </p:sp>
      <p:sp>
        <p:nvSpPr>
          <p:cNvPr id="17" name="텍스트 17: 1시간 42분"/>
          <p:cNvSpPr txBox="1"/>
          <p:nvPr/>
        </p:nvSpPr>
        <p:spPr>
          <a:xfrm>
            <a:off x="4373245" y="5153121"/>
            <a:ext cx="89554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4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1시간 42분</a:t>
            </a:r>
          </a:p>
        </p:txBody>
      </p:sp>
      <p:sp>
        <p:nvSpPr>
          <p:cNvPr id="18" name="텍스트 18: 동대구"/>
          <p:cNvSpPr txBox="1"/>
          <p:nvPr/>
        </p:nvSpPr>
        <p:spPr>
          <a:xfrm>
            <a:off x="3713988" y="4167552"/>
            <a:ext cx="3811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동대구</a:t>
            </a:r>
          </a:p>
        </p:txBody>
      </p:sp>
      <p:sp>
        <p:nvSpPr>
          <p:cNvPr id="19" name="텍스트 19: ― 경부고속선 (KTX)"/>
          <p:cNvSpPr txBox="1"/>
          <p:nvPr/>
        </p:nvSpPr>
        <p:spPr>
          <a:xfrm>
            <a:off x="152400" y="2647936"/>
            <a:ext cx="123293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77" dirty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― 경부고속선 (KTX)</a:t>
            </a:r>
          </a:p>
        </p:txBody>
      </p:sp>
      <p:sp>
        <p:nvSpPr>
          <p:cNvPr id="20" name="텍스트 20: ― 호남고속선 (KTX)"/>
          <p:cNvSpPr txBox="1"/>
          <p:nvPr/>
        </p:nvSpPr>
        <p:spPr>
          <a:xfrm>
            <a:off x="152400" y="2864390"/>
            <a:ext cx="123282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75" dirty="0">
                <a:solidFill>
                  <a:srgbClr val="0F9ED5"/>
                </a:solidFill>
                <a:latin typeface="맑은 고딕"/>
                <a:ea typeface="맑은 고딕"/>
                <a:cs typeface="맑은 고딕"/>
              </a:rPr>
              <a:t>― 호남고속선 (KTX)</a:t>
            </a:r>
          </a:p>
        </p:txBody>
      </p:sp>
      <p:sp>
        <p:nvSpPr>
          <p:cNvPr id="21" name="텍스트 21: ┄ 경부고속도로"/>
          <p:cNvSpPr txBox="1"/>
          <p:nvPr/>
        </p:nvSpPr>
        <p:spPr>
          <a:xfrm>
            <a:off x="152400" y="3076816"/>
            <a:ext cx="943075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106" dirty="0">
                <a:solidFill>
                  <a:srgbClr val="000000">
                    <a:alpha val="0"/>
                  </a:srgbClr>
                </a:solidFill>
                <a:latin typeface="Calibri"/>
                <a:ea typeface="Calibri"/>
                <a:cs typeface="Calibri"/>
              </a:rPr>
              <a:t>┄ </a:t>
            </a:r>
            <a:r>
              <a:rPr lang="ko-KR" altLang="en-US" sz="1106" b="0" spc="-106" dirty="0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경부고속도로</a:t>
            </a:r>
          </a:p>
        </p:txBody>
      </p:sp>
      <p:sp>
        <p:nvSpPr>
          <p:cNvPr id="22" name="텍스트 22: ┄ 중부고속도로"/>
          <p:cNvSpPr txBox="1"/>
          <p:nvPr/>
        </p:nvSpPr>
        <p:spPr>
          <a:xfrm>
            <a:off x="152400" y="3293142"/>
            <a:ext cx="94279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104" dirty="0">
                <a:solidFill>
                  <a:srgbClr val="000000">
                    <a:alpha val="0"/>
                  </a:srgbClr>
                </a:solidFill>
                <a:latin typeface="Calibri"/>
                <a:ea typeface="Calibri"/>
                <a:cs typeface="Calibri"/>
              </a:rPr>
              <a:t>┄ </a:t>
            </a:r>
            <a:r>
              <a:rPr lang="ko-KR" altLang="en-US" sz="1104" b="0" spc="-104" dirty="0">
                <a:solidFill>
                  <a:srgbClr val="4EA72E"/>
                </a:solidFill>
                <a:latin typeface="맑은 고딕"/>
                <a:ea typeface="맑은 고딕"/>
                <a:cs typeface="맑은 고딕"/>
              </a:rPr>
              <a:t>중부고속도로</a:t>
            </a:r>
          </a:p>
        </p:txBody>
      </p:sp>
      <p:sp>
        <p:nvSpPr>
          <p:cNvPr id="23" name="텍스트 23: ┄ 영동고속도로"/>
          <p:cNvSpPr txBox="1"/>
          <p:nvPr/>
        </p:nvSpPr>
        <p:spPr>
          <a:xfrm>
            <a:off x="152400" y="3508743"/>
            <a:ext cx="943075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106" dirty="0">
                <a:solidFill>
                  <a:srgbClr val="000000">
                    <a:alpha val="0"/>
                  </a:srgbClr>
                </a:solidFill>
                <a:latin typeface="Calibri"/>
                <a:ea typeface="Calibri"/>
                <a:cs typeface="Calibri"/>
              </a:rPr>
              <a:t>┄ </a:t>
            </a:r>
            <a:r>
              <a:rPr lang="ko-KR" altLang="en-US" sz="1106" b="0" spc="-106" dirty="0">
                <a:solidFill>
                  <a:srgbClr val="FF66C4"/>
                </a:solidFill>
                <a:latin typeface="맑은 고딕"/>
                <a:ea typeface="맑은 고딕"/>
                <a:cs typeface="맑은 고딕"/>
              </a:rPr>
              <a:t>영동고속도로</a:t>
            </a:r>
          </a:p>
        </p:txBody>
      </p:sp>
      <p:sp>
        <p:nvSpPr>
          <p:cNvPr id="24" name="텍스트 24: ┄ 중앙고속도로"/>
          <p:cNvSpPr txBox="1"/>
          <p:nvPr/>
        </p:nvSpPr>
        <p:spPr>
          <a:xfrm>
            <a:off x="152400" y="3725069"/>
            <a:ext cx="94279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104" dirty="0">
                <a:solidFill>
                  <a:srgbClr val="000000">
                    <a:alpha val="0"/>
                  </a:srgbClr>
                </a:solidFill>
                <a:latin typeface="Calibri"/>
                <a:ea typeface="Calibri"/>
                <a:cs typeface="Calibri"/>
              </a:rPr>
              <a:t>┄ </a:t>
            </a:r>
            <a:r>
              <a:rPr lang="ko-KR" altLang="en-US" sz="1104" b="0" spc="-10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중앙고속도로</a:t>
            </a:r>
          </a:p>
        </p:txBody>
      </p:sp>
      <p:sp>
        <p:nvSpPr>
          <p:cNvPr id="25" name="텍스트 25: ┄ 서울세종고속도로"/>
          <p:cNvSpPr txBox="1"/>
          <p:nvPr/>
        </p:nvSpPr>
        <p:spPr>
          <a:xfrm>
            <a:off x="152400" y="3940543"/>
            <a:ext cx="118939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111" dirty="0">
                <a:solidFill>
                  <a:srgbClr val="000000">
                    <a:alpha val="0"/>
                  </a:srgbClr>
                </a:solidFill>
                <a:latin typeface="Calibri"/>
                <a:ea typeface="Calibri"/>
                <a:cs typeface="Calibri"/>
              </a:rPr>
              <a:t>┄ </a:t>
            </a:r>
            <a:r>
              <a:rPr lang="ko-KR" altLang="en-US" sz="1104" b="0" spc="-111" dirty="0">
                <a:solidFill>
                  <a:srgbClr val="00E5C0"/>
                </a:solidFill>
                <a:latin typeface="맑은 고딕"/>
                <a:ea typeface="맑은 고딕"/>
                <a:cs typeface="맑은 고딕"/>
              </a:rPr>
              <a:t>서울세종고속도로</a:t>
            </a:r>
          </a:p>
        </p:txBody>
      </p:sp>
      <p:sp>
        <p:nvSpPr>
          <p:cNvPr id="26" name="텍스트 26: T R A N S P O R T &amp; D E V E L "/>
          <p:cNvSpPr txBox="1"/>
          <p:nvPr/>
        </p:nvSpPr>
        <p:spPr>
          <a:xfrm>
            <a:off x="5753989" y="2210784"/>
            <a:ext cx="220673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1" spc="-7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T R A N S P O R T &amp; D E V E L O P M E N T</a:t>
            </a:r>
          </a:p>
        </p:txBody>
      </p:sp>
      <p:sp>
        <p:nvSpPr>
          <p:cNvPr id="27" name="텍스트 27: 청주시 전국 교통 노선 및 개발환경"/>
          <p:cNvSpPr txBox="1"/>
          <p:nvPr/>
        </p:nvSpPr>
        <p:spPr>
          <a:xfrm>
            <a:off x="5753989" y="2378331"/>
            <a:ext cx="310212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81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전국 교통 노선 및 개발환경</a:t>
            </a:r>
          </a:p>
        </p:txBody>
      </p:sp>
      <p:sp>
        <p:nvSpPr>
          <p:cNvPr id="28" name="텍스트 28: 01"/>
          <p:cNvSpPr txBox="1"/>
          <p:nvPr/>
        </p:nvSpPr>
        <p:spPr>
          <a:xfrm>
            <a:off x="6363970" y="2923858"/>
            <a:ext cx="19002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10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29" name="텍스트 29: 서울 50분대, 전국 1시간대 생활권"/>
          <p:cNvSpPr txBox="1"/>
          <p:nvPr/>
        </p:nvSpPr>
        <p:spPr>
          <a:xfrm>
            <a:off x="6363970" y="3088183"/>
            <a:ext cx="2476454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6" b="1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 50분대, 전국 1시간대 생활권</a:t>
            </a:r>
          </a:p>
        </p:txBody>
      </p:sp>
      <p:sp>
        <p:nvSpPr>
          <p:cNvPr id="30" name="텍스트 30: 서울 50분대, 광주·부산 1시간대"/>
          <p:cNvSpPr txBox="1"/>
          <p:nvPr/>
        </p:nvSpPr>
        <p:spPr>
          <a:xfrm>
            <a:off x="6363970" y="3342768"/>
            <a:ext cx="1743617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83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서울 50분대, 광주·부산 1시간대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전국 어디로든 가장 빠르게</a:t>
            </a:r>
          </a:p>
        </p:txBody>
      </p:sp>
      <p:sp>
        <p:nvSpPr>
          <p:cNvPr id="31" name="텍스트 31: 02"/>
          <p:cNvSpPr txBox="1"/>
          <p:nvPr/>
        </p:nvSpPr>
        <p:spPr>
          <a:xfrm>
            <a:off x="6363970" y="4041586"/>
            <a:ext cx="19002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10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2" name="텍스트 32: 국가 전략산업의 요충지"/>
          <p:cNvSpPr txBox="1"/>
          <p:nvPr/>
        </p:nvSpPr>
        <p:spPr>
          <a:xfrm>
            <a:off x="6363970" y="4206463"/>
            <a:ext cx="167583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3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국가 전략산업의 요충지</a:t>
            </a:r>
          </a:p>
        </p:txBody>
      </p:sp>
      <p:sp>
        <p:nvSpPr>
          <p:cNvPr id="33" name="텍스트 33: 오송생명과학단지 중심 정부세종청사와 인접한"/>
          <p:cNvSpPr txBox="1"/>
          <p:nvPr/>
        </p:nvSpPr>
        <p:spPr>
          <a:xfrm>
            <a:off x="6363970" y="4460495"/>
            <a:ext cx="2461675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1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오송생명과학단지 중심 정부세종청사와 인접한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1" b="0" spc="-99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K-바이오 국가거점 도시</a:t>
            </a:r>
          </a:p>
        </p:txBody>
      </p:sp>
      <p:sp>
        <p:nvSpPr>
          <p:cNvPr id="34" name="텍스트 34: 03"/>
          <p:cNvSpPr txBox="1"/>
          <p:nvPr/>
        </p:nvSpPr>
        <p:spPr>
          <a:xfrm>
            <a:off x="6363970" y="5159567"/>
            <a:ext cx="19002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10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5" name="텍스트 35: 세종시 정부청사 이전 최대 수혜지"/>
          <p:cNvSpPr txBox="1"/>
          <p:nvPr/>
        </p:nvSpPr>
        <p:spPr>
          <a:xfrm>
            <a:off x="6363970" y="5323891"/>
            <a:ext cx="2385014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7" b="1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세종시 정부청사 이전 최대 수혜지</a:t>
            </a:r>
          </a:p>
        </p:txBody>
      </p:sp>
      <p:sp>
        <p:nvSpPr>
          <p:cNvPr id="36" name="텍스트 36: 세종시 중심지역 진입을 위한 첫 관문 KTX 오송역"/>
          <p:cNvSpPr txBox="1"/>
          <p:nvPr/>
        </p:nvSpPr>
        <p:spPr>
          <a:xfrm>
            <a:off x="6363970" y="5578501"/>
            <a:ext cx="2604932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7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세종시 중심지역 진입을 위한 첫 관문 KTX 오송역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7" b="0" spc="-89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오송역 BRT 환승 이용, 30분대 진입</a:t>
            </a:r>
          </a:p>
        </p:txBody>
      </p:sp>
      <p:sp>
        <p:nvSpPr>
          <p:cNvPr id="37" name="텍스트 37: 4"/>
          <p:cNvSpPr txBox="1"/>
          <p:nvPr/>
        </p:nvSpPr>
        <p:spPr>
          <a:xfrm>
            <a:off x="9577451" y="6621913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8" name="텍스트 38: KTX 오송역"/>
          <p:cNvSpPr txBox="1"/>
          <p:nvPr/>
        </p:nvSpPr>
        <p:spPr>
          <a:xfrm>
            <a:off x="2838323" y="3416396"/>
            <a:ext cx="9184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9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오송역</a:t>
            </a:r>
          </a:p>
        </p:txBody>
      </p:sp>
      <p:sp>
        <p:nvSpPr>
          <p:cNvPr id="39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40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41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42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43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現 정부, 임기 내 대통령집무실, 의사당 건립 총력전 "/>
          <p:cNvSpPr txBox="1"/>
          <p:nvPr/>
        </p:nvSpPr>
        <p:spPr>
          <a:xfrm>
            <a:off x="304800" y="664811"/>
            <a:ext cx="9124007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現 정부, 임기 내 대통령집무실, 의사당 건립 총력전 → </a:t>
            </a:r>
            <a:r>
              <a:rPr lang="ko-KR" altLang="en-US" sz="2624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‘청주’ 위계 상승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2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KTX세종역 사실상 무산</a:t>
            </a:r>
            <a:r>
              <a:rPr lang="ko-KR" altLang="en-US" sz="262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되며 ‘KTX오송역’의 위상은 더욱 상승</a:t>
            </a:r>
          </a:p>
        </p:txBody>
      </p:sp>
      <p:sp>
        <p:nvSpPr>
          <p:cNvPr id="3" name="텍스트 3: 이재명 대통령 “세종을 국정 중심축으로…"/>
          <p:cNvSpPr txBox="1"/>
          <p:nvPr/>
        </p:nvSpPr>
        <p:spPr>
          <a:xfrm>
            <a:off x="986637" y="2791590"/>
            <a:ext cx="3500856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47" b="1" spc="-1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이재명 대통령 “세종을 국정 중심축으로…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47" b="1" spc="-1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집무실 이전 속도”</a:t>
            </a:r>
          </a:p>
        </p:txBody>
      </p:sp>
      <p:sp>
        <p:nvSpPr>
          <p:cNvPr id="4" name="텍스트 4: KTX세종역 신설 논란 사실상 종지부…"/>
          <p:cNvSpPr txBox="1"/>
          <p:nvPr/>
        </p:nvSpPr>
        <p:spPr>
          <a:xfrm>
            <a:off x="5433695" y="2791590"/>
            <a:ext cx="3265753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8" b="1" spc="-1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KTX세종역 신설 논란 사실상 종지부…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8" b="1" spc="-1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예정부지 해제 수순</a:t>
            </a:r>
          </a:p>
        </p:txBody>
      </p:sp>
      <p:sp>
        <p:nvSpPr>
          <p:cNvPr id="5" name="텍스트 5: 2026.08.11."/>
          <p:cNvSpPr txBox="1"/>
          <p:nvPr/>
        </p:nvSpPr>
        <p:spPr>
          <a:xfrm>
            <a:off x="3873372" y="2458754"/>
            <a:ext cx="67114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54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2026.08.11.</a:t>
            </a:r>
          </a:p>
        </p:txBody>
      </p:sp>
      <p:sp>
        <p:nvSpPr>
          <p:cNvPr id="6" name="텍스트 6: 2025.11.27."/>
          <p:cNvSpPr txBox="1"/>
          <p:nvPr/>
        </p:nvSpPr>
        <p:spPr>
          <a:xfrm>
            <a:off x="8354314" y="2458754"/>
            <a:ext cx="6711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54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2025.11.27.</a:t>
            </a:r>
          </a:p>
        </p:txBody>
      </p:sp>
      <p:sp>
        <p:nvSpPr>
          <p:cNvPr id="7" name="텍스트 7: 국회 세종의사당·대통령집무실건립…임기내 완성 당부"/>
          <p:cNvSpPr txBox="1"/>
          <p:nvPr/>
        </p:nvSpPr>
        <p:spPr>
          <a:xfrm>
            <a:off x="986637" y="3430272"/>
            <a:ext cx="3087090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2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국회 세종의사당·대통령집무실건립…임기내 완성 당부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2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초격차 첨단산업 투자강조…“규제·절차과감히 개선해야”</a:t>
            </a:r>
          </a:p>
        </p:txBody>
      </p:sp>
      <p:sp>
        <p:nvSpPr>
          <p:cNvPr id="8" name="텍스트 8: 국토부 &quot;경제성 없는 KTX 세종역 신설 추진 안한다&quot;"/>
          <p:cNvSpPr txBox="1"/>
          <p:nvPr/>
        </p:nvSpPr>
        <p:spPr>
          <a:xfrm>
            <a:off x="5428234" y="3430272"/>
            <a:ext cx="2830423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2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국토부 "경제성 없는 KTX 세종역 신설 추진 안한다"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2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세종시 "편익비용0.86 증가…계획대로추진하겠다"</a:t>
            </a:r>
          </a:p>
        </p:txBody>
      </p:sp>
      <p:sp>
        <p:nvSpPr>
          <p:cNvPr id="9" name="텍스트 9: CHAPTER 01 ·  입지 및 개발호재 │ 전국의 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오송인가  │  전국의 심장 청주, 지역사회의 이해</a:t>
            </a:r>
          </a:p>
        </p:txBody>
      </p:sp>
      <p:sp>
        <p:nvSpPr>
          <p:cNvPr id="10" name="텍스트 10: 5"/>
          <p:cNvSpPr txBox="1"/>
          <p:nvPr/>
        </p:nvSpPr>
        <p:spPr>
          <a:xfrm>
            <a:off x="9577451" y="6621913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11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12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13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14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15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1 ·  입지 및 개발호재 │ 청주 교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청주 교통·개발의 중심 흥덕구</a:t>
            </a:r>
          </a:p>
        </p:txBody>
      </p:sp>
      <p:sp>
        <p:nvSpPr>
          <p:cNvPr id="3" name="텍스트 3: KTX 오송역은 흥덕구 위치, 흥덕구는 세종시와 연접한"/>
          <p:cNvSpPr txBox="1"/>
          <p:nvPr/>
        </p:nvSpPr>
        <p:spPr>
          <a:xfrm>
            <a:off x="304800" y="664811"/>
            <a:ext cx="9327956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KTX 오송역은 흥덕구 위치, 흥덕구는 세종시와 연접한 첨단산업도시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그 외 </a:t>
            </a:r>
            <a:r>
              <a:rPr lang="ko-KR" altLang="en-US" sz="263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모든 교통 역시 ‘흥덕구’에 집중</a:t>
            </a:r>
            <a:r>
              <a:rPr lang="ko-KR" altLang="en-US" sz="263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되어 오송역 중심의 활발한 개발 중</a:t>
            </a:r>
          </a:p>
        </p:txBody>
      </p:sp>
      <p:sp>
        <p:nvSpPr>
          <p:cNvPr id="4" name="텍스트 4: 세종시"/>
          <p:cNvSpPr txBox="1"/>
          <p:nvPr/>
        </p:nvSpPr>
        <p:spPr>
          <a:xfrm>
            <a:off x="2695955" y="5705477"/>
            <a:ext cx="628903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세종시</a:t>
            </a:r>
          </a:p>
        </p:txBody>
      </p:sp>
      <p:sp>
        <p:nvSpPr>
          <p:cNvPr id="5" name="텍스트 5: 청주시"/>
          <p:cNvSpPr txBox="1"/>
          <p:nvPr/>
        </p:nvSpPr>
        <p:spPr>
          <a:xfrm>
            <a:off x="6431279" y="4037922"/>
            <a:ext cx="629172" cy="2746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1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</a:t>
            </a:r>
          </a:p>
        </p:txBody>
      </p:sp>
      <p:sp>
        <p:nvSpPr>
          <p:cNvPr id="6" name="텍스트 6: 청원구"/>
          <p:cNvSpPr txBox="1"/>
          <p:nvPr/>
        </p:nvSpPr>
        <p:spPr>
          <a:xfrm>
            <a:off x="6283197" y="3688127"/>
            <a:ext cx="378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1" spc="-106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</p:txBody>
      </p:sp>
      <p:sp>
        <p:nvSpPr>
          <p:cNvPr id="7" name="텍스트 7: 상당구"/>
          <p:cNvSpPr txBox="1"/>
          <p:nvPr/>
        </p:nvSpPr>
        <p:spPr>
          <a:xfrm>
            <a:off x="6832092" y="4406566"/>
            <a:ext cx="378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1" spc="-106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</p:txBody>
      </p:sp>
      <p:sp>
        <p:nvSpPr>
          <p:cNvPr id="8" name="텍스트 8: 서원구"/>
          <p:cNvSpPr txBox="1"/>
          <p:nvPr/>
        </p:nvSpPr>
        <p:spPr>
          <a:xfrm>
            <a:off x="6017386" y="4711620"/>
            <a:ext cx="378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1" spc="-106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</p:txBody>
      </p:sp>
      <p:sp>
        <p:nvSpPr>
          <p:cNvPr id="9" name="텍스트 9: 흥덕구"/>
          <p:cNvSpPr txBox="1"/>
          <p:nvPr/>
        </p:nvSpPr>
        <p:spPr>
          <a:xfrm>
            <a:off x="4346447" y="3854452"/>
            <a:ext cx="628903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10" name="텍스트 10: 중부고속"/>
          <p:cNvSpPr txBox="1"/>
          <p:nvPr/>
        </p:nvSpPr>
        <p:spPr>
          <a:xfrm>
            <a:off x="5302250" y="4741767"/>
            <a:ext cx="38500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중부고속</a:t>
            </a:r>
          </a:p>
        </p:txBody>
      </p:sp>
      <p:sp>
        <p:nvSpPr>
          <p:cNvPr id="11" name="텍스트 11: 경부고속"/>
          <p:cNvSpPr txBox="1"/>
          <p:nvPr/>
        </p:nvSpPr>
        <p:spPr>
          <a:xfrm>
            <a:off x="4768596" y="4741767"/>
            <a:ext cx="38500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경부고속</a:t>
            </a:r>
          </a:p>
        </p:txBody>
      </p:sp>
      <p:sp>
        <p:nvSpPr>
          <p:cNvPr id="12" name="텍스트 12: 당진청주"/>
          <p:cNvSpPr txBox="1"/>
          <p:nvPr/>
        </p:nvSpPr>
        <p:spPr>
          <a:xfrm>
            <a:off x="5027676" y="2691098"/>
            <a:ext cx="38500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당진청주</a:t>
            </a:r>
          </a:p>
        </p:txBody>
      </p:sp>
      <p:sp>
        <p:nvSpPr>
          <p:cNvPr id="13" name="텍스트 13: CTX 계획"/>
          <p:cNvSpPr txBox="1"/>
          <p:nvPr/>
        </p:nvSpPr>
        <p:spPr>
          <a:xfrm>
            <a:off x="5547105" y="4413822"/>
            <a:ext cx="48742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63" dirty="0">
                <a:solidFill>
                  <a:srgbClr val="00B050"/>
                </a:solidFill>
                <a:latin typeface="맑은 고딕"/>
                <a:ea typeface="맑은 고딕"/>
                <a:cs typeface="맑은 고딕"/>
              </a:rPr>
              <a:t>CTX 계획</a:t>
            </a:r>
          </a:p>
        </p:txBody>
      </p:sp>
      <p:sp>
        <p:nvSpPr>
          <p:cNvPr id="14" name="텍스트 14: 6"/>
          <p:cNvSpPr txBox="1"/>
          <p:nvPr/>
        </p:nvSpPr>
        <p:spPr>
          <a:xfrm>
            <a:off x="9577451" y="6621913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  <p:sp>
        <p:nvSpPr>
          <p:cNvPr id="15" name="텍스트 15: 천안-청주공항 복선(‘30년 예정)"/>
          <p:cNvSpPr txBox="1"/>
          <p:nvPr/>
        </p:nvSpPr>
        <p:spPr>
          <a:xfrm>
            <a:off x="989990" y="3414363"/>
            <a:ext cx="124991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59" dirty="0">
                <a:solidFill>
                  <a:srgbClr val="00B0F0"/>
                </a:solidFill>
                <a:latin typeface="맑은 고딕"/>
                <a:ea typeface="맑은 고딕"/>
                <a:cs typeface="맑은 고딕"/>
              </a:rPr>
              <a:t>천안-청주공항 복선</a:t>
            </a:r>
            <a:r>
              <a:rPr lang="ko-KR" altLang="en-US" sz="696" b="0" spc="-59" dirty="0">
                <a:solidFill>
                  <a:srgbClr val="00B0F0"/>
                </a:solidFill>
                <a:latin typeface="맑은 고딕"/>
                <a:ea typeface="맑은 고딕"/>
                <a:cs typeface="맑은 고딕"/>
              </a:rPr>
              <a:t>(‘30년 예정)</a:t>
            </a:r>
          </a:p>
        </p:txBody>
      </p:sp>
      <p:sp>
        <p:nvSpPr>
          <p:cNvPr id="16" name="텍스트 16: 충북선 고속화(’31년 예정)"/>
          <p:cNvSpPr txBox="1"/>
          <p:nvPr/>
        </p:nvSpPr>
        <p:spPr>
          <a:xfrm>
            <a:off x="1098194" y="3639915"/>
            <a:ext cx="103045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59" dirty="0">
                <a:solidFill>
                  <a:srgbClr val="00B0F0"/>
                </a:solidFill>
                <a:latin typeface="맑은 고딕"/>
                <a:ea typeface="맑은 고딕"/>
                <a:cs typeface="맑은 고딕"/>
              </a:rPr>
              <a:t>충북선 고속화</a:t>
            </a:r>
            <a:r>
              <a:rPr lang="ko-KR" altLang="en-US" sz="696" b="0" spc="-59" dirty="0">
                <a:solidFill>
                  <a:srgbClr val="00B0F0"/>
                </a:solidFill>
                <a:latin typeface="맑은 고딕"/>
                <a:ea typeface="맑은 고딕"/>
                <a:cs typeface="맑은 고딕"/>
              </a:rPr>
              <a:t>(’31년 예정)</a:t>
            </a:r>
          </a:p>
        </p:txBody>
      </p:sp>
      <p:sp>
        <p:nvSpPr>
          <p:cNvPr id="17" name="텍스트 17: 서울세종고속(‘28년 예정)"/>
          <p:cNvSpPr txBox="1"/>
          <p:nvPr/>
        </p:nvSpPr>
        <p:spPr>
          <a:xfrm>
            <a:off x="2053082" y="4146899"/>
            <a:ext cx="107638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서울세종고속(‘28년 예정)</a:t>
            </a:r>
          </a:p>
        </p:txBody>
      </p:sp>
      <p:sp>
        <p:nvSpPr>
          <p:cNvPr id="18" name="텍스트 18: 오송지선"/>
          <p:cNvSpPr txBox="1"/>
          <p:nvPr/>
        </p:nvSpPr>
        <p:spPr>
          <a:xfrm>
            <a:off x="2583814" y="3903947"/>
            <a:ext cx="385003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오송지선</a:t>
            </a:r>
          </a:p>
        </p:txBody>
      </p:sp>
      <p:sp>
        <p:nvSpPr>
          <p:cNvPr id="19" name="텍스트 19: 청주공항"/>
          <p:cNvSpPr txBox="1"/>
          <p:nvPr/>
        </p:nvSpPr>
        <p:spPr>
          <a:xfrm>
            <a:off x="6449314" y="2634933"/>
            <a:ext cx="42773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청주공항</a:t>
            </a:r>
          </a:p>
        </p:txBody>
      </p:sp>
      <p:sp>
        <p:nvSpPr>
          <p:cNvPr id="20" name="텍스트 20: T R A V E L T I M E"/>
          <p:cNvSpPr txBox="1"/>
          <p:nvPr/>
        </p:nvSpPr>
        <p:spPr>
          <a:xfrm>
            <a:off x="7329169" y="2173050"/>
            <a:ext cx="1023151" cy="129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1" spc="-17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T R A V E L T I M E</a:t>
            </a:r>
          </a:p>
        </p:txBody>
      </p:sp>
      <p:sp>
        <p:nvSpPr>
          <p:cNvPr id="21" name="텍스트 21: 오송역 광역 접근성"/>
          <p:cNvSpPr txBox="1"/>
          <p:nvPr/>
        </p:nvSpPr>
        <p:spPr>
          <a:xfrm>
            <a:off x="7329169" y="2359375"/>
            <a:ext cx="136188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5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광역 접근성</a:t>
            </a:r>
          </a:p>
        </p:txBody>
      </p:sp>
      <p:sp>
        <p:nvSpPr>
          <p:cNvPr id="22" name="텍스트 22: KTX오송역 이용 시"/>
          <p:cNvSpPr txBox="1"/>
          <p:nvPr/>
        </p:nvSpPr>
        <p:spPr>
          <a:xfrm>
            <a:off x="7684896" y="2873264"/>
            <a:ext cx="115998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10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KTX오송역 이용 시</a:t>
            </a:r>
          </a:p>
        </p:txBody>
      </p:sp>
      <p:sp>
        <p:nvSpPr>
          <p:cNvPr id="23" name="텍스트 23: 서울 → 오송"/>
          <p:cNvSpPr txBox="1"/>
          <p:nvPr/>
        </p:nvSpPr>
        <p:spPr>
          <a:xfrm>
            <a:off x="7684896" y="3204638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서울 → 오송</a:t>
            </a:r>
          </a:p>
        </p:txBody>
      </p:sp>
      <p:sp>
        <p:nvSpPr>
          <p:cNvPr id="24" name="텍스트 24: 50분대"/>
          <p:cNvSpPr txBox="1"/>
          <p:nvPr/>
        </p:nvSpPr>
        <p:spPr>
          <a:xfrm>
            <a:off x="8729471" y="3115407"/>
            <a:ext cx="631952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8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50</a:t>
            </a:r>
            <a:r>
              <a:rPr lang="ko-KR" altLang="en-US" sz="1200" b="1" spc="-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분대</a:t>
            </a:r>
          </a:p>
        </p:txBody>
      </p:sp>
      <p:sp>
        <p:nvSpPr>
          <p:cNvPr id="25" name="텍스트 25: 목포 → 오송"/>
          <p:cNvSpPr txBox="1"/>
          <p:nvPr/>
        </p:nvSpPr>
        <p:spPr>
          <a:xfrm>
            <a:off x="7684896" y="3471338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목포 → 오송</a:t>
            </a:r>
          </a:p>
        </p:txBody>
      </p:sp>
      <p:sp>
        <p:nvSpPr>
          <p:cNvPr id="26" name="텍스트 26: 1시간대"/>
          <p:cNvSpPr txBox="1"/>
          <p:nvPr/>
        </p:nvSpPr>
        <p:spPr>
          <a:xfrm>
            <a:off x="8764523" y="3382106"/>
            <a:ext cx="596900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7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1200" b="1" spc="-7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시간대</a:t>
            </a:r>
          </a:p>
        </p:txBody>
      </p:sp>
      <p:sp>
        <p:nvSpPr>
          <p:cNvPr id="27" name="텍스트 27: 부산 → 오송"/>
          <p:cNvSpPr txBox="1"/>
          <p:nvPr/>
        </p:nvSpPr>
        <p:spPr>
          <a:xfrm>
            <a:off x="7684896" y="3738038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부산 → 오송</a:t>
            </a:r>
          </a:p>
        </p:txBody>
      </p:sp>
      <p:sp>
        <p:nvSpPr>
          <p:cNvPr id="28" name="텍스트 28: 1시간대"/>
          <p:cNvSpPr txBox="1"/>
          <p:nvPr/>
        </p:nvSpPr>
        <p:spPr>
          <a:xfrm>
            <a:off x="8764523" y="3648806"/>
            <a:ext cx="596900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7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1200" b="1" spc="-7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시간대</a:t>
            </a:r>
          </a:p>
        </p:txBody>
      </p:sp>
      <p:sp>
        <p:nvSpPr>
          <p:cNvPr id="29" name="텍스트 29: 차량 이용 시"/>
          <p:cNvSpPr txBox="1"/>
          <p:nvPr/>
        </p:nvSpPr>
        <p:spPr>
          <a:xfrm>
            <a:off x="7684896" y="4257946"/>
            <a:ext cx="73174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5" b="1" spc="-11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차량 이용 시</a:t>
            </a:r>
          </a:p>
        </p:txBody>
      </p:sp>
      <p:sp>
        <p:nvSpPr>
          <p:cNvPr id="30" name="텍스트 30: 서울 → 오송"/>
          <p:cNvSpPr txBox="1"/>
          <p:nvPr/>
        </p:nvSpPr>
        <p:spPr>
          <a:xfrm>
            <a:off x="7684896" y="4589446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서울 → 오송</a:t>
            </a:r>
          </a:p>
        </p:txBody>
      </p:sp>
      <p:sp>
        <p:nvSpPr>
          <p:cNvPr id="31" name="텍스트 31: 1시간대"/>
          <p:cNvSpPr txBox="1"/>
          <p:nvPr/>
        </p:nvSpPr>
        <p:spPr>
          <a:xfrm>
            <a:off x="8764523" y="4500215"/>
            <a:ext cx="596900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7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1200" b="1" spc="-7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시간대</a:t>
            </a:r>
          </a:p>
        </p:txBody>
      </p:sp>
      <p:sp>
        <p:nvSpPr>
          <p:cNvPr id="32" name="텍스트 32: 세종 → 오송"/>
          <p:cNvSpPr txBox="1"/>
          <p:nvPr/>
        </p:nvSpPr>
        <p:spPr>
          <a:xfrm>
            <a:off x="7684896" y="4856146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세종 → 오송</a:t>
            </a:r>
          </a:p>
        </p:txBody>
      </p:sp>
      <p:sp>
        <p:nvSpPr>
          <p:cNvPr id="33" name="텍스트 33: 20분대"/>
          <p:cNvSpPr txBox="1"/>
          <p:nvPr/>
        </p:nvSpPr>
        <p:spPr>
          <a:xfrm>
            <a:off x="8729471" y="4766915"/>
            <a:ext cx="631952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8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20</a:t>
            </a:r>
            <a:r>
              <a:rPr lang="ko-KR" altLang="en-US" sz="1200" b="1" spc="-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분대</a:t>
            </a:r>
          </a:p>
        </p:txBody>
      </p:sp>
      <p:sp>
        <p:nvSpPr>
          <p:cNvPr id="34" name="텍스트 34: BRT 이용 시"/>
          <p:cNvSpPr txBox="1"/>
          <p:nvPr/>
        </p:nvSpPr>
        <p:spPr>
          <a:xfrm>
            <a:off x="7684896" y="5375673"/>
            <a:ext cx="78508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BRT 이용 시</a:t>
            </a:r>
          </a:p>
        </p:txBody>
      </p:sp>
      <p:sp>
        <p:nvSpPr>
          <p:cNvPr id="35" name="텍스트 35: 세종 → 오송"/>
          <p:cNvSpPr txBox="1"/>
          <p:nvPr/>
        </p:nvSpPr>
        <p:spPr>
          <a:xfrm>
            <a:off x="7684896" y="5707097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세종 → 오송</a:t>
            </a:r>
          </a:p>
        </p:txBody>
      </p:sp>
      <p:sp>
        <p:nvSpPr>
          <p:cNvPr id="36" name="텍스트 36: 30분대"/>
          <p:cNvSpPr txBox="1"/>
          <p:nvPr/>
        </p:nvSpPr>
        <p:spPr>
          <a:xfrm>
            <a:off x="8729471" y="5617865"/>
            <a:ext cx="631952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8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30</a:t>
            </a:r>
            <a:r>
              <a:rPr lang="ko-KR" altLang="en-US" sz="1200" b="1" spc="-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분대</a:t>
            </a:r>
          </a:p>
        </p:txBody>
      </p:sp>
      <p:sp>
        <p:nvSpPr>
          <p:cNvPr id="37" name="텍스트 37: 오송"/>
          <p:cNvSpPr txBox="1"/>
          <p:nvPr/>
        </p:nvSpPr>
        <p:spPr>
          <a:xfrm>
            <a:off x="4029709" y="4200557"/>
            <a:ext cx="27222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38" name="텍스트 38: 평택-오송 2복선화(‘28년 예정)"/>
          <p:cNvSpPr txBox="1"/>
          <p:nvPr/>
        </p:nvSpPr>
        <p:spPr>
          <a:xfrm>
            <a:off x="1301750" y="3036157"/>
            <a:ext cx="123012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5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평택-오송 2복선화</a:t>
            </a:r>
            <a:r>
              <a:rPr lang="ko-KR" altLang="en-US" sz="696" b="0" spc="-5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(‘28년 예정)</a:t>
            </a:r>
          </a:p>
        </p:txBody>
      </p:sp>
      <p:sp>
        <p:nvSpPr>
          <p:cNvPr id="39" name="텍스트 39: 호남선"/>
          <p:cNvSpPr txBox="1"/>
          <p:nvPr/>
        </p:nvSpPr>
        <p:spPr>
          <a:xfrm>
            <a:off x="4271771" y="5741480"/>
            <a:ext cx="327152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호남선</a:t>
            </a:r>
          </a:p>
        </p:txBody>
      </p:sp>
      <p:sp>
        <p:nvSpPr>
          <p:cNvPr id="40" name="텍스트 40: 경부선"/>
          <p:cNvSpPr txBox="1"/>
          <p:nvPr/>
        </p:nvSpPr>
        <p:spPr>
          <a:xfrm>
            <a:off x="4759705" y="5741480"/>
            <a:ext cx="327152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경부선</a:t>
            </a:r>
          </a:p>
        </p:txBody>
      </p:sp>
      <p:sp>
        <p:nvSpPr>
          <p:cNvPr id="41" name="텍스트 41: 청주시 교통 환경"/>
          <p:cNvSpPr txBox="1"/>
          <p:nvPr/>
        </p:nvSpPr>
        <p:spPr>
          <a:xfrm>
            <a:off x="131978" y="2093757"/>
            <a:ext cx="1368104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8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교통 환경</a:t>
            </a:r>
          </a:p>
        </p:txBody>
      </p:sp>
      <p:sp>
        <p:nvSpPr>
          <p:cNvPr id="42" name="텍스트 42: 오송역 헬로우시티"/>
          <p:cNvSpPr txBox="1"/>
          <p:nvPr/>
        </p:nvSpPr>
        <p:spPr>
          <a:xfrm>
            <a:off x="2991866" y="5091162"/>
            <a:ext cx="1039068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9" b="1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상당구"/>
          <p:cNvSpPr txBox="1"/>
          <p:nvPr/>
        </p:nvSpPr>
        <p:spPr>
          <a:xfrm>
            <a:off x="9000997" y="4572001"/>
            <a:ext cx="42773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</p:txBody>
      </p:sp>
      <p:sp>
        <p:nvSpPr>
          <p:cNvPr id="3" name="텍스트 3: 서원구"/>
          <p:cNvSpPr txBox="1"/>
          <p:nvPr/>
        </p:nvSpPr>
        <p:spPr>
          <a:xfrm>
            <a:off x="8105520" y="5327651"/>
            <a:ext cx="42773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</p:txBody>
      </p:sp>
      <p:sp>
        <p:nvSpPr>
          <p:cNvPr id="4" name="텍스트 4: CHAPTER 01 ·  입지 및 개발호재 │ 흥덕구의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흥덕구의 주요 산업단지</a:t>
            </a:r>
          </a:p>
        </p:txBody>
      </p:sp>
      <p:sp>
        <p:nvSpPr>
          <p:cNvPr id="5" name="텍스트 5: 국가전략사업 역시 흥덕구에 밀집, 오송신도시는 그 중 "/>
          <p:cNvSpPr txBox="1"/>
          <p:nvPr/>
        </p:nvSpPr>
        <p:spPr>
          <a:xfrm>
            <a:off x="304800" y="664811"/>
            <a:ext cx="9466632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국가전략사업 역시 흥덕구에 밀집, 오송신도시는 그 중 최대규모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흥덕구의 약 7.6% 규모로, </a:t>
            </a:r>
            <a:r>
              <a:rPr lang="ko-KR" altLang="en-US" sz="2630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유일한 ‘교통·교육·의료·상권·주거’ 복합개발</a:t>
            </a:r>
          </a:p>
        </p:txBody>
      </p:sp>
      <p:sp>
        <p:nvSpPr>
          <p:cNvPr id="6" name="텍스트 6: 흥덕구"/>
          <p:cNvSpPr txBox="1"/>
          <p:nvPr/>
        </p:nvSpPr>
        <p:spPr>
          <a:xfrm>
            <a:off x="7171943" y="3795432"/>
            <a:ext cx="962720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4" b="1" spc="-2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7" name="텍스트 7: 청원구"/>
          <p:cNvSpPr txBox="1"/>
          <p:nvPr/>
        </p:nvSpPr>
        <p:spPr>
          <a:xfrm>
            <a:off x="9089770" y="3295270"/>
            <a:ext cx="42834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5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</p:txBody>
      </p:sp>
      <p:sp>
        <p:nvSpPr>
          <p:cNvPr id="8" name="텍스트 8: 세종시"/>
          <p:cNvSpPr txBox="1"/>
          <p:nvPr/>
        </p:nvSpPr>
        <p:spPr>
          <a:xfrm>
            <a:off x="5478145" y="5659145"/>
            <a:ext cx="496523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4" b="1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세종시</a:t>
            </a:r>
          </a:p>
        </p:txBody>
      </p:sp>
      <p:sp>
        <p:nvSpPr>
          <p:cNvPr id="9" name="텍스트 9: 테크노폴리스"/>
          <p:cNvSpPr txBox="1"/>
          <p:nvPr/>
        </p:nvSpPr>
        <p:spPr>
          <a:xfrm>
            <a:off x="9016618" y="3658871"/>
            <a:ext cx="83007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테크노폴리스</a:t>
            </a:r>
          </a:p>
        </p:txBody>
      </p:sp>
      <p:sp>
        <p:nvSpPr>
          <p:cNvPr id="10" name="텍스트 10: 오창산단"/>
          <p:cNvSpPr txBox="1"/>
          <p:nvPr/>
        </p:nvSpPr>
        <p:spPr>
          <a:xfrm>
            <a:off x="8600567" y="2966721"/>
            <a:ext cx="56184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오창산단</a:t>
            </a:r>
          </a:p>
        </p:txBody>
      </p:sp>
      <p:sp>
        <p:nvSpPr>
          <p:cNvPr id="11" name="텍스트 11: 8"/>
          <p:cNvSpPr txBox="1"/>
          <p:nvPr/>
        </p:nvSpPr>
        <p:spPr>
          <a:xfrm>
            <a:off x="9577451" y="6621913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  <p:sp>
        <p:nvSpPr>
          <p:cNvPr id="12" name="텍스트 12: 오송"/>
          <p:cNvSpPr txBox="1"/>
          <p:nvPr/>
        </p:nvSpPr>
        <p:spPr>
          <a:xfrm>
            <a:off x="6750431" y="4177696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13" name="텍스트 13: N A T I O N A L S T R A T E G "/>
          <p:cNvSpPr txBox="1"/>
          <p:nvPr/>
        </p:nvSpPr>
        <p:spPr>
          <a:xfrm>
            <a:off x="730910" y="2173050"/>
            <a:ext cx="2543740" cy="129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1" spc="-22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N A T I O N A L S T R A T E G I C I N D U S T R Y</a:t>
            </a:r>
          </a:p>
        </p:txBody>
      </p:sp>
      <p:sp>
        <p:nvSpPr>
          <p:cNvPr id="14" name="텍스트 14: 흥덕구 주요 산업단지"/>
          <p:cNvSpPr txBox="1"/>
          <p:nvPr/>
        </p:nvSpPr>
        <p:spPr>
          <a:xfrm>
            <a:off x="730910" y="2329817"/>
            <a:ext cx="1940432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 주요 산업단지</a:t>
            </a:r>
          </a:p>
        </p:txBody>
      </p:sp>
      <p:sp>
        <p:nvSpPr>
          <p:cNvPr id="15" name="텍스트 15: 01"/>
          <p:cNvSpPr txBox="1"/>
          <p:nvPr/>
        </p:nvSpPr>
        <p:spPr>
          <a:xfrm>
            <a:off x="842162" y="2965421"/>
            <a:ext cx="244910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6" name="텍스트 16: 오송신도시 한국형 K-켄달스퀘어"/>
          <p:cNvSpPr txBox="1"/>
          <p:nvPr/>
        </p:nvSpPr>
        <p:spPr>
          <a:xfrm>
            <a:off x="1204264" y="2965421"/>
            <a:ext cx="2066366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12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오송신도시 </a:t>
            </a:r>
            <a:r>
              <a:rPr lang="ko-KR" altLang="en-US" sz="1200" b="0" spc="-121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한국형 K-켄달스퀘어</a:t>
            </a:r>
          </a:p>
        </p:txBody>
      </p:sp>
      <p:sp>
        <p:nvSpPr>
          <p:cNvPr id="17" name="텍스트 17: 약460만평 대규모산업단지"/>
          <p:cNvSpPr txBox="1"/>
          <p:nvPr/>
        </p:nvSpPr>
        <p:spPr>
          <a:xfrm>
            <a:off x="842162" y="3236759"/>
            <a:ext cx="3113633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</a:t>
            </a:r>
            <a:r>
              <a:rPr lang="ko-KR" altLang="en-US" sz="2796" b="1" spc="-110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460만평 대규모</a:t>
            </a:r>
            <a:r>
              <a:rPr lang="ko-KR" altLang="en-US" sz="1200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산업단지</a:t>
            </a:r>
          </a:p>
        </p:txBody>
      </p:sp>
      <p:sp>
        <p:nvSpPr>
          <p:cNvPr id="18" name="텍스트 18: 교통"/>
          <p:cNvSpPr txBox="1"/>
          <p:nvPr/>
        </p:nvSpPr>
        <p:spPr>
          <a:xfrm>
            <a:off x="943965" y="3912157"/>
            <a:ext cx="23802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30" b="1" spc="-95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교통</a:t>
            </a:r>
          </a:p>
        </p:txBody>
      </p:sp>
      <p:sp>
        <p:nvSpPr>
          <p:cNvPr id="19" name="텍스트 19: KTX · 고속도로 · 철도 기반"/>
          <p:cNvSpPr txBox="1"/>
          <p:nvPr/>
        </p:nvSpPr>
        <p:spPr>
          <a:xfrm>
            <a:off x="1343533" y="3895869"/>
            <a:ext cx="15886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9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· 고속도로 · 철도 기반</a:t>
            </a:r>
          </a:p>
        </p:txBody>
      </p:sp>
      <p:sp>
        <p:nvSpPr>
          <p:cNvPr id="20" name="텍스트 20: 산업"/>
          <p:cNvSpPr txBox="1"/>
          <p:nvPr/>
        </p:nvSpPr>
        <p:spPr>
          <a:xfrm>
            <a:off x="943965" y="4178857"/>
            <a:ext cx="23802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30" b="1" spc="-95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산업</a:t>
            </a:r>
          </a:p>
        </p:txBody>
      </p:sp>
      <p:sp>
        <p:nvSpPr>
          <p:cNvPr id="21" name="텍스트 21: 바이오 + AI·고등교육 / 메디컬타운(의료) / 대형"/>
          <p:cNvSpPr txBox="1"/>
          <p:nvPr/>
        </p:nvSpPr>
        <p:spPr>
          <a:xfrm>
            <a:off x="1343533" y="4162569"/>
            <a:ext cx="301050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9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바이오 + AI·고등교육 / 메디컬타운(의료) / 대형상권</a:t>
            </a:r>
          </a:p>
        </p:txBody>
      </p:sp>
      <p:sp>
        <p:nvSpPr>
          <p:cNvPr id="22" name="텍스트 22: 주거"/>
          <p:cNvSpPr txBox="1"/>
          <p:nvPr/>
        </p:nvSpPr>
        <p:spPr>
          <a:xfrm>
            <a:off x="943965" y="4445557"/>
            <a:ext cx="23802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30" b="1" spc="-95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주거</a:t>
            </a:r>
          </a:p>
        </p:txBody>
      </p:sp>
      <p:sp>
        <p:nvSpPr>
          <p:cNvPr id="23" name="텍스트 23: 직주근접 대규모 주거단지 추가 조성"/>
          <p:cNvSpPr txBox="1"/>
          <p:nvPr/>
        </p:nvSpPr>
        <p:spPr>
          <a:xfrm>
            <a:off x="1343533" y="4428969"/>
            <a:ext cx="2081133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0" spc="-11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직주근접 대규모 주거단지 추가 조성</a:t>
            </a:r>
          </a:p>
        </p:txBody>
      </p:sp>
      <p:sp>
        <p:nvSpPr>
          <p:cNvPr id="24" name="텍스트 24: 02"/>
          <p:cNvSpPr txBox="1"/>
          <p:nvPr/>
        </p:nvSpPr>
        <p:spPr>
          <a:xfrm>
            <a:off x="842162" y="4934429"/>
            <a:ext cx="244910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5" name="텍스트 25: 오창일반산업단지"/>
          <p:cNvSpPr txBox="1"/>
          <p:nvPr/>
        </p:nvSpPr>
        <p:spPr>
          <a:xfrm>
            <a:off x="1204264" y="4937873"/>
            <a:ext cx="114633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6" b="1" spc="-12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오창일반산업단지</a:t>
            </a:r>
          </a:p>
        </p:txBody>
      </p:sp>
      <p:sp>
        <p:nvSpPr>
          <p:cNvPr id="26" name="텍스트 26: 2차전지 / 방사광 가속기 중심"/>
          <p:cNvSpPr txBox="1"/>
          <p:nvPr/>
        </p:nvSpPr>
        <p:spPr>
          <a:xfrm>
            <a:off x="1204264" y="5172047"/>
            <a:ext cx="1715322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0" spc="-107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2차전지 / 방사광 가속기 중심</a:t>
            </a:r>
          </a:p>
        </p:txBody>
      </p:sp>
      <p:sp>
        <p:nvSpPr>
          <p:cNvPr id="27" name="텍스트 27: 03"/>
          <p:cNvSpPr txBox="1"/>
          <p:nvPr/>
        </p:nvSpPr>
        <p:spPr>
          <a:xfrm>
            <a:off x="842162" y="5493382"/>
            <a:ext cx="244910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8" name="텍스트 28: 청주테크노폴리스"/>
          <p:cNvSpPr txBox="1"/>
          <p:nvPr/>
        </p:nvSpPr>
        <p:spPr>
          <a:xfrm>
            <a:off x="1204264" y="5496927"/>
            <a:ext cx="114633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6" b="1" spc="-12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청주테크노폴리스</a:t>
            </a:r>
          </a:p>
        </p:txBody>
      </p:sp>
      <p:sp>
        <p:nvSpPr>
          <p:cNvPr id="29" name="텍스트 29: 반도체 중심"/>
          <p:cNvSpPr txBox="1"/>
          <p:nvPr/>
        </p:nvSpPr>
        <p:spPr>
          <a:xfrm>
            <a:off x="1204264" y="5731400"/>
            <a:ext cx="69968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0" spc="-115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반도체 중심</a:t>
            </a:r>
          </a:p>
        </p:txBody>
      </p:sp>
      <p:sp>
        <p:nvSpPr>
          <p:cNvPr id="30" name="텍스트 30: 오송신도시"/>
          <p:cNvSpPr txBox="1"/>
          <p:nvPr/>
        </p:nvSpPr>
        <p:spPr>
          <a:xfrm>
            <a:off x="6170040" y="3405921"/>
            <a:ext cx="917000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0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오송신도시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1 ·  입지 및 개발호재 │ 오송신도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오송인가  │  오송신도시 산업단지 추가 조성</a:t>
            </a:r>
          </a:p>
        </p:txBody>
      </p:sp>
      <p:sp>
        <p:nvSpPr>
          <p:cNvPr id="3" name="텍스트 3: 오송신도시는 개발된, 개발될 첨단산업도시 -"/>
          <p:cNvSpPr txBox="1"/>
          <p:nvPr/>
        </p:nvSpPr>
        <p:spPr>
          <a:xfrm>
            <a:off x="304800" y="664811"/>
            <a:ext cx="5925402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오송신도시는 개발된, 개발될 첨단산업도시 -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8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추가 6곳의 신도시·산단 개발 진행 중</a:t>
            </a:r>
          </a:p>
        </p:txBody>
      </p:sp>
      <p:sp>
        <p:nvSpPr>
          <p:cNvPr id="4" name="텍스트 4: 오송신도시 도시구성 및 개발계획"/>
          <p:cNvSpPr txBox="1"/>
          <p:nvPr/>
        </p:nvSpPr>
        <p:spPr>
          <a:xfrm>
            <a:off x="1211580" y="2063339"/>
            <a:ext cx="3326958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9" b="0" spc="-200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오송신도시 도시구성 및 개발계획</a:t>
            </a:r>
          </a:p>
        </p:txBody>
      </p:sp>
      <p:sp>
        <p:nvSpPr>
          <p:cNvPr id="5" name="텍스트 5: 現 도시구성"/>
          <p:cNvSpPr txBox="1"/>
          <p:nvPr/>
        </p:nvSpPr>
        <p:spPr>
          <a:xfrm>
            <a:off x="499262" y="2793461"/>
            <a:ext cx="85531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0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現 도시구성</a:t>
            </a:r>
          </a:p>
        </p:txBody>
      </p:sp>
      <p:sp>
        <p:nvSpPr>
          <p:cNvPr id="6" name="텍스트 6: ① 오송 생명과학 산업단지(오송1산단)"/>
          <p:cNvSpPr txBox="1"/>
          <p:nvPr/>
        </p:nvSpPr>
        <p:spPr>
          <a:xfrm>
            <a:off x="1588897" y="2648681"/>
            <a:ext cx="275448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28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① 오송 생명과학 산업단지(오송1산단)</a:t>
            </a:r>
          </a:p>
        </p:txBody>
      </p:sp>
      <p:sp>
        <p:nvSpPr>
          <p:cNvPr id="7" name="텍스트 7: ② 오송 바이오폴리스(오송2산단)"/>
          <p:cNvSpPr txBox="1"/>
          <p:nvPr/>
        </p:nvSpPr>
        <p:spPr>
          <a:xfrm>
            <a:off x="1588897" y="2938241"/>
            <a:ext cx="239939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25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② 오송 바이오폴리스(오송2산단)</a:t>
            </a:r>
          </a:p>
        </p:txBody>
      </p:sp>
      <p:sp>
        <p:nvSpPr>
          <p:cNvPr id="8" name="텍스트 8: 추가도시구성"/>
          <p:cNvSpPr txBox="1"/>
          <p:nvPr/>
        </p:nvSpPr>
        <p:spPr>
          <a:xfrm>
            <a:off x="441350" y="4069303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추가도시구성</a:t>
            </a:r>
          </a:p>
        </p:txBody>
      </p:sp>
      <p:sp>
        <p:nvSpPr>
          <p:cNvPr id="9" name="텍스트 9: (개발 중)"/>
          <p:cNvSpPr txBox="1"/>
          <p:nvPr/>
        </p:nvSpPr>
        <p:spPr>
          <a:xfrm>
            <a:off x="601370" y="4358863"/>
            <a:ext cx="65256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17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(개발 중)</a:t>
            </a:r>
          </a:p>
        </p:txBody>
      </p:sp>
      <p:sp>
        <p:nvSpPr>
          <p:cNvPr id="10" name="텍스트 10: ③ 오송제3생명과학국가산업단지"/>
          <p:cNvSpPr txBox="1"/>
          <p:nvPr/>
        </p:nvSpPr>
        <p:spPr>
          <a:xfrm>
            <a:off x="1588897" y="3459149"/>
            <a:ext cx="2403430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6" b="0" spc="-139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③ 오송제3생명과학국가산업단지</a:t>
            </a:r>
          </a:p>
        </p:txBody>
      </p:sp>
      <p:sp>
        <p:nvSpPr>
          <p:cNvPr id="11" name="텍스트 11: ④ 오송바이오산업단지"/>
          <p:cNvSpPr txBox="1"/>
          <p:nvPr/>
        </p:nvSpPr>
        <p:spPr>
          <a:xfrm>
            <a:off x="1588897" y="3749263"/>
            <a:ext cx="165640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6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④ 오송바이오산업단지</a:t>
            </a:r>
          </a:p>
        </p:txBody>
      </p:sp>
      <p:sp>
        <p:nvSpPr>
          <p:cNvPr id="12" name="텍스트 12: ⑤ 오송철도클러스터"/>
          <p:cNvSpPr txBox="1"/>
          <p:nvPr/>
        </p:nvSpPr>
        <p:spPr>
          <a:xfrm>
            <a:off x="1588897" y="4038823"/>
            <a:ext cx="149942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8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⑤ 오송철도클러스터</a:t>
            </a:r>
          </a:p>
        </p:txBody>
      </p:sp>
      <p:sp>
        <p:nvSpPr>
          <p:cNvPr id="13" name="텍스트 13: ⑥ 오송 화장품산업단지"/>
          <p:cNvSpPr txBox="1"/>
          <p:nvPr/>
        </p:nvSpPr>
        <p:spPr>
          <a:xfrm>
            <a:off x="1588897" y="4328383"/>
            <a:ext cx="169602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9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⑥ 오송 화장품산업단지</a:t>
            </a:r>
          </a:p>
        </p:txBody>
      </p:sp>
      <p:sp>
        <p:nvSpPr>
          <p:cNvPr id="14" name="텍스트 14: ⑦ 궁평지구 도시개발사업"/>
          <p:cNvSpPr txBox="1"/>
          <p:nvPr/>
        </p:nvSpPr>
        <p:spPr>
          <a:xfrm>
            <a:off x="1588897" y="4617943"/>
            <a:ext cx="185299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7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⑦ 궁평지구 도시개발사업</a:t>
            </a:r>
          </a:p>
        </p:txBody>
      </p:sp>
      <p:sp>
        <p:nvSpPr>
          <p:cNvPr id="15" name="텍스트 15: ⑧ 오송역세권 도시개발사업 ★"/>
          <p:cNvSpPr txBox="1"/>
          <p:nvPr/>
        </p:nvSpPr>
        <p:spPr>
          <a:xfrm>
            <a:off x="1588897" y="4905631"/>
            <a:ext cx="281487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86" b="1" spc="-18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⑧ 오송역세권 도시개발사업 </a:t>
            </a:r>
            <a:r>
              <a:rPr lang="ko-KR" altLang="en-US" sz="1786" b="0" spc="-180" dirty="0">
                <a:solidFill>
                  <a:srgbClr val="0C3A27"/>
                </a:solidFill>
                <a:latin typeface="Segoe UI Symbol"/>
                <a:ea typeface="Segoe UI Symbol"/>
                <a:cs typeface="Segoe UI Symbol"/>
              </a:rPr>
              <a:t>★</a:t>
            </a:r>
          </a:p>
        </p:txBody>
      </p:sp>
      <p:sp>
        <p:nvSpPr>
          <p:cNvPr id="16" name="텍스트 16: 총 면적"/>
          <p:cNvSpPr txBox="1"/>
          <p:nvPr/>
        </p:nvSpPr>
        <p:spPr>
          <a:xfrm>
            <a:off x="657758" y="5686572"/>
            <a:ext cx="5377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1" b="0" spc="-140" dirty="0">
                <a:solidFill>
                  <a:srgbClr val="7A5C14"/>
                </a:solidFill>
                <a:latin typeface="맑은 고딕"/>
                <a:ea typeface="맑은 고딕"/>
                <a:cs typeface="맑은 고딕"/>
              </a:rPr>
              <a:t>총 면적</a:t>
            </a:r>
          </a:p>
        </p:txBody>
      </p:sp>
      <p:sp>
        <p:nvSpPr>
          <p:cNvPr id="17" name="텍스트 17: 약 15.14㎢ (광교 11.3㎢, 평택 13.42㎢)"/>
          <p:cNvSpPr txBox="1"/>
          <p:nvPr/>
        </p:nvSpPr>
        <p:spPr>
          <a:xfrm>
            <a:off x="1588897" y="5481754"/>
            <a:ext cx="3645119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36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약 15.14㎢ </a:t>
            </a:r>
            <a:r>
              <a:rPr lang="ko-KR" altLang="en-US" sz="1404" b="1" spc="36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(광교 11.3㎢, 평택 13.42㎢)</a:t>
            </a:r>
          </a:p>
        </p:txBody>
      </p:sp>
      <p:sp>
        <p:nvSpPr>
          <p:cNvPr id="18" name="텍스트 18: 일산 15.74㎢에 이어 전국 5위 수준 규모"/>
          <p:cNvSpPr txBox="1"/>
          <p:nvPr/>
        </p:nvSpPr>
        <p:spPr>
          <a:xfrm>
            <a:off x="1588897" y="5832274"/>
            <a:ext cx="341388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84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일산 15.74㎢에 이어 </a:t>
            </a:r>
            <a:r>
              <a:rPr lang="ko-KR" altLang="en-US" sz="1800" b="1" spc="-84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전국 5위 수준 규모</a:t>
            </a:r>
          </a:p>
        </p:txBody>
      </p:sp>
      <p:sp>
        <p:nvSpPr>
          <p:cNvPr id="19" name="텍스트 19: 4"/>
          <p:cNvSpPr txBox="1"/>
          <p:nvPr/>
        </p:nvSpPr>
        <p:spPr>
          <a:xfrm>
            <a:off x="6931152" y="1799879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텍스트 20: 6"/>
          <p:cNvSpPr txBox="1"/>
          <p:nvPr/>
        </p:nvSpPr>
        <p:spPr>
          <a:xfrm>
            <a:off x="7883906" y="948852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1" name="텍스트 21: 주거중심권역"/>
          <p:cNvSpPr txBox="1"/>
          <p:nvPr/>
        </p:nvSpPr>
        <p:spPr>
          <a:xfrm>
            <a:off x="8427084" y="3113011"/>
            <a:ext cx="764778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0" spc="-11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주거중심권역</a:t>
            </a:r>
          </a:p>
        </p:txBody>
      </p:sp>
      <p:sp>
        <p:nvSpPr>
          <p:cNvPr id="22" name="텍스트 22: 1"/>
          <p:cNvSpPr txBox="1"/>
          <p:nvPr/>
        </p:nvSpPr>
        <p:spPr>
          <a:xfrm>
            <a:off x="8074406" y="2295560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3" name="텍스트 23: 2"/>
          <p:cNvSpPr txBox="1"/>
          <p:nvPr/>
        </p:nvSpPr>
        <p:spPr>
          <a:xfrm>
            <a:off x="6931152" y="3654587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4" name="텍스트 24: · 오송의료보건행정타운"/>
          <p:cNvSpPr txBox="1"/>
          <p:nvPr/>
        </p:nvSpPr>
        <p:spPr>
          <a:xfrm>
            <a:off x="8296909" y="2069705"/>
            <a:ext cx="1325673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9" b="0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오송의료보건행정타운</a:t>
            </a:r>
          </a:p>
        </p:txBody>
      </p:sp>
      <p:sp>
        <p:nvSpPr>
          <p:cNvPr id="25" name="텍스트 25: 카이스트바이오스퀘어 ·"/>
          <p:cNvSpPr txBox="1"/>
          <p:nvPr/>
        </p:nvSpPr>
        <p:spPr>
          <a:xfrm>
            <a:off x="5782055" y="2146586"/>
            <a:ext cx="1319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4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카이스트바이오스퀘어 ·</a:t>
            </a:r>
          </a:p>
        </p:txBody>
      </p:sp>
      <p:sp>
        <p:nvSpPr>
          <p:cNvPr id="26" name="텍스트 26: 오송바이오폴리스(2산단) ·"/>
          <p:cNvSpPr txBox="1"/>
          <p:nvPr/>
        </p:nvSpPr>
        <p:spPr>
          <a:xfrm>
            <a:off x="5515355" y="4089940"/>
            <a:ext cx="150276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오송바이오폴리스(2산단) ·</a:t>
            </a:r>
          </a:p>
        </p:txBody>
      </p:sp>
      <p:sp>
        <p:nvSpPr>
          <p:cNvPr id="27" name="텍스트 27: · 오송생명과학단지(1산단)"/>
          <p:cNvSpPr txBox="1"/>
          <p:nvPr/>
        </p:nvSpPr>
        <p:spPr>
          <a:xfrm>
            <a:off x="7839709" y="1816132"/>
            <a:ext cx="150763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9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오송생명과학단지(1산단)</a:t>
            </a:r>
          </a:p>
        </p:txBody>
      </p:sp>
      <p:sp>
        <p:nvSpPr>
          <p:cNvPr id="28" name="텍스트 28: 9"/>
          <p:cNvSpPr txBox="1"/>
          <p:nvPr/>
        </p:nvSpPr>
        <p:spPr>
          <a:xfrm>
            <a:off x="9577451" y="6621913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29" name="텍스트 29: 3"/>
          <p:cNvSpPr txBox="1"/>
          <p:nvPr/>
        </p:nvSpPr>
        <p:spPr>
          <a:xfrm>
            <a:off x="7833106" y="5178968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0" name="텍스트 30: 5"/>
          <p:cNvSpPr txBox="1"/>
          <p:nvPr/>
        </p:nvSpPr>
        <p:spPr>
          <a:xfrm>
            <a:off x="6740652" y="2625633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1" name="텍스트 31: 7"/>
          <p:cNvSpPr txBox="1"/>
          <p:nvPr/>
        </p:nvSpPr>
        <p:spPr>
          <a:xfrm>
            <a:off x="8722106" y="3692687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2" name="텍스트 32: 8"/>
          <p:cNvSpPr txBox="1"/>
          <p:nvPr/>
        </p:nvSpPr>
        <p:spPr>
          <a:xfrm>
            <a:off x="8055864" y="4105741"/>
            <a:ext cx="228904" cy="366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2" b="1" spc="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33" name="텍스트 33: 오송"/>
          <p:cNvSpPr txBox="1"/>
          <p:nvPr/>
        </p:nvSpPr>
        <p:spPr>
          <a:xfrm>
            <a:off x="8208518" y="3438557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34" name="텍스트 34: 오송역 헬로우시티"/>
          <p:cNvSpPr txBox="1"/>
          <p:nvPr/>
        </p:nvSpPr>
        <p:spPr>
          <a:xfrm>
            <a:off x="8339963" y="4532345"/>
            <a:ext cx="132099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9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35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36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37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38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39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주거중심권역"/>
          <p:cNvSpPr txBox="1"/>
          <p:nvPr/>
        </p:nvSpPr>
        <p:spPr>
          <a:xfrm>
            <a:off x="8427084" y="3113011"/>
            <a:ext cx="764778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0" spc="-11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주거중심권역</a:t>
            </a:r>
          </a:p>
        </p:txBody>
      </p:sp>
      <p:sp>
        <p:nvSpPr>
          <p:cNvPr id="3" name="텍스트 3: · 오송의료보건행정타운"/>
          <p:cNvSpPr txBox="1"/>
          <p:nvPr/>
        </p:nvSpPr>
        <p:spPr>
          <a:xfrm>
            <a:off x="8296909" y="2069705"/>
            <a:ext cx="1325673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9" b="0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오송의료보건행정타운</a:t>
            </a:r>
          </a:p>
        </p:txBody>
      </p:sp>
      <p:sp>
        <p:nvSpPr>
          <p:cNvPr id="4" name="텍스트 4: 카이스트바이오스퀘어 ·"/>
          <p:cNvSpPr txBox="1"/>
          <p:nvPr/>
        </p:nvSpPr>
        <p:spPr>
          <a:xfrm>
            <a:off x="5782055" y="2146586"/>
            <a:ext cx="1319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4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카이스트바이오스퀘어 ·</a:t>
            </a:r>
          </a:p>
        </p:txBody>
      </p:sp>
      <p:sp>
        <p:nvSpPr>
          <p:cNvPr id="5" name="텍스트 5: 오송바이오폴리스(2산단) ·"/>
          <p:cNvSpPr txBox="1"/>
          <p:nvPr/>
        </p:nvSpPr>
        <p:spPr>
          <a:xfrm>
            <a:off x="5515355" y="4089940"/>
            <a:ext cx="150276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오송바이오폴리스(2산단) ·</a:t>
            </a:r>
          </a:p>
        </p:txBody>
      </p:sp>
      <p:sp>
        <p:nvSpPr>
          <p:cNvPr id="6" name="텍스트 6: · 오송생명과학단지(1산단)"/>
          <p:cNvSpPr txBox="1"/>
          <p:nvPr/>
        </p:nvSpPr>
        <p:spPr>
          <a:xfrm>
            <a:off x="7839709" y="1816132"/>
            <a:ext cx="150763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9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오송생명과학단지(1산단)</a:t>
            </a:r>
          </a:p>
        </p:txBody>
      </p:sp>
      <p:sp>
        <p:nvSpPr>
          <p:cNvPr id="7" name="텍스트 7: 기존 산단"/>
          <p:cNvSpPr txBox="1"/>
          <p:nvPr/>
        </p:nvSpPr>
        <p:spPr>
          <a:xfrm>
            <a:off x="5741542" y="5509142"/>
            <a:ext cx="49942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1" spc="-10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기존 산단</a:t>
            </a:r>
          </a:p>
        </p:txBody>
      </p:sp>
      <p:sp>
        <p:nvSpPr>
          <p:cNvPr id="8" name="텍스트 8: 개발 진행"/>
          <p:cNvSpPr txBox="1"/>
          <p:nvPr/>
        </p:nvSpPr>
        <p:spPr>
          <a:xfrm>
            <a:off x="5741542" y="5724940"/>
            <a:ext cx="49942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1" spc="-10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개발 진행</a:t>
            </a:r>
          </a:p>
        </p:txBody>
      </p:sp>
      <p:sp>
        <p:nvSpPr>
          <p:cNvPr id="9" name="텍스트 9: 오송역세권"/>
          <p:cNvSpPr txBox="1"/>
          <p:nvPr/>
        </p:nvSpPr>
        <p:spPr>
          <a:xfrm>
            <a:off x="5741542" y="5941043"/>
            <a:ext cx="58172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1" spc="-10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오송역세권</a:t>
            </a:r>
          </a:p>
        </p:txBody>
      </p:sp>
      <p:sp>
        <p:nvSpPr>
          <p:cNvPr id="10" name="텍스트 10: CHAPTER 01 ·  입지 및 개발호재 │ 오송신도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오송인가  │  오송신도시의 뚜렷한 개발호재</a:t>
            </a:r>
          </a:p>
        </p:txBody>
      </p:sp>
      <p:sp>
        <p:nvSpPr>
          <p:cNvPr id="11" name="텍스트 11: 특히, 청주 유일 ‘첨단·교육·의료·주거’ 복합개발 중"/>
          <p:cNvSpPr txBox="1"/>
          <p:nvPr/>
        </p:nvSpPr>
        <p:spPr>
          <a:xfrm>
            <a:off x="304800" y="664811"/>
            <a:ext cx="6627442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특히, 청주 유일 ‘첨단·교육·의료·주거’ 복합개발 중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現 정부 공약에 포함된 </a:t>
            </a:r>
            <a:r>
              <a:rPr lang="ko-KR" altLang="en-US" sz="2653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오송 K-바이오스퀘어 조성</a:t>
            </a:r>
          </a:p>
        </p:txBody>
      </p:sp>
      <p:sp>
        <p:nvSpPr>
          <p:cNvPr id="12" name="텍스트 12: 오송신도시 첨단산업·주거 개발계획"/>
          <p:cNvSpPr txBox="1"/>
          <p:nvPr/>
        </p:nvSpPr>
        <p:spPr>
          <a:xfrm>
            <a:off x="1089660" y="2063339"/>
            <a:ext cx="3570798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80" b="0" spc="-200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오송신도시 첨단산업·주거 개발계획</a:t>
            </a:r>
          </a:p>
        </p:txBody>
      </p:sp>
      <p:sp>
        <p:nvSpPr>
          <p:cNvPr id="13" name="텍스트 13: 오송1산단"/>
          <p:cNvSpPr txBox="1"/>
          <p:nvPr/>
        </p:nvSpPr>
        <p:spPr>
          <a:xfrm>
            <a:off x="487680" y="2610994"/>
            <a:ext cx="67005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89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오송1산단</a:t>
            </a:r>
          </a:p>
        </p:txBody>
      </p:sp>
      <p:sp>
        <p:nvSpPr>
          <p:cNvPr id="14" name="텍스트 14: ① 카이스트 AI BIO 영재학교"/>
          <p:cNvSpPr txBox="1"/>
          <p:nvPr/>
        </p:nvSpPr>
        <p:spPr>
          <a:xfrm>
            <a:off x="1416430" y="2610994"/>
            <a:ext cx="182702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84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① 카이스트 AI BIO 영재학교</a:t>
            </a:r>
          </a:p>
        </p:txBody>
      </p:sp>
      <p:sp>
        <p:nvSpPr>
          <p:cNvPr id="15" name="텍스트 15: ’28년 개교 예정"/>
          <p:cNvSpPr txBox="1"/>
          <p:nvPr/>
        </p:nvSpPr>
        <p:spPr>
          <a:xfrm>
            <a:off x="4210811" y="2610994"/>
            <a:ext cx="100685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9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’28년 개교 예정</a:t>
            </a:r>
          </a:p>
        </p:txBody>
      </p:sp>
      <p:sp>
        <p:nvSpPr>
          <p:cNvPr id="16" name="텍스트 16: 오송제3산단"/>
          <p:cNvSpPr txBox="1"/>
          <p:nvPr/>
        </p:nvSpPr>
        <p:spPr>
          <a:xfrm>
            <a:off x="420623" y="3280285"/>
            <a:ext cx="80568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96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오송제3산단</a:t>
            </a:r>
          </a:p>
        </p:txBody>
      </p:sp>
      <p:sp>
        <p:nvSpPr>
          <p:cNvPr id="17" name="텍스트 17: ② 셀트리온 2조원 투자 (약 6만평)"/>
          <p:cNvSpPr txBox="1"/>
          <p:nvPr/>
        </p:nvSpPr>
        <p:spPr>
          <a:xfrm>
            <a:off x="1416430" y="2945639"/>
            <a:ext cx="211490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98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② 셀트리온 2조원 투자 (약 6만평)</a:t>
            </a:r>
          </a:p>
        </p:txBody>
      </p:sp>
      <p:sp>
        <p:nvSpPr>
          <p:cNvPr id="18" name="텍스트 18: 협약, ’28년 착공"/>
          <p:cNvSpPr txBox="1"/>
          <p:nvPr/>
        </p:nvSpPr>
        <p:spPr>
          <a:xfrm>
            <a:off x="4210811" y="2945639"/>
            <a:ext cx="104952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협약, ’28년 착공</a:t>
            </a:r>
          </a:p>
        </p:txBody>
      </p:sp>
      <p:sp>
        <p:nvSpPr>
          <p:cNvPr id="19" name="텍스트 19: ③ 카이스트 바이오메디컬 캠퍼스타운"/>
          <p:cNvSpPr txBox="1"/>
          <p:nvPr/>
        </p:nvSpPr>
        <p:spPr>
          <a:xfrm>
            <a:off x="1416430" y="3280285"/>
            <a:ext cx="228269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5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③ 카이스트 바이오메디컬 캠퍼스타운</a:t>
            </a:r>
          </a:p>
        </p:txBody>
      </p:sp>
      <p:sp>
        <p:nvSpPr>
          <p:cNvPr id="20" name="텍스트 20: ’32년 목표, 심사"/>
          <p:cNvSpPr txBox="1"/>
          <p:nvPr/>
        </p:nvSpPr>
        <p:spPr>
          <a:xfrm>
            <a:off x="4210811" y="3280285"/>
            <a:ext cx="104952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’32년 목표, 심사</a:t>
            </a:r>
          </a:p>
        </p:txBody>
      </p:sp>
      <p:sp>
        <p:nvSpPr>
          <p:cNvPr id="21" name="텍스트 21: ④ 서울대 R&amp;D 임상병원(600병상) 계획"/>
          <p:cNvSpPr txBox="1"/>
          <p:nvPr/>
        </p:nvSpPr>
        <p:spPr>
          <a:xfrm>
            <a:off x="1416430" y="3614929"/>
            <a:ext cx="253415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77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④ 서울대 R&amp;D 임상병원(600병상) 계획</a:t>
            </a:r>
          </a:p>
        </p:txBody>
      </p:sp>
      <p:sp>
        <p:nvSpPr>
          <p:cNvPr id="22" name="텍스트 22: ’32년 목표, 예타"/>
          <p:cNvSpPr txBox="1"/>
          <p:nvPr/>
        </p:nvSpPr>
        <p:spPr>
          <a:xfrm>
            <a:off x="4210811" y="3614929"/>
            <a:ext cx="104952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’32년 목표, 예타</a:t>
            </a:r>
          </a:p>
        </p:txBody>
      </p:sp>
      <p:sp>
        <p:nvSpPr>
          <p:cNvPr id="23" name="텍스트 23: 오송역세권"/>
          <p:cNvSpPr txBox="1"/>
          <p:nvPr/>
        </p:nvSpPr>
        <p:spPr>
          <a:xfrm>
            <a:off x="417576" y="4769790"/>
            <a:ext cx="810468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4" b="1" spc="-14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오송역세권</a:t>
            </a:r>
          </a:p>
        </p:txBody>
      </p:sp>
      <p:sp>
        <p:nvSpPr>
          <p:cNvPr id="24" name="텍스트 24: ⑤ 오송역세권 도시개발사업"/>
          <p:cNvSpPr txBox="1"/>
          <p:nvPr/>
        </p:nvSpPr>
        <p:spPr>
          <a:xfrm>
            <a:off x="1416430" y="3949701"/>
            <a:ext cx="171551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8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⑤ 오송역세권 도시개발사업</a:t>
            </a:r>
          </a:p>
        </p:txBody>
      </p:sp>
      <p:sp>
        <p:nvSpPr>
          <p:cNvPr id="25" name="텍스트 25: ’27년 준공 목표"/>
          <p:cNvSpPr txBox="1"/>
          <p:nvPr/>
        </p:nvSpPr>
        <p:spPr>
          <a:xfrm>
            <a:off x="4210811" y="3949701"/>
            <a:ext cx="100685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9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’27년 준공 목표</a:t>
            </a:r>
          </a:p>
        </p:txBody>
      </p:sp>
      <p:sp>
        <p:nvSpPr>
          <p:cNvPr id="26" name="텍스트 26: ⑥ 주거복합개발(*오송역 헬로우시티)"/>
          <p:cNvSpPr txBox="1"/>
          <p:nvPr/>
        </p:nvSpPr>
        <p:spPr>
          <a:xfrm>
            <a:off x="1416430" y="4268058"/>
            <a:ext cx="268461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8" dirty="0">
                <a:solidFill>
                  <a:srgbClr val="6B4E10"/>
                </a:solidFill>
                <a:latin typeface="맑은 고딕"/>
                <a:ea typeface="맑은 고딕"/>
                <a:cs typeface="맑은 고딕"/>
              </a:rPr>
              <a:t>⑥ 주거복합개발(*오송역 헬로우시티)</a:t>
            </a:r>
          </a:p>
        </p:txBody>
      </p:sp>
      <p:sp>
        <p:nvSpPr>
          <p:cNvPr id="27" name="텍스트 27: ’31년 2월 예정"/>
          <p:cNvSpPr txBox="1"/>
          <p:nvPr/>
        </p:nvSpPr>
        <p:spPr>
          <a:xfrm>
            <a:off x="4210811" y="4284346"/>
            <a:ext cx="97485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57" dirty="0">
                <a:solidFill>
                  <a:srgbClr val="6B4E10"/>
                </a:solidFill>
                <a:latin typeface="맑은 고딕"/>
                <a:ea typeface="맑은 고딕"/>
                <a:cs typeface="맑은 고딕"/>
              </a:rPr>
              <a:t>’31년 2월 예정</a:t>
            </a:r>
          </a:p>
        </p:txBody>
      </p:sp>
      <p:sp>
        <p:nvSpPr>
          <p:cNvPr id="28" name="텍스트 28: ⑦ CTX(충청권 광역급행철도)"/>
          <p:cNvSpPr txBox="1"/>
          <p:nvPr/>
        </p:nvSpPr>
        <p:spPr>
          <a:xfrm>
            <a:off x="1416430" y="4618991"/>
            <a:ext cx="185277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5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⑦ CTX(충청권 광역급행철도)</a:t>
            </a:r>
          </a:p>
        </p:txBody>
      </p:sp>
      <p:sp>
        <p:nvSpPr>
          <p:cNvPr id="29" name="텍스트 29: ’34년 12월 예정"/>
          <p:cNvSpPr txBox="1"/>
          <p:nvPr/>
        </p:nvSpPr>
        <p:spPr>
          <a:xfrm>
            <a:off x="4210811" y="4618991"/>
            <a:ext cx="1077264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4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’34년 12월 예정</a:t>
            </a:r>
          </a:p>
        </p:txBody>
      </p:sp>
      <p:sp>
        <p:nvSpPr>
          <p:cNvPr id="30" name="텍스트 30: ⑧ 오송역 환승센터 복합개발"/>
          <p:cNvSpPr txBox="1"/>
          <p:nvPr/>
        </p:nvSpPr>
        <p:spPr>
          <a:xfrm>
            <a:off x="1416430" y="4953337"/>
            <a:ext cx="174870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0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⑧ 오송역 환승센터 복합개발</a:t>
            </a:r>
          </a:p>
        </p:txBody>
      </p:sp>
      <p:sp>
        <p:nvSpPr>
          <p:cNvPr id="31" name="텍스트 31: 재공모 진행 중"/>
          <p:cNvSpPr txBox="1"/>
          <p:nvPr/>
        </p:nvSpPr>
        <p:spPr>
          <a:xfrm>
            <a:off x="4210811" y="4953337"/>
            <a:ext cx="89282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8" b="1" spc="-12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재공모 진행 중</a:t>
            </a:r>
          </a:p>
        </p:txBody>
      </p:sp>
      <p:sp>
        <p:nvSpPr>
          <p:cNvPr id="32" name="텍스트 32: ⑨ 유통상업용지 개발"/>
          <p:cNvSpPr txBox="1"/>
          <p:nvPr/>
        </p:nvSpPr>
        <p:spPr>
          <a:xfrm>
            <a:off x="1416430" y="5288662"/>
            <a:ext cx="131317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3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⑨ 유통상업용지 개발</a:t>
            </a:r>
          </a:p>
        </p:txBody>
      </p:sp>
      <p:sp>
        <p:nvSpPr>
          <p:cNvPr id="33" name="텍스트 33: 용도변경 검토 중"/>
          <p:cNvSpPr txBox="1"/>
          <p:nvPr/>
        </p:nvSpPr>
        <p:spPr>
          <a:xfrm>
            <a:off x="4210811" y="5288662"/>
            <a:ext cx="10266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7" b="1" spc="-12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용도변경 검토 중</a:t>
            </a:r>
          </a:p>
        </p:txBody>
      </p:sp>
      <p:sp>
        <p:nvSpPr>
          <p:cNvPr id="34" name="텍스트 34: ⑩ 궁평지구 도시개발사업"/>
          <p:cNvSpPr txBox="1"/>
          <p:nvPr/>
        </p:nvSpPr>
        <p:spPr>
          <a:xfrm>
            <a:off x="1416430" y="5623307"/>
            <a:ext cx="158292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1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⑩ 궁평지구 도시개발사업</a:t>
            </a:r>
          </a:p>
        </p:txBody>
      </p:sp>
      <p:sp>
        <p:nvSpPr>
          <p:cNvPr id="35" name="텍스트 35: ’31년 준공 목표"/>
          <p:cNvSpPr txBox="1"/>
          <p:nvPr/>
        </p:nvSpPr>
        <p:spPr>
          <a:xfrm>
            <a:off x="4210811" y="5623307"/>
            <a:ext cx="100685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9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’31년 준공 목표</a:t>
            </a:r>
          </a:p>
        </p:txBody>
      </p:sp>
      <p:sp>
        <p:nvSpPr>
          <p:cNvPr id="36" name="텍스트 36: 주거공급"/>
          <p:cNvSpPr txBox="1"/>
          <p:nvPr/>
        </p:nvSpPr>
        <p:spPr>
          <a:xfrm>
            <a:off x="539495" y="5957978"/>
            <a:ext cx="56642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주거공급</a:t>
            </a:r>
          </a:p>
        </p:txBody>
      </p:sp>
      <p:sp>
        <p:nvSpPr>
          <p:cNvPr id="37" name="텍스트 37: ⑪ 총 10개 주거용지 공급 계획"/>
          <p:cNvSpPr txBox="1"/>
          <p:nvPr/>
        </p:nvSpPr>
        <p:spPr>
          <a:xfrm>
            <a:off x="1416430" y="5957978"/>
            <a:ext cx="188341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⑪ 총 10개 주거용지 공급 계획</a:t>
            </a:r>
          </a:p>
        </p:txBody>
      </p:sp>
      <p:sp>
        <p:nvSpPr>
          <p:cNvPr id="38" name="텍스트 38: 토지이용계획수립"/>
          <p:cNvSpPr txBox="1"/>
          <p:nvPr/>
        </p:nvSpPr>
        <p:spPr>
          <a:xfrm>
            <a:off x="4210811" y="5957978"/>
            <a:ext cx="109677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2" b="1" spc="-12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토지이용계획수립</a:t>
            </a:r>
          </a:p>
        </p:txBody>
      </p:sp>
      <p:sp>
        <p:nvSpPr>
          <p:cNvPr id="39" name="텍스트 39: 2"/>
          <p:cNvSpPr txBox="1"/>
          <p:nvPr/>
        </p:nvSpPr>
        <p:spPr>
          <a:xfrm>
            <a:off x="8150606" y="5572109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0" name="텍스트 40: 3"/>
          <p:cNvSpPr txBox="1"/>
          <p:nvPr/>
        </p:nvSpPr>
        <p:spPr>
          <a:xfrm>
            <a:off x="7439279" y="4847879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1" name="텍스트 41: 4"/>
          <p:cNvSpPr txBox="1"/>
          <p:nvPr/>
        </p:nvSpPr>
        <p:spPr>
          <a:xfrm>
            <a:off x="7795006" y="4847879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2" name="텍스트 42: 9"/>
          <p:cNvSpPr txBox="1"/>
          <p:nvPr/>
        </p:nvSpPr>
        <p:spPr>
          <a:xfrm>
            <a:off x="7795006" y="4060352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43" name="텍스트 43: 10 11"/>
          <p:cNvSpPr txBox="1"/>
          <p:nvPr/>
        </p:nvSpPr>
        <p:spPr>
          <a:xfrm>
            <a:off x="8566150" y="3704625"/>
            <a:ext cx="65183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2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10 11</a:t>
            </a:r>
          </a:p>
        </p:txBody>
      </p:sp>
      <p:sp>
        <p:nvSpPr>
          <p:cNvPr id="44" name="텍스트 44: 11"/>
          <p:cNvSpPr txBox="1"/>
          <p:nvPr/>
        </p:nvSpPr>
        <p:spPr>
          <a:xfrm>
            <a:off x="8299450" y="4936906"/>
            <a:ext cx="29623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45" name="텍스트 45: 오송"/>
          <p:cNvSpPr txBox="1"/>
          <p:nvPr/>
        </p:nvSpPr>
        <p:spPr>
          <a:xfrm>
            <a:off x="8208518" y="3438557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46" name="텍스트 46: 5"/>
          <p:cNvSpPr txBox="1"/>
          <p:nvPr/>
        </p:nvSpPr>
        <p:spPr>
          <a:xfrm>
            <a:off x="8125079" y="4250852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47" name="텍스트 47: 7 8"/>
          <p:cNvSpPr txBox="1"/>
          <p:nvPr/>
        </p:nvSpPr>
        <p:spPr>
          <a:xfrm>
            <a:off x="7937881" y="3803050"/>
            <a:ext cx="417896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9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7 8</a:t>
            </a:r>
          </a:p>
        </p:txBody>
      </p:sp>
      <p:sp>
        <p:nvSpPr>
          <p:cNvPr id="48" name="텍스트 48: 1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49" name="텍스트 49: 오송역 헬로우시티"/>
          <p:cNvSpPr txBox="1"/>
          <p:nvPr/>
        </p:nvSpPr>
        <p:spPr>
          <a:xfrm>
            <a:off x="8339963" y="4532345"/>
            <a:ext cx="132099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9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50" name="텍스트 50: 6"/>
          <p:cNvSpPr txBox="1"/>
          <p:nvPr/>
        </p:nvSpPr>
        <p:spPr>
          <a:xfrm>
            <a:off x="8391397" y="3907952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1" name="텍스트 51: 1"/>
          <p:cNvSpPr txBox="1"/>
          <p:nvPr/>
        </p:nvSpPr>
        <p:spPr>
          <a:xfrm>
            <a:off x="7979029" y="2200056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2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53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54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55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56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궁평지구"/>
          <p:cNvSpPr txBox="1"/>
          <p:nvPr/>
        </p:nvSpPr>
        <p:spPr>
          <a:xfrm>
            <a:off x="5003038" y="2370393"/>
            <a:ext cx="628905" cy="2743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궁평지구</a:t>
            </a:r>
          </a:p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상업중심지역</a:t>
            </a:r>
          </a:p>
        </p:txBody>
      </p:sp>
      <p:sp>
        <p:nvSpPr>
          <p:cNvPr id="3" name="텍스트 3: 공급예정"/>
          <p:cNvSpPr txBox="1"/>
          <p:nvPr/>
        </p:nvSpPr>
        <p:spPr>
          <a:xfrm>
            <a:off x="5005451" y="1210057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4" name="텍스트 4: 공급예정"/>
          <p:cNvSpPr txBox="1"/>
          <p:nvPr/>
        </p:nvSpPr>
        <p:spPr>
          <a:xfrm>
            <a:off x="5656453" y="1718185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5" name="텍스트 5: 공급예정"/>
          <p:cNvSpPr txBox="1"/>
          <p:nvPr/>
        </p:nvSpPr>
        <p:spPr>
          <a:xfrm>
            <a:off x="5827776" y="2328165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6" name="텍스트 6: 공동주택"/>
          <p:cNvSpPr txBox="1"/>
          <p:nvPr/>
        </p:nvSpPr>
        <p:spPr>
          <a:xfrm>
            <a:off x="1260652" y="3192718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7" name="텍스트 7: 공동주택"/>
          <p:cNvSpPr txBox="1"/>
          <p:nvPr/>
        </p:nvSpPr>
        <p:spPr>
          <a:xfrm>
            <a:off x="498652" y="3789490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8" name="텍스트 8: 공동주택"/>
          <p:cNvSpPr txBox="1"/>
          <p:nvPr/>
        </p:nvSpPr>
        <p:spPr>
          <a:xfrm>
            <a:off x="-47548" y="4043744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9" name="텍스트 9: 공동주택"/>
          <p:cNvSpPr txBox="1"/>
          <p:nvPr/>
        </p:nvSpPr>
        <p:spPr>
          <a:xfrm>
            <a:off x="142951" y="3167190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10" name="텍스트 10: 공동주택"/>
          <p:cNvSpPr txBox="1"/>
          <p:nvPr/>
        </p:nvSpPr>
        <p:spPr>
          <a:xfrm>
            <a:off x="79552" y="1820183"/>
            <a:ext cx="431101" cy="1375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7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11" name="텍스트 11: 공동주택"/>
          <p:cNvSpPr txBox="1"/>
          <p:nvPr/>
        </p:nvSpPr>
        <p:spPr>
          <a:xfrm>
            <a:off x="2505455" y="143828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12" name="텍스트 12: 공동주택"/>
          <p:cNvSpPr txBox="1"/>
          <p:nvPr/>
        </p:nvSpPr>
        <p:spPr>
          <a:xfrm>
            <a:off x="3763009" y="42355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13" name="텍스트 13: 공동주택"/>
          <p:cNvSpPr txBox="1"/>
          <p:nvPr/>
        </p:nvSpPr>
        <p:spPr>
          <a:xfrm>
            <a:off x="41452" y="2544763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14" name="텍스트 14: 공급예정"/>
          <p:cNvSpPr txBox="1"/>
          <p:nvPr/>
        </p:nvSpPr>
        <p:spPr>
          <a:xfrm>
            <a:off x="4821301" y="5618126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15" name="텍스트 15: 공급예정"/>
          <p:cNvSpPr txBox="1"/>
          <p:nvPr/>
        </p:nvSpPr>
        <p:spPr>
          <a:xfrm>
            <a:off x="4176648" y="5795824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16" name="텍스트 16: 공급예정"/>
          <p:cNvSpPr txBox="1"/>
          <p:nvPr/>
        </p:nvSpPr>
        <p:spPr>
          <a:xfrm>
            <a:off x="4738751" y="6405729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17" name="텍스트 17: 공급예정"/>
          <p:cNvSpPr txBox="1"/>
          <p:nvPr/>
        </p:nvSpPr>
        <p:spPr>
          <a:xfrm>
            <a:off x="3916045" y="6646526"/>
            <a:ext cx="56760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6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18" name="텍스트 18: 공급예정"/>
          <p:cNvSpPr txBox="1"/>
          <p:nvPr/>
        </p:nvSpPr>
        <p:spPr>
          <a:xfrm>
            <a:off x="2779522" y="6418226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19" name="텍스트 19: 공급예정"/>
          <p:cNvSpPr txBox="1"/>
          <p:nvPr/>
        </p:nvSpPr>
        <p:spPr>
          <a:xfrm>
            <a:off x="3293617" y="6672429"/>
            <a:ext cx="567334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5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20" name="텍스트 20: 공급예정"/>
          <p:cNvSpPr txBox="1"/>
          <p:nvPr/>
        </p:nvSpPr>
        <p:spPr>
          <a:xfrm>
            <a:off x="4614036" y="3675000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21" name="텍스트 21: 바이오폴리스"/>
          <p:cNvSpPr txBox="1"/>
          <p:nvPr/>
        </p:nvSpPr>
        <p:spPr>
          <a:xfrm>
            <a:off x="1326769" y="2108206"/>
            <a:ext cx="630427" cy="27508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2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바이오폴리스</a:t>
            </a:r>
          </a:p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2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상업중심지역</a:t>
            </a:r>
          </a:p>
        </p:txBody>
      </p:sp>
      <p:sp>
        <p:nvSpPr>
          <p:cNvPr id="22" name="텍스트 22: 오송생명과학"/>
          <p:cNvSpPr txBox="1"/>
          <p:nvPr/>
        </p:nvSpPr>
        <p:spPr>
          <a:xfrm>
            <a:off x="2805429" y="1011238"/>
            <a:ext cx="6289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오송생명과학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상업중심지역</a:t>
            </a:r>
          </a:p>
        </p:txBody>
      </p:sp>
      <p:sp>
        <p:nvSpPr>
          <p:cNvPr id="23" name="텍스트 23: 환승센터"/>
          <p:cNvSpPr txBox="1"/>
          <p:nvPr/>
        </p:nvSpPr>
        <p:spPr>
          <a:xfrm>
            <a:off x="3121405" y="2561612"/>
            <a:ext cx="519384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1" spc="-110" dirty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환승센터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1" dirty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복합개발</a:t>
            </a:r>
          </a:p>
        </p:txBody>
      </p:sp>
      <p:sp>
        <p:nvSpPr>
          <p:cNvPr id="24" name="텍스트 24: 주거+상업지역"/>
          <p:cNvSpPr txBox="1"/>
          <p:nvPr/>
        </p:nvSpPr>
        <p:spPr>
          <a:xfrm>
            <a:off x="2425573" y="4181380"/>
            <a:ext cx="85597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3" b="1" spc="-110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주거+상업지역</a:t>
            </a:r>
          </a:p>
        </p:txBody>
      </p:sp>
      <p:sp>
        <p:nvSpPr>
          <p:cNvPr id="25" name="텍스트 25: 주거+상업지역"/>
          <p:cNvSpPr txBox="1"/>
          <p:nvPr/>
        </p:nvSpPr>
        <p:spPr>
          <a:xfrm>
            <a:off x="4529073" y="3238024"/>
            <a:ext cx="855980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3" b="1" spc="-110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주거+상업지역</a:t>
            </a:r>
          </a:p>
        </p:txBody>
      </p:sp>
      <p:sp>
        <p:nvSpPr>
          <p:cNvPr id="26" name="텍스트 26: 오송제3산단"/>
          <p:cNvSpPr txBox="1"/>
          <p:nvPr/>
        </p:nvSpPr>
        <p:spPr>
          <a:xfrm>
            <a:off x="707440" y="6024603"/>
            <a:ext cx="1183589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6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오송제3산단</a:t>
            </a:r>
          </a:p>
        </p:txBody>
      </p:sp>
      <p:sp>
        <p:nvSpPr>
          <p:cNvPr id="27" name="텍스트 27: 공동주택"/>
          <p:cNvSpPr txBox="1"/>
          <p:nvPr/>
        </p:nvSpPr>
        <p:spPr>
          <a:xfrm>
            <a:off x="1705355" y="4025411"/>
            <a:ext cx="431100" cy="1375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7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28" name="텍스트 28: +"/>
          <p:cNvSpPr txBox="1"/>
          <p:nvPr/>
        </p:nvSpPr>
        <p:spPr>
          <a:xfrm>
            <a:off x="1692655" y="4169485"/>
            <a:ext cx="430479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1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  <a:p>
            <a:pPr algn="ctr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민간임대</a:t>
            </a:r>
          </a:p>
        </p:txBody>
      </p:sp>
      <p:sp>
        <p:nvSpPr>
          <p:cNvPr id="29" name="텍스트 29: 유통상업"/>
          <p:cNvSpPr txBox="1"/>
          <p:nvPr/>
        </p:nvSpPr>
        <p:spPr>
          <a:xfrm>
            <a:off x="2594101" y="3165761"/>
            <a:ext cx="5191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E905BE"/>
                </a:solidFill>
                <a:latin typeface="맑은 고딕"/>
                <a:ea typeface="맑은 고딕"/>
                <a:cs typeface="맑은 고딕"/>
              </a:rPr>
              <a:t>유통상업</a:t>
            </a:r>
          </a:p>
        </p:txBody>
      </p:sp>
      <p:sp>
        <p:nvSpPr>
          <p:cNvPr id="30" name="텍스트 30: 오송역세권 도시개발사업"/>
          <p:cNvSpPr txBox="1"/>
          <p:nvPr/>
        </p:nvSpPr>
        <p:spPr>
          <a:xfrm>
            <a:off x="6720840" y="298247"/>
            <a:ext cx="2545033" cy="3057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4" b="1" spc="-201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오송역세권 도시개발사업</a:t>
            </a:r>
          </a:p>
        </p:txBody>
      </p:sp>
      <p:sp>
        <p:nvSpPr>
          <p:cNvPr id="31" name="텍스트 31: 위치"/>
          <p:cNvSpPr txBox="1"/>
          <p:nvPr/>
        </p:nvSpPr>
        <p:spPr>
          <a:xfrm>
            <a:off x="6596506" y="758222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위치</a:t>
            </a:r>
          </a:p>
        </p:txBody>
      </p:sp>
      <p:sp>
        <p:nvSpPr>
          <p:cNvPr id="32" name="텍스트 32: 청주시 흥덕구 오송읍 오송리 108-5번지"/>
          <p:cNvSpPr txBox="1"/>
          <p:nvPr/>
        </p:nvSpPr>
        <p:spPr>
          <a:xfrm>
            <a:off x="7249032" y="674900"/>
            <a:ext cx="2291908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9" b="0" spc="-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흥덕구 오송읍 오송리 108-5번지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일원</a:t>
            </a:r>
          </a:p>
        </p:txBody>
      </p:sp>
      <p:sp>
        <p:nvSpPr>
          <p:cNvPr id="33" name="텍스트 33: 면적"/>
          <p:cNvSpPr txBox="1"/>
          <p:nvPr/>
        </p:nvSpPr>
        <p:spPr>
          <a:xfrm>
            <a:off x="6596506" y="1144302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면적</a:t>
            </a:r>
          </a:p>
        </p:txBody>
      </p:sp>
      <p:sp>
        <p:nvSpPr>
          <p:cNvPr id="34" name="텍스트 34: 712,796㎡ (약 21.6만평)"/>
          <p:cNvSpPr txBox="1"/>
          <p:nvPr/>
        </p:nvSpPr>
        <p:spPr>
          <a:xfrm>
            <a:off x="7249032" y="1144302"/>
            <a:ext cx="1588412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712,796㎡ (약 21.6만평)</a:t>
            </a:r>
          </a:p>
        </p:txBody>
      </p:sp>
      <p:sp>
        <p:nvSpPr>
          <p:cNvPr id="35" name="텍스트 35: 사업기간"/>
          <p:cNvSpPr txBox="1"/>
          <p:nvPr/>
        </p:nvSpPr>
        <p:spPr>
          <a:xfrm>
            <a:off x="6473063" y="1530255"/>
            <a:ext cx="519114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사업기간</a:t>
            </a:r>
          </a:p>
        </p:txBody>
      </p:sp>
      <p:sp>
        <p:nvSpPr>
          <p:cNvPr id="36" name="텍스트 36: 2014년 ~ 2027년 상반기 준공 목표"/>
          <p:cNvSpPr txBox="1"/>
          <p:nvPr/>
        </p:nvSpPr>
        <p:spPr>
          <a:xfrm>
            <a:off x="7249032" y="1530255"/>
            <a:ext cx="2118172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4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2014년 ~ 2027년 상반기 준공 목표</a:t>
            </a:r>
          </a:p>
        </p:txBody>
      </p:sp>
      <p:sp>
        <p:nvSpPr>
          <p:cNvPr id="37" name="텍스트 37: 사업시행자"/>
          <p:cNvSpPr txBox="1"/>
          <p:nvPr/>
        </p:nvSpPr>
        <p:spPr>
          <a:xfrm>
            <a:off x="6412103" y="1916081"/>
            <a:ext cx="64255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사업시행자</a:t>
            </a:r>
          </a:p>
        </p:txBody>
      </p:sp>
      <p:sp>
        <p:nvSpPr>
          <p:cNvPr id="38" name="텍스트 38: 오송역세권지구 도시개발사업조합"/>
          <p:cNvSpPr txBox="1"/>
          <p:nvPr/>
        </p:nvSpPr>
        <p:spPr>
          <a:xfrm>
            <a:off x="7249032" y="1916081"/>
            <a:ext cx="189524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5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오송역세권지구 도시개발사업조합</a:t>
            </a:r>
          </a:p>
        </p:txBody>
      </p:sp>
      <p:sp>
        <p:nvSpPr>
          <p:cNvPr id="39" name="텍스트 39: 사업방식"/>
          <p:cNvSpPr txBox="1"/>
          <p:nvPr/>
        </p:nvSpPr>
        <p:spPr>
          <a:xfrm>
            <a:off x="6473063" y="2302288"/>
            <a:ext cx="519114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사업방식</a:t>
            </a:r>
          </a:p>
        </p:txBody>
      </p:sp>
      <p:sp>
        <p:nvSpPr>
          <p:cNvPr id="40" name="텍스트 40: 도시개발사업"/>
          <p:cNvSpPr txBox="1"/>
          <p:nvPr/>
        </p:nvSpPr>
        <p:spPr>
          <a:xfrm>
            <a:off x="7249032" y="2302288"/>
            <a:ext cx="76443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도시개발사업</a:t>
            </a:r>
          </a:p>
        </p:txBody>
      </p:sp>
      <p:sp>
        <p:nvSpPr>
          <p:cNvPr id="41" name="텍스트 41: 진행상황"/>
          <p:cNvSpPr txBox="1"/>
          <p:nvPr/>
        </p:nvSpPr>
        <p:spPr>
          <a:xfrm>
            <a:off x="6473063" y="2688114"/>
            <a:ext cx="519114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진행상황</a:t>
            </a:r>
          </a:p>
        </p:txBody>
      </p:sp>
      <p:sp>
        <p:nvSpPr>
          <p:cNvPr id="42" name="텍스트 42: 인·허가 완료, 조성 진행 중"/>
          <p:cNvSpPr txBox="1"/>
          <p:nvPr/>
        </p:nvSpPr>
        <p:spPr>
          <a:xfrm>
            <a:off x="7249032" y="2665953"/>
            <a:ext cx="185299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3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인·허가 완료, 조성 진행 중</a:t>
            </a:r>
          </a:p>
        </p:txBody>
      </p:sp>
      <p:sp>
        <p:nvSpPr>
          <p:cNvPr id="43" name="텍스트 43: 오송역세권 도시개발사업은"/>
          <p:cNvSpPr txBox="1"/>
          <p:nvPr/>
        </p:nvSpPr>
        <p:spPr>
          <a:xfrm>
            <a:off x="7285990" y="3167241"/>
            <a:ext cx="2363597" cy="2600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74" b="0" spc="-171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오송역세권 도시개발사업은</a:t>
            </a:r>
          </a:p>
        </p:txBody>
      </p:sp>
      <p:sp>
        <p:nvSpPr>
          <p:cNvPr id="44" name="텍스트 44: KTX오송역을 중심으로"/>
          <p:cNvSpPr txBox="1"/>
          <p:nvPr/>
        </p:nvSpPr>
        <p:spPr>
          <a:xfrm>
            <a:off x="7612126" y="3426874"/>
            <a:ext cx="2037279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0" spc="-157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KTX오송역을 중심으로</a:t>
            </a:r>
          </a:p>
        </p:txBody>
      </p:sp>
      <p:sp>
        <p:nvSpPr>
          <p:cNvPr id="45" name="텍스트 45: ‘교통·산업·주거’가 결합된"/>
          <p:cNvSpPr txBox="1"/>
          <p:nvPr/>
        </p:nvSpPr>
        <p:spPr>
          <a:xfrm>
            <a:off x="7432293" y="3685954"/>
            <a:ext cx="2215585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0" spc="-143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‘교통·산업·주거’가 결합된</a:t>
            </a:r>
          </a:p>
        </p:txBody>
      </p:sp>
      <p:sp>
        <p:nvSpPr>
          <p:cNvPr id="46" name="텍스트 46: [초역세권 거점도시]"/>
          <p:cNvSpPr txBox="1"/>
          <p:nvPr/>
        </p:nvSpPr>
        <p:spPr>
          <a:xfrm>
            <a:off x="7910830" y="3945033"/>
            <a:ext cx="1738002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0" spc="-153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[초역세권 거점도시]</a:t>
            </a:r>
          </a:p>
        </p:txBody>
      </p:sp>
      <p:sp>
        <p:nvSpPr>
          <p:cNvPr id="47" name="텍스트 47: 그 중심의"/>
          <p:cNvSpPr txBox="1"/>
          <p:nvPr/>
        </p:nvSpPr>
        <p:spPr>
          <a:xfrm>
            <a:off x="8484107" y="4437384"/>
            <a:ext cx="1165352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62" b="1" spc="-2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 중심의</a:t>
            </a:r>
          </a:p>
        </p:txBody>
      </p:sp>
      <p:sp>
        <p:nvSpPr>
          <p:cNvPr id="48" name="텍스트 48: 49층, 하이엔드 주거복합"/>
          <p:cNvSpPr txBox="1"/>
          <p:nvPr/>
        </p:nvSpPr>
        <p:spPr>
          <a:xfrm>
            <a:off x="6584950" y="4802844"/>
            <a:ext cx="3064778" cy="366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2" b="1" spc="-19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49층, 하이엔드 주거복합</a:t>
            </a:r>
          </a:p>
        </p:txBody>
      </p:sp>
      <p:sp>
        <p:nvSpPr>
          <p:cNvPr id="49" name="텍스트 49: 오송역 헬로우시티"/>
          <p:cNvSpPr txBox="1"/>
          <p:nvPr/>
        </p:nvSpPr>
        <p:spPr>
          <a:xfrm>
            <a:off x="6307582" y="5172004"/>
            <a:ext cx="3341623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529" b="1" spc="-3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50" name="텍스트 50: 중심상권"/>
          <p:cNvSpPr txBox="1"/>
          <p:nvPr/>
        </p:nvSpPr>
        <p:spPr>
          <a:xfrm>
            <a:off x="3089401" y="3686715"/>
            <a:ext cx="5191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중심상권</a:t>
            </a:r>
          </a:p>
        </p:txBody>
      </p:sp>
      <p:sp>
        <p:nvSpPr>
          <p:cNvPr id="51" name="텍스트 51: 중심상권"/>
          <p:cNvSpPr txBox="1"/>
          <p:nvPr/>
        </p:nvSpPr>
        <p:spPr>
          <a:xfrm>
            <a:off x="4296155" y="2803684"/>
            <a:ext cx="5191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중심상권</a:t>
            </a:r>
          </a:p>
        </p:txBody>
      </p:sp>
      <p:sp>
        <p:nvSpPr>
          <p:cNvPr id="52" name="텍스트 52: 1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53" name="텍스트 53: 오송역 헬로우시티"/>
          <p:cNvSpPr txBox="1"/>
          <p:nvPr/>
        </p:nvSpPr>
        <p:spPr>
          <a:xfrm>
            <a:off x="4102353" y="1964471"/>
            <a:ext cx="150038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9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54" name="텍스트 54: 오송"/>
          <p:cNvSpPr txBox="1"/>
          <p:nvPr/>
        </p:nvSpPr>
        <p:spPr>
          <a:xfrm>
            <a:off x="3466846" y="1951644"/>
            <a:ext cx="38207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0" b="1" spc="-16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55" name="텍스트 55: 오송초"/>
          <p:cNvSpPr txBox="1"/>
          <p:nvPr/>
        </p:nvSpPr>
        <p:spPr>
          <a:xfrm>
            <a:off x="2510027" y="4613942"/>
            <a:ext cx="39567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오송초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"/>
          <p:cNvSpPr txBox="1"/>
          <p:nvPr/>
        </p:nvSpPr>
        <p:spPr>
          <a:xfrm>
            <a:off x="7802626" y="3223897"/>
            <a:ext cx="159780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오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6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송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</p:txBody>
      </p:sp>
      <p:sp>
        <p:nvSpPr>
          <p:cNvPr id="3" name="텍스트 3: 동"/>
          <p:cNvSpPr txBox="1"/>
          <p:nvPr/>
        </p:nvSpPr>
        <p:spPr>
          <a:xfrm>
            <a:off x="2782823" y="3538222"/>
            <a:ext cx="159511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동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탄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</p:txBody>
      </p:sp>
      <p:sp>
        <p:nvSpPr>
          <p:cNvPr id="4" name="텍스트 4: 14.8억"/>
          <p:cNvSpPr txBox="1"/>
          <p:nvPr/>
        </p:nvSpPr>
        <p:spPr>
          <a:xfrm>
            <a:off x="2007107" y="2773092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14.8억</a:t>
            </a:r>
          </a:p>
        </p:txBody>
      </p:sp>
      <p:sp>
        <p:nvSpPr>
          <p:cNvPr id="5" name="텍스트 5: 14.5억 13.8억"/>
          <p:cNvSpPr txBox="1"/>
          <p:nvPr/>
        </p:nvSpPr>
        <p:spPr>
          <a:xfrm>
            <a:off x="1547749" y="3133391"/>
            <a:ext cx="90605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14.5억 13.8억</a:t>
            </a:r>
          </a:p>
        </p:txBody>
      </p:sp>
      <p:sp>
        <p:nvSpPr>
          <p:cNvPr id="6" name="텍스트 6: 13.2억"/>
          <p:cNvSpPr txBox="1"/>
          <p:nvPr/>
        </p:nvSpPr>
        <p:spPr>
          <a:xfrm>
            <a:off x="1628901" y="3412537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13.2억</a:t>
            </a:r>
          </a:p>
        </p:txBody>
      </p:sp>
      <p:sp>
        <p:nvSpPr>
          <p:cNvPr id="7" name="텍스트 7: 13.9억"/>
          <p:cNvSpPr txBox="1"/>
          <p:nvPr/>
        </p:nvSpPr>
        <p:spPr>
          <a:xfrm>
            <a:off x="1619758" y="3817921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13.9억</a:t>
            </a:r>
          </a:p>
        </p:txBody>
      </p:sp>
      <p:sp>
        <p:nvSpPr>
          <p:cNvPr id="8" name="텍스트 8: 16.0억"/>
          <p:cNvSpPr txBox="1"/>
          <p:nvPr/>
        </p:nvSpPr>
        <p:spPr>
          <a:xfrm>
            <a:off x="2961767" y="2755058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16.0억</a:t>
            </a:r>
          </a:p>
        </p:txBody>
      </p:sp>
      <p:sp>
        <p:nvSpPr>
          <p:cNvPr id="9" name="텍스트 9: 16.9억"/>
          <p:cNvSpPr txBox="1"/>
          <p:nvPr/>
        </p:nvSpPr>
        <p:spPr>
          <a:xfrm>
            <a:off x="3528948" y="2917237"/>
            <a:ext cx="44707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16.9억</a:t>
            </a:r>
          </a:p>
        </p:txBody>
      </p:sp>
      <p:sp>
        <p:nvSpPr>
          <p:cNvPr id="10" name="텍스트 10: 14.4억"/>
          <p:cNvSpPr txBox="1"/>
          <p:nvPr/>
        </p:nvSpPr>
        <p:spPr>
          <a:xfrm>
            <a:off x="4132453" y="3052238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14.4억</a:t>
            </a:r>
          </a:p>
        </p:txBody>
      </p:sp>
      <p:sp>
        <p:nvSpPr>
          <p:cNvPr id="11" name="텍스트 11: 13.4억"/>
          <p:cNvSpPr txBox="1"/>
          <p:nvPr/>
        </p:nvSpPr>
        <p:spPr>
          <a:xfrm>
            <a:off x="3907535" y="3349119"/>
            <a:ext cx="446963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8" b="0" spc="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13.4억</a:t>
            </a:r>
          </a:p>
        </p:txBody>
      </p:sp>
      <p:sp>
        <p:nvSpPr>
          <p:cNvPr id="12" name="텍스트 12: 16.5억"/>
          <p:cNvSpPr txBox="1"/>
          <p:nvPr/>
        </p:nvSpPr>
        <p:spPr>
          <a:xfrm>
            <a:off x="3429889" y="3899074"/>
            <a:ext cx="44707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16.5억</a:t>
            </a:r>
          </a:p>
        </p:txBody>
      </p:sp>
      <p:sp>
        <p:nvSpPr>
          <p:cNvPr id="13" name="텍스트 13: 17.5억"/>
          <p:cNvSpPr txBox="1"/>
          <p:nvPr/>
        </p:nvSpPr>
        <p:spPr>
          <a:xfrm>
            <a:off x="3835272" y="4106338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17.5억</a:t>
            </a:r>
          </a:p>
        </p:txBody>
      </p:sp>
      <p:sp>
        <p:nvSpPr>
          <p:cNvPr id="14" name="텍스트 14: 13.5억"/>
          <p:cNvSpPr txBox="1"/>
          <p:nvPr/>
        </p:nvSpPr>
        <p:spPr>
          <a:xfrm>
            <a:off x="3006851" y="4313221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13.5억</a:t>
            </a:r>
          </a:p>
        </p:txBody>
      </p:sp>
      <p:sp>
        <p:nvSpPr>
          <p:cNvPr id="15" name="텍스트 15: 11.5억 12.8억"/>
          <p:cNvSpPr txBox="1"/>
          <p:nvPr/>
        </p:nvSpPr>
        <p:spPr>
          <a:xfrm>
            <a:off x="1574546" y="4277280"/>
            <a:ext cx="88814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11.5억 12.8억</a:t>
            </a:r>
          </a:p>
        </p:txBody>
      </p:sp>
      <p:sp>
        <p:nvSpPr>
          <p:cNvPr id="16" name="텍스트 16: 9.9억"/>
          <p:cNvSpPr txBox="1"/>
          <p:nvPr/>
        </p:nvSpPr>
        <p:spPr>
          <a:xfrm>
            <a:off x="1997329" y="4646723"/>
            <a:ext cx="35677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9.9억</a:t>
            </a:r>
          </a:p>
        </p:txBody>
      </p:sp>
      <p:sp>
        <p:nvSpPr>
          <p:cNvPr id="17" name="텍스트 17: KTX 초역세권"/>
          <p:cNvSpPr txBox="1"/>
          <p:nvPr/>
        </p:nvSpPr>
        <p:spPr>
          <a:xfrm>
            <a:off x="3081273" y="3194052"/>
            <a:ext cx="789863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8" b="0" spc="-9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초역세권</a:t>
            </a:r>
          </a:p>
        </p:txBody>
      </p:sp>
      <p:sp>
        <p:nvSpPr>
          <p:cNvPr id="18" name="텍스트 18: 주거복합"/>
          <p:cNvSpPr txBox="1"/>
          <p:nvPr/>
        </p:nvSpPr>
        <p:spPr>
          <a:xfrm>
            <a:off x="3227577" y="3354625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주거복합</a:t>
            </a:r>
          </a:p>
        </p:txBody>
      </p:sp>
      <p:sp>
        <p:nvSpPr>
          <p:cNvPr id="19" name="텍스트 19: 22.3억"/>
          <p:cNvSpPr txBox="1"/>
          <p:nvPr/>
        </p:nvSpPr>
        <p:spPr>
          <a:xfrm>
            <a:off x="3142233" y="3517427"/>
            <a:ext cx="66401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16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22.3억</a:t>
            </a:r>
          </a:p>
        </p:txBody>
      </p:sp>
      <p:sp>
        <p:nvSpPr>
          <p:cNvPr id="20" name="텍스트 20: 중심상업"/>
          <p:cNvSpPr txBox="1"/>
          <p:nvPr/>
        </p:nvSpPr>
        <p:spPr>
          <a:xfrm>
            <a:off x="8653271" y="4245911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중심상업</a:t>
            </a:r>
          </a:p>
        </p:txBody>
      </p:sp>
      <p:sp>
        <p:nvSpPr>
          <p:cNvPr id="21" name="텍스트 21: 중심상업"/>
          <p:cNvSpPr txBox="1"/>
          <p:nvPr/>
        </p:nvSpPr>
        <p:spPr>
          <a:xfrm>
            <a:off x="6759829" y="4463843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중심상업</a:t>
            </a:r>
          </a:p>
        </p:txBody>
      </p:sp>
      <p:sp>
        <p:nvSpPr>
          <p:cNvPr id="22" name="텍스트 22: 유통상업"/>
          <p:cNvSpPr txBox="1"/>
          <p:nvPr/>
        </p:nvSpPr>
        <p:spPr>
          <a:xfrm>
            <a:off x="6759829" y="3329606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유통상업</a:t>
            </a:r>
          </a:p>
        </p:txBody>
      </p:sp>
      <p:sp>
        <p:nvSpPr>
          <p:cNvPr id="23" name="텍스트 23: 유통상업"/>
          <p:cNvSpPr txBox="1"/>
          <p:nvPr/>
        </p:nvSpPr>
        <p:spPr>
          <a:xfrm>
            <a:off x="6759829" y="3792013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유통상업</a:t>
            </a:r>
          </a:p>
        </p:txBody>
      </p:sp>
      <p:sp>
        <p:nvSpPr>
          <p:cNvPr id="24" name="텍스트 24: 환승"/>
          <p:cNvSpPr txBox="1"/>
          <p:nvPr/>
        </p:nvSpPr>
        <p:spPr>
          <a:xfrm>
            <a:off x="8107680" y="3190527"/>
            <a:ext cx="260766" cy="640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환승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센터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복합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</p:txBody>
      </p:sp>
      <p:sp>
        <p:nvSpPr>
          <p:cNvPr id="25" name="텍스트 25: 오송초"/>
          <p:cNvSpPr txBox="1"/>
          <p:nvPr/>
        </p:nvSpPr>
        <p:spPr>
          <a:xfrm>
            <a:off x="5491607" y="4672967"/>
            <a:ext cx="378383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오송초</a:t>
            </a:r>
          </a:p>
        </p:txBody>
      </p:sp>
      <p:sp>
        <p:nvSpPr>
          <p:cNvPr id="26" name="텍스트 26: 이미 완성된 KTX 초역세권, 하이엔드 주상복합"/>
          <p:cNvSpPr txBox="1"/>
          <p:nvPr/>
        </p:nvSpPr>
        <p:spPr>
          <a:xfrm>
            <a:off x="1158849" y="5299330"/>
            <a:ext cx="280697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7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이미 완성된 KTX 초역세권, 하이엔드 주상복합</a:t>
            </a:r>
          </a:p>
        </p:txBody>
      </p:sp>
      <p:sp>
        <p:nvSpPr>
          <p:cNvPr id="27" name="텍스트 27: 주변 시세 대비 약 160% ↑"/>
          <p:cNvSpPr txBox="1"/>
          <p:nvPr/>
        </p:nvSpPr>
        <p:spPr>
          <a:xfrm>
            <a:off x="1161897" y="5482534"/>
            <a:ext cx="2802999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159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주변 시세 대비 약 160% ↑</a:t>
            </a:r>
          </a:p>
        </p:txBody>
      </p:sp>
      <p:sp>
        <p:nvSpPr>
          <p:cNvPr id="28" name="텍스트 28: KTX 초역세권 주거복합 ‘오송역 헬로우시티’"/>
          <p:cNvSpPr txBox="1"/>
          <p:nvPr/>
        </p:nvSpPr>
        <p:spPr>
          <a:xfrm>
            <a:off x="5388228" y="5357021"/>
            <a:ext cx="224178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9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초역세권 주거복합 </a:t>
            </a:r>
            <a:r>
              <a:rPr lang="ko-KR" altLang="en-US" sz="996" b="1" spc="-9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‘오송역 헬로우시티’</a:t>
            </a:r>
          </a:p>
        </p:txBody>
      </p:sp>
      <p:sp>
        <p:nvSpPr>
          <p:cNvPr id="29" name="텍스트 29: +@ 오송 개발의 중심 미래가치"/>
          <p:cNvSpPr txBox="1"/>
          <p:nvPr/>
        </p:nvSpPr>
        <p:spPr>
          <a:xfrm>
            <a:off x="5388228" y="5508873"/>
            <a:ext cx="223551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3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+@ 오송 개발의 중심 미래가치</a:t>
            </a:r>
          </a:p>
        </p:txBody>
      </p:sp>
      <p:sp>
        <p:nvSpPr>
          <p:cNvPr id="30" name="텍스트 30: SC"/>
          <p:cNvSpPr txBox="1"/>
          <p:nvPr/>
        </p:nvSpPr>
        <p:spPr>
          <a:xfrm>
            <a:off x="8063230" y="5494180"/>
            <a:ext cx="385222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</a:t>
            </a:r>
          </a:p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4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25BL</a:t>
            </a:r>
          </a:p>
        </p:txBody>
      </p:sp>
      <p:sp>
        <p:nvSpPr>
          <p:cNvPr id="31" name="텍스트 31: 일반공급"/>
          <p:cNvSpPr txBox="1"/>
          <p:nvPr/>
        </p:nvSpPr>
        <p:spPr>
          <a:xfrm>
            <a:off x="5199888" y="3528996"/>
            <a:ext cx="49637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일반공급</a:t>
            </a:r>
          </a:p>
        </p:txBody>
      </p:sp>
      <p:sp>
        <p:nvSpPr>
          <p:cNvPr id="32" name="텍스트 32: +"/>
          <p:cNvSpPr txBox="1"/>
          <p:nvPr/>
        </p:nvSpPr>
        <p:spPr>
          <a:xfrm>
            <a:off x="5187188" y="3689764"/>
            <a:ext cx="496377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1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민간임대</a:t>
            </a:r>
          </a:p>
        </p:txBody>
      </p:sp>
      <p:sp>
        <p:nvSpPr>
          <p:cNvPr id="33" name="텍스트 33: 개발"/>
          <p:cNvSpPr txBox="1"/>
          <p:nvPr/>
        </p:nvSpPr>
        <p:spPr>
          <a:xfrm>
            <a:off x="6260591" y="4023129"/>
            <a:ext cx="272227" cy="3352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호재</a:t>
            </a:r>
          </a:p>
        </p:txBody>
      </p:sp>
      <p:sp>
        <p:nvSpPr>
          <p:cNvPr id="34" name="텍스트 34: 개발"/>
          <p:cNvSpPr txBox="1"/>
          <p:nvPr/>
        </p:nvSpPr>
        <p:spPr>
          <a:xfrm>
            <a:off x="6260591" y="2826408"/>
            <a:ext cx="272227" cy="3352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호재</a:t>
            </a:r>
          </a:p>
        </p:txBody>
      </p:sp>
      <p:sp>
        <p:nvSpPr>
          <p:cNvPr id="35" name="텍스트 35: 개발"/>
          <p:cNvSpPr txBox="1"/>
          <p:nvPr/>
        </p:nvSpPr>
        <p:spPr>
          <a:xfrm>
            <a:off x="8561831" y="2826408"/>
            <a:ext cx="272226" cy="3352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호재</a:t>
            </a:r>
          </a:p>
        </p:txBody>
      </p:sp>
      <p:sp>
        <p:nvSpPr>
          <p:cNvPr id="36" name="텍스트 36: 개발"/>
          <p:cNvSpPr txBox="1"/>
          <p:nvPr/>
        </p:nvSpPr>
        <p:spPr>
          <a:xfrm>
            <a:off x="9104630" y="3572024"/>
            <a:ext cx="272532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호재</a:t>
            </a:r>
          </a:p>
        </p:txBody>
      </p:sp>
      <p:sp>
        <p:nvSpPr>
          <p:cNvPr id="37" name="텍스트 37: 개발"/>
          <p:cNvSpPr txBox="1"/>
          <p:nvPr/>
        </p:nvSpPr>
        <p:spPr>
          <a:xfrm>
            <a:off x="8663051" y="5698259"/>
            <a:ext cx="272226" cy="3352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호재</a:t>
            </a:r>
          </a:p>
        </p:txBody>
      </p:sp>
      <p:sp>
        <p:nvSpPr>
          <p:cNvPr id="38" name="텍스트 38: KTX 동탄역 인근 84㎡ 아파트 ‘실거래가’ 현황"/>
          <p:cNvSpPr txBox="1"/>
          <p:nvPr/>
        </p:nvSpPr>
        <p:spPr>
          <a:xfrm>
            <a:off x="662025" y="1924847"/>
            <a:ext cx="3802593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2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동탄역 인근 84㎡ 아파트 ‘실거래가’ 현황</a:t>
            </a:r>
          </a:p>
        </p:txBody>
      </p:sp>
      <p:sp>
        <p:nvSpPr>
          <p:cNvPr id="39" name="텍스트 39: KTX 오송역 헬로우시티 ‘개발호재’ 현황"/>
          <p:cNvSpPr txBox="1"/>
          <p:nvPr/>
        </p:nvSpPr>
        <p:spPr>
          <a:xfrm>
            <a:off x="5747003" y="1924847"/>
            <a:ext cx="324935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4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오송역 헬로우시티 ‘개발호재’ 현황</a:t>
            </a:r>
          </a:p>
        </p:txBody>
      </p:sp>
      <p:sp>
        <p:nvSpPr>
          <p:cNvPr id="40" name="텍스트 40: [출처 : 호갱노노]"/>
          <p:cNvSpPr txBox="1"/>
          <p:nvPr/>
        </p:nvSpPr>
        <p:spPr>
          <a:xfrm>
            <a:off x="4213605" y="6232343"/>
            <a:ext cx="608145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57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[출처 : 호갱노노]</a:t>
            </a:r>
          </a:p>
        </p:txBody>
      </p:sp>
      <p:sp>
        <p:nvSpPr>
          <p:cNvPr id="41" name="텍스트 41: [출처 : 오송역세권 도시개발사업 홈페이지]"/>
          <p:cNvSpPr txBox="1"/>
          <p:nvPr/>
        </p:nvSpPr>
        <p:spPr>
          <a:xfrm>
            <a:off x="8128127" y="6232343"/>
            <a:ext cx="1502733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69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[출처 : 오송역세권 도시개발사업 홈페이지]</a:t>
            </a:r>
          </a:p>
        </p:txBody>
      </p:sp>
      <p:sp>
        <p:nvSpPr>
          <p:cNvPr id="42" name="텍스트 42: CHAPTER 01 ·  입지 및 개발호재 │ 오송역세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3  ·  왜 헬로우시티  │  오송역세권 도시개발의 중심, 오송역 헬로우시티</a:t>
            </a:r>
          </a:p>
        </p:txBody>
      </p:sp>
      <p:sp>
        <p:nvSpPr>
          <p:cNvPr id="43" name="텍스트 43: 오송역세권과 유사한 KTX 동탄역 앞 주거복합단지, 주"/>
          <p:cNvSpPr txBox="1"/>
          <p:nvPr/>
        </p:nvSpPr>
        <p:spPr>
          <a:xfrm>
            <a:off x="304800" y="664811"/>
            <a:ext cx="9081337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오송역세권과 유사한 KTX 동탄역 앞 주거복합단지, </a:t>
            </a:r>
            <a:r>
              <a:rPr lang="ko-KR" altLang="en-US" sz="264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주변 시세 1.6배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‘오송역 헬로우시티’는 </a:t>
            </a:r>
            <a:r>
              <a:rPr lang="ko-KR" altLang="en-US" sz="2643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동일 입지에 개발호재</a:t>
            </a:r>
            <a:r>
              <a:rPr lang="ko-KR" altLang="en-US" sz="264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까지 다수, 미래가치 高</a:t>
            </a:r>
          </a:p>
        </p:txBody>
      </p:sp>
      <p:sp>
        <p:nvSpPr>
          <p:cNvPr id="44" name="텍스트 44: 12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45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46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47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48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49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사업명"/>
          <p:cNvSpPr txBox="1"/>
          <p:nvPr/>
        </p:nvSpPr>
        <p:spPr>
          <a:xfrm>
            <a:off x="620572" y="1573958"/>
            <a:ext cx="378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사업명</a:t>
            </a:r>
          </a:p>
        </p:txBody>
      </p:sp>
      <p:sp>
        <p:nvSpPr>
          <p:cNvPr id="3" name="텍스트 3: 청주시 오송역세권 C-17BL 주거복합시설 신축공사"/>
          <p:cNvSpPr txBox="1"/>
          <p:nvPr/>
        </p:nvSpPr>
        <p:spPr>
          <a:xfrm>
            <a:off x="1428877" y="1573958"/>
            <a:ext cx="276685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오송역세권 C-17BL 주거복합시설 신축공사</a:t>
            </a:r>
          </a:p>
        </p:txBody>
      </p:sp>
      <p:sp>
        <p:nvSpPr>
          <p:cNvPr id="4" name="텍스트 4: 대지위치"/>
          <p:cNvSpPr txBox="1"/>
          <p:nvPr/>
        </p:nvSpPr>
        <p:spPr>
          <a:xfrm>
            <a:off x="562660" y="1812718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대지위치</a:t>
            </a:r>
          </a:p>
        </p:txBody>
      </p:sp>
      <p:sp>
        <p:nvSpPr>
          <p:cNvPr id="5" name="텍스트 5: 충청북도 청주시 흥덕구 오송읍 궁평리 358-9번지 일"/>
          <p:cNvSpPr txBox="1"/>
          <p:nvPr/>
        </p:nvSpPr>
        <p:spPr>
          <a:xfrm>
            <a:off x="1428877" y="1812718"/>
            <a:ext cx="296040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충청북도 청주시 흥덕구 오송읍 궁평리 358-9번지 일원</a:t>
            </a:r>
          </a:p>
        </p:txBody>
      </p:sp>
      <p:sp>
        <p:nvSpPr>
          <p:cNvPr id="6" name="텍스트 6: 지역·지구"/>
          <p:cNvSpPr txBox="1"/>
          <p:nvPr/>
        </p:nvSpPr>
        <p:spPr>
          <a:xfrm>
            <a:off x="504748" y="2040973"/>
            <a:ext cx="61088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-112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지역·지구</a:t>
            </a:r>
          </a:p>
        </p:txBody>
      </p:sp>
      <p:sp>
        <p:nvSpPr>
          <p:cNvPr id="7" name="텍스트 7: 일반상업지역, 지구단위계획구역"/>
          <p:cNvSpPr txBox="1"/>
          <p:nvPr/>
        </p:nvSpPr>
        <p:spPr>
          <a:xfrm>
            <a:off x="1428877" y="2040973"/>
            <a:ext cx="197524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1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일반상업지역, 지구단위계획구역</a:t>
            </a:r>
          </a:p>
        </p:txBody>
      </p:sp>
      <p:sp>
        <p:nvSpPr>
          <p:cNvPr id="8" name="텍스트 8: 용도"/>
          <p:cNvSpPr txBox="1"/>
          <p:nvPr/>
        </p:nvSpPr>
        <p:spPr>
          <a:xfrm>
            <a:off x="663244" y="2279905"/>
            <a:ext cx="29362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9" name="텍스트 9: 복합시설(공동주택, 오피스텔, 판매시설)"/>
          <p:cNvSpPr txBox="1"/>
          <p:nvPr/>
        </p:nvSpPr>
        <p:spPr>
          <a:xfrm>
            <a:off x="1428877" y="2279905"/>
            <a:ext cx="24158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7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복합시설(공동주택, 오피스텔, 판매시설)</a:t>
            </a:r>
          </a:p>
        </p:txBody>
      </p:sp>
      <p:sp>
        <p:nvSpPr>
          <p:cNvPr id="10" name="텍스트 10: 건축규모"/>
          <p:cNvSpPr txBox="1"/>
          <p:nvPr/>
        </p:nvSpPr>
        <p:spPr>
          <a:xfrm>
            <a:off x="529132" y="2518285"/>
            <a:ext cx="56184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건축규모</a:t>
            </a:r>
          </a:p>
        </p:txBody>
      </p:sp>
      <p:sp>
        <p:nvSpPr>
          <p:cNvPr id="11" name="텍스트 11: 지하 3층, 지상 49층 공동주택 총 480세대 등"/>
          <p:cNvSpPr txBox="1"/>
          <p:nvPr/>
        </p:nvSpPr>
        <p:spPr>
          <a:xfrm>
            <a:off x="1428877" y="2518285"/>
            <a:ext cx="277990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8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지하 3층, 지상 49층 공동주택 총 480세대 등</a:t>
            </a:r>
          </a:p>
        </p:txBody>
      </p:sp>
      <p:sp>
        <p:nvSpPr>
          <p:cNvPr id="12" name="텍스트 12: 대지면적"/>
          <p:cNvSpPr txBox="1"/>
          <p:nvPr/>
        </p:nvSpPr>
        <p:spPr>
          <a:xfrm>
            <a:off x="562660" y="2766361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대지면적</a:t>
            </a:r>
          </a:p>
        </p:txBody>
      </p:sp>
      <p:sp>
        <p:nvSpPr>
          <p:cNvPr id="13" name="텍스트 13: 7,794.00㎡ (약 2,357.69평)"/>
          <p:cNvSpPr txBox="1"/>
          <p:nvPr/>
        </p:nvSpPr>
        <p:spPr>
          <a:xfrm>
            <a:off x="1428877" y="2766361"/>
            <a:ext cx="17358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7,794.00㎡ (약 2,357.69평)</a:t>
            </a:r>
          </a:p>
        </p:txBody>
      </p:sp>
      <p:sp>
        <p:nvSpPr>
          <p:cNvPr id="14" name="텍스트 14: 건축면적"/>
          <p:cNvSpPr txBox="1"/>
          <p:nvPr/>
        </p:nvSpPr>
        <p:spPr>
          <a:xfrm>
            <a:off x="562660" y="3004441"/>
            <a:ext cx="495731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건축면적</a:t>
            </a:r>
          </a:p>
        </p:txBody>
      </p:sp>
      <p:sp>
        <p:nvSpPr>
          <p:cNvPr id="15" name="텍스트 15: 6,216.73㎡ (약 1,880.56평)"/>
          <p:cNvSpPr txBox="1"/>
          <p:nvPr/>
        </p:nvSpPr>
        <p:spPr>
          <a:xfrm>
            <a:off x="1428877" y="3004441"/>
            <a:ext cx="1735916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8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6,216.73㎡ (약 1,880.56평)</a:t>
            </a:r>
          </a:p>
        </p:txBody>
      </p:sp>
      <p:sp>
        <p:nvSpPr>
          <p:cNvPr id="16" name="텍스트 16: 연면적"/>
          <p:cNvSpPr txBox="1"/>
          <p:nvPr/>
        </p:nvSpPr>
        <p:spPr>
          <a:xfrm>
            <a:off x="620572" y="3243373"/>
            <a:ext cx="378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연면적</a:t>
            </a:r>
          </a:p>
        </p:txBody>
      </p:sp>
      <p:sp>
        <p:nvSpPr>
          <p:cNvPr id="17" name="텍스트 17: 99,461.61㎡ (약 30,087.14평)"/>
          <p:cNvSpPr txBox="1"/>
          <p:nvPr/>
        </p:nvSpPr>
        <p:spPr>
          <a:xfrm>
            <a:off x="1428877" y="3243373"/>
            <a:ext cx="191260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99,461.61㎡ (약 30,087.14평)</a:t>
            </a:r>
          </a:p>
        </p:txBody>
      </p:sp>
      <p:sp>
        <p:nvSpPr>
          <p:cNvPr id="18" name="텍스트 18: 용적률·건폐율"/>
          <p:cNvSpPr txBox="1"/>
          <p:nvPr/>
        </p:nvSpPr>
        <p:spPr>
          <a:xfrm>
            <a:off x="425500" y="3481752"/>
            <a:ext cx="76978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7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용적률·건폐율</a:t>
            </a:r>
          </a:p>
        </p:txBody>
      </p:sp>
      <p:sp>
        <p:nvSpPr>
          <p:cNvPr id="19" name="텍스트 19: 825.97%(법정 1,000.00% 이하) / 79."/>
          <p:cNvSpPr txBox="1"/>
          <p:nvPr/>
        </p:nvSpPr>
        <p:spPr>
          <a:xfrm>
            <a:off x="1428877" y="3481752"/>
            <a:ext cx="353591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2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825.97%(법정 1,000.00% 이하) / 79.76% (법정 80% 이하)</a:t>
            </a:r>
          </a:p>
        </p:txBody>
      </p:sp>
      <p:sp>
        <p:nvSpPr>
          <p:cNvPr id="20" name="텍스트 20: 주차대수"/>
          <p:cNvSpPr txBox="1"/>
          <p:nvPr/>
        </p:nvSpPr>
        <p:spPr>
          <a:xfrm>
            <a:off x="529132" y="3710688"/>
            <a:ext cx="56184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주차대수</a:t>
            </a:r>
          </a:p>
        </p:txBody>
      </p:sp>
      <p:sp>
        <p:nvSpPr>
          <p:cNvPr id="21" name="텍스트 21: 공동주택 821대 (세대당 1.7대) ※O.T, 판매시"/>
          <p:cNvSpPr txBox="1"/>
          <p:nvPr/>
        </p:nvSpPr>
        <p:spPr>
          <a:xfrm>
            <a:off x="1428877" y="3710688"/>
            <a:ext cx="334378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69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공동주택 821대 (세대당 1.7대) </a:t>
            </a:r>
            <a:r>
              <a:rPr lang="ko-KR" altLang="en-US" sz="900" b="1" spc="-69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※O.T, 판매시설 주차장 제외</a:t>
            </a:r>
          </a:p>
        </p:txBody>
      </p:sp>
      <p:sp>
        <p:nvSpPr>
          <p:cNvPr id="22" name="텍스트 22: 사업자/업무대행"/>
          <p:cNvSpPr txBox="1"/>
          <p:nvPr/>
        </p:nvSpPr>
        <p:spPr>
          <a:xfrm>
            <a:off x="299008" y="3948767"/>
            <a:ext cx="1020725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-11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사업자/업무대행</a:t>
            </a:r>
          </a:p>
        </p:txBody>
      </p:sp>
      <p:sp>
        <p:nvSpPr>
          <p:cNvPr id="23" name="텍스트 23: 오송역 C17블록 지역주택조합 추진위원회 / ㈜팍스디앤"/>
          <p:cNvSpPr txBox="1"/>
          <p:nvPr/>
        </p:nvSpPr>
        <p:spPr>
          <a:xfrm>
            <a:off x="1428877" y="3948767"/>
            <a:ext cx="353912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-107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오송역 C17블록 지역주택조합 추진위원회 / ㈜팍스디앤엠</a:t>
            </a:r>
          </a:p>
        </p:txBody>
      </p:sp>
      <p:sp>
        <p:nvSpPr>
          <p:cNvPr id="24" name="텍스트 24: 설계/자금관리"/>
          <p:cNvSpPr txBox="1"/>
          <p:nvPr/>
        </p:nvSpPr>
        <p:spPr>
          <a:xfrm>
            <a:off x="366064" y="4187700"/>
            <a:ext cx="88798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11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설계/자금관리</a:t>
            </a:r>
          </a:p>
        </p:txBody>
      </p:sp>
      <p:sp>
        <p:nvSpPr>
          <p:cNvPr id="25" name="텍스트 25: 포스코A&amp;C / 신한자산신탁㈜"/>
          <p:cNvSpPr txBox="1"/>
          <p:nvPr/>
        </p:nvSpPr>
        <p:spPr>
          <a:xfrm>
            <a:off x="1428877" y="4187700"/>
            <a:ext cx="187302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84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포스코A&amp;C / 신한자산신탁㈜</a:t>
            </a:r>
          </a:p>
        </p:txBody>
      </p:sp>
      <p:sp>
        <p:nvSpPr>
          <p:cNvPr id="26" name="텍스트 26: 공급방식"/>
          <p:cNvSpPr txBox="1"/>
          <p:nvPr/>
        </p:nvSpPr>
        <p:spPr>
          <a:xfrm>
            <a:off x="529132" y="4426078"/>
            <a:ext cx="56184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공급방식</a:t>
            </a:r>
          </a:p>
        </p:txBody>
      </p:sp>
      <p:sp>
        <p:nvSpPr>
          <p:cNvPr id="27" name="텍스트 27: 토지계약완료 후 지역주택조합"/>
          <p:cNvSpPr txBox="1"/>
          <p:nvPr/>
        </p:nvSpPr>
        <p:spPr>
          <a:xfrm>
            <a:off x="1428877" y="4426078"/>
            <a:ext cx="1830196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4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토지계약완료 후 지역주택조합</a:t>
            </a:r>
          </a:p>
        </p:txBody>
      </p:sp>
      <p:sp>
        <p:nvSpPr>
          <p:cNvPr id="28" name="텍스트 28: CHAPTER 02  ·  오송역 헬로우시티 │ 49층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STEP 3  ·  왜 헬로우시티  │  49층, 청주의 하늘을 누리다</a:t>
            </a:r>
          </a:p>
        </p:txBody>
      </p:sp>
      <p:sp>
        <p:nvSpPr>
          <p:cNvPr id="29" name="텍스트 29: 본 이미지는 이해를 돕기 위해 AI로 제작한 이미지입니"/>
          <p:cNvSpPr txBox="1"/>
          <p:nvPr/>
        </p:nvSpPr>
        <p:spPr>
          <a:xfrm>
            <a:off x="7125589" y="103951"/>
            <a:ext cx="263898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2" dirty="0">
                <a:solidFill>
                  <a:srgbClr val="C9DCD2"/>
                </a:solidFill>
                <a:latin typeface="맑은 고딕"/>
                <a:ea typeface="맑은 고딕"/>
                <a:cs typeface="맑은 고딕"/>
              </a:rPr>
              <a:t>본 이미지는 이해를 돕기 위해 AI로 제작한 이미지입니다.</a:t>
            </a:r>
          </a:p>
        </p:txBody>
      </p:sp>
      <p:sp>
        <p:nvSpPr>
          <p:cNvPr id="30" name="텍스트 30: 충북 167만명 - 청주 89만명 중 단 480명,"/>
          <p:cNvSpPr txBox="1"/>
          <p:nvPr/>
        </p:nvSpPr>
        <p:spPr>
          <a:xfrm>
            <a:off x="304800" y="641147"/>
            <a:ext cx="4413094" cy="3057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6" b="1" spc="-9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충북 167만명 - 청주 89만명 중 단 480명,</a:t>
            </a:r>
          </a:p>
        </p:txBody>
      </p:sp>
      <p:sp>
        <p:nvSpPr>
          <p:cNvPr id="31" name="텍스트 31: 오송역 헬로우시티 사업 계획"/>
          <p:cNvSpPr txBox="1"/>
          <p:nvPr/>
        </p:nvSpPr>
        <p:spPr>
          <a:xfrm>
            <a:off x="304800" y="948346"/>
            <a:ext cx="4011355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53" b="1" spc="-280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오송역 헬로우시티 사업 계획</a:t>
            </a:r>
          </a:p>
        </p:txBody>
      </p:sp>
      <p:sp>
        <p:nvSpPr>
          <p:cNvPr id="32" name="텍스트 32: 1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33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34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35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36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37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4BAY 판상형·와이드 LDK로 완성한 84A의 개방감"/>
          <p:cNvSpPr txBox="1"/>
          <p:nvPr/>
        </p:nvSpPr>
        <p:spPr>
          <a:xfrm>
            <a:off x="304800" y="632115"/>
            <a:ext cx="7276279" cy="86309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63" b="1" spc="-2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4BAY 판상형·와이드 LDK로 완성한 84A의 개방감</a:t>
            </a:r>
          </a:p>
          <a:p>
            <a:pPr algn="l">
              <a:lnSpc>
                <a:spcPts val="33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61" b="1" spc="-2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순환동선·팬트리·전실 붙박이장, </a:t>
            </a:r>
            <a:r>
              <a:rPr lang="ko-KR" altLang="en-US" sz="2461" b="1" spc="-26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수납과 동선까지 잡은 평면</a:t>
            </a:r>
          </a:p>
        </p:txBody>
      </p:sp>
      <p:sp>
        <p:nvSpPr>
          <p:cNvPr id="3" name="텍스트 3: CHAPTER 02  ·  오송역 헬로우시티 │ 49층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3  ·  왜 헬로우시티  │  49층, 청주의 하늘을 누리다</a:t>
            </a:r>
          </a:p>
        </p:txBody>
      </p:sp>
      <p:sp>
        <p:nvSpPr>
          <p:cNvPr id="4" name="텍스트 4: U N I T T Y P E"/>
          <p:cNvSpPr txBox="1"/>
          <p:nvPr/>
        </p:nvSpPr>
        <p:spPr>
          <a:xfrm>
            <a:off x="6617843" y="2059083"/>
            <a:ext cx="97320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5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U N I T T Y P E</a:t>
            </a:r>
          </a:p>
        </p:txBody>
      </p:sp>
      <p:sp>
        <p:nvSpPr>
          <p:cNvPr id="5" name="텍스트 5: 84A"/>
          <p:cNvSpPr txBox="1"/>
          <p:nvPr/>
        </p:nvSpPr>
        <p:spPr>
          <a:xfrm>
            <a:off x="6617843" y="2242272"/>
            <a:ext cx="971884" cy="54900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3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2" b="1" spc="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84A</a:t>
            </a:r>
          </a:p>
        </p:txBody>
      </p:sp>
      <p:sp>
        <p:nvSpPr>
          <p:cNvPr id="6" name="텍스트 6: 구조 · 개방감"/>
          <p:cNvSpPr txBox="1"/>
          <p:nvPr/>
        </p:nvSpPr>
        <p:spPr>
          <a:xfrm>
            <a:off x="6617843" y="2974182"/>
            <a:ext cx="94735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구조 · 개방감</a:t>
            </a:r>
          </a:p>
        </p:txBody>
      </p:sp>
      <p:sp>
        <p:nvSpPr>
          <p:cNvPr id="7" name="텍스트 7: · 4BAY 판상형 맞통풍 구조"/>
          <p:cNvSpPr txBox="1"/>
          <p:nvPr/>
        </p:nvSpPr>
        <p:spPr>
          <a:xfrm>
            <a:off x="6617843" y="3205475"/>
            <a:ext cx="1860610" cy="6720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85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85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4BAY 판상형 맞통풍 구조</a:t>
            </a:r>
          </a:p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70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7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와이드 LDK 리빙룸</a:t>
            </a:r>
          </a:p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04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104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거실 통창(유리난간) 적용</a:t>
            </a:r>
          </a:p>
        </p:txBody>
      </p:sp>
      <p:sp>
        <p:nvSpPr>
          <p:cNvPr id="8" name="텍스트 8: 동선 · 주방"/>
          <p:cNvSpPr txBox="1"/>
          <p:nvPr/>
        </p:nvSpPr>
        <p:spPr>
          <a:xfrm>
            <a:off x="6617843" y="3986371"/>
            <a:ext cx="79038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동선 · 주방</a:t>
            </a:r>
          </a:p>
        </p:txBody>
      </p:sp>
      <p:sp>
        <p:nvSpPr>
          <p:cNvPr id="9" name="텍스트 9: · 현관 순환동선"/>
          <p:cNvSpPr txBox="1"/>
          <p:nvPr/>
        </p:nvSpPr>
        <p:spPr>
          <a:xfrm>
            <a:off x="6617843" y="4215888"/>
            <a:ext cx="1743531" cy="67208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99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99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현관 순환동선</a:t>
            </a:r>
          </a:p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0" spc="-112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8" b="0" spc="-112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대형 현관 창고 겸 팬트리</a:t>
            </a:r>
          </a:p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93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93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‘二’ 자형 아일랜드 주방</a:t>
            </a:r>
          </a:p>
        </p:txBody>
      </p:sp>
      <p:sp>
        <p:nvSpPr>
          <p:cNvPr id="10" name="텍스트 10: 수납 · 특화"/>
          <p:cNvSpPr txBox="1"/>
          <p:nvPr/>
        </p:nvSpPr>
        <p:spPr>
          <a:xfrm>
            <a:off x="6617843" y="4997165"/>
            <a:ext cx="79038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수납 · 특화</a:t>
            </a:r>
          </a:p>
        </p:txBody>
      </p:sp>
      <p:sp>
        <p:nvSpPr>
          <p:cNvPr id="11" name="텍스트 11: · 침실 전체 붙박이장 적용"/>
          <p:cNvSpPr txBox="1"/>
          <p:nvPr/>
        </p:nvSpPr>
        <p:spPr>
          <a:xfrm>
            <a:off x="6617843" y="5229493"/>
            <a:ext cx="1708210" cy="88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10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침실 전체 붙박이장 적용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01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101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건식세면대 + 파우더장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0" spc="-103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8" b="0" spc="-103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넓은 드레스룸(창 적용)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01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101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실외기실 특화(검토 중)</a:t>
            </a:r>
          </a:p>
        </p:txBody>
      </p:sp>
      <p:sp>
        <p:nvSpPr>
          <p:cNvPr id="12" name="텍스트 12: COMMUNIT Y"/>
          <p:cNvSpPr txBox="1"/>
          <p:nvPr/>
        </p:nvSpPr>
        <p:spPr>
          <a:xfrm>
            <a:off x="724814" y="5891361"/>
            <a:ext cx="10163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8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COMMUNIT Y</a:t>
            </a:r>
          </a:p>
        </p:txBody>
      </p:sp>
      <p:sp>
        <p:nvSpPr>
          <p:cNvPr id="13" name="텍스트 13: 단지 커뮤니티"/>
          <p:cNvSpPr txBox="1"/>
          <p:nvPr/>
        </p:nvSpPr>
        <p:spPr>
          <a:xfrm>
            <a:off x="724814" y="6043187"/>
            <a:ext cx="100679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단지 커뮤니티</a:t>
            </a:r>
          </a:p>
        </p:txBody>
      </p:sp>
      <p:sp>
        <p:nvSpPr>
          <p:cNvPr id="14" name="텍스트 14: 피트니스"/>
          <p:cNvSpPr txBox="1"/>
          <p:nvPr/>
        </p:nvSpPr>
        <p:spPr>
          <a:xfrm>
            <a:off x="2116582" y="6150617"/>
            <a:ext cx="56211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4" b="0" spc="-12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피트니스</a:t>
            </a:r>
          </a:p>
        </p:txBody>
      </p:sp>
      <p:sp>
        <p:nvSpPr>
          <p:cNvPr id="15" name="텍스트 15: 골프연습장"/>
          <p:cNvSpPr txBox="1"/>
          <p:nvPr/>
        </p:nvSpPr>
        <p:spPr>
          <a:xfrm>
            <a:off x="3084576" y="6150617"/>
            <a:ext cx="69622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4" b="0" spc="-12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골프연습장</a:t>
            </a:r>
          </a:p>
        </p:txBody>
      </p:sp>
      <p:sp>
        <p:nvSpPr>
          <p:cNvPr id="16" name="텍스트 16: 스크린 골프장"/>
          <p:cNvSpPr txBox="1"/>
          <p:nvPr/>
        </p:nvSpPr>
        <p:spPr>
          <a:xfrm>
            <a:off x="4037710" y="6150617"/>
            <a:ext cx="860821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5" b="0" spc="-12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스크린 골프장</a:t>
            </a:r>
          </a:p>
        </p:txBody>
      </p:sp>
      <p:sp>
        <p:nvSpPr>
          <p:cNvPr id="17" name="텍스트 17: 어린이 놀이터"/>
          <p:cNvSpPr txBox="1"/>
          <p:nvPr/>
        </p:nvSpPr>
        <p:spPr>
          <a:xfrm>
            <a:off x="5072760" y="6150617"/>
            <a:ext cx="86120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5" b="0" spc="-12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어린이 놀이터</a:t>
            </a:r>
          </a:p>
        </p:txBody>
      </p:sp>
      <p:sp>
        <p:nvSpPr>
          <p:cNvPr id="18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19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20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21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22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  <p:sp>
        <p:nvSpPr>
          <p:cNvPr id="23" name="쪽번호"/>
          <p:cNvSpPr txBox="1"/>
          <p:nvPr/>
        </p:nvSpPr>
        <p:spPr>
          <a:xfrm>
            <a:off x="9480000" y="6621913"/>
            <a:ext cx="310000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역세권·49층·단지 내 상가, 헬로우시티의 뚜렷한 우위"/>
          <p:cNvSpPr txBox="1"/>
          <p:nvPr/>
        </p:nvSpPr>
        <p:spPr>
          <a:xfrm>
            <a:off x="304800" y="629209"/>
            <a:ext cx="7995725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역세권·49층·단지 내 상가, 헬로우시티의 뚜렷한 우위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일반 아파트 대비 고급 하이엔드 주거상품으로서의 가치 우수</a:t>
            </a:r>
          </a:p>
        </p:txBody>
      </p:sp>
      <p:sp>
        <p:nvSpPr>
          <p:cNvPr id="3" name="텍스트 3: 비교 항목"/>
          <p:cNvSpPr txBox="1"/>
          <p:nvPr/>
        </p:nvSpPr>
        <p:spPr>
          <a:xfrm>
            <a:off x="590397" y="1989980"/>
            <a:ext cx="57172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비교 항목</a:t>
            </a:r>
          </a:p>
        </p:txBody>
      </p:sp>
      <p:sp>
        <p:nvSpPr>
          <p:cNvPr id="4" name="텍스트 4: 일반 아파트"/>
          <p:cNvSpPr txBox="1"/>
          <p:nvPr/>
        </p:nvSpPr>
        <p:spPr>
          <a:xfrm>
            <a:off x="2590800" y="1989980"/>
            <a:ext cx="6997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일반 아파트</a:t>
            </a:r>
          </a:p>
        </p:txBody>
      </p:sp>
      <p:sp>
        <p:nvSpPr>
          <p:cNvPr id="5" name="텍스트 5: 오송역 헬로우시티 (주거복합개발)"/>
          <p:cNvSpPr txBox="1"/>
          <p:nvPr/>
        </p:nvSpPr>
        <p:spPr>
          <a:xfrm>
            <a:off x="5117846" y="1989980"/>
            <a:ext cx="198377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헬로우시티 (주거복합개발)</a:t>
            </a:r>
          </a:p>
        </p:txBody>
      </p:sp>
      <p:sp>
        <p:nvSpPr>
          <p:cNvPr id="6" name="텍스트 6: 강점"/>
          <p:cNvSpPr txBox="1"/>
          <p:nvPr/>
        </p:nvSpPr>
        <p:spPr>
          <a:xfrm>
            <a:off x="8458200" y="1989980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강점</a:t>
            </a:r>
          </a:p>
        </p:txBody>
      </p:sp>
      <p:sp>
        <p:nvSpPr>
          <p:cNvPr id="7" name="텍스트 7: 가격"/>
          <p:cNvSpPr txBox="1"/>
          <p:nvPr/>
        </p:nvSpPr>
        <p:spPr>
          <a:xfrm>
            <a:off x="393801" y="2382537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가격</a:t>
            </a:r>
          </a:p>
        </p:txBody>
      </p:sp>
      <p:sp>
        <p:nvSpPr>
          <p:cNvPr id="8" name="텍스트 8: 인근 구축 리딩단지 84㎡ 7~10억대"/>
          <p:cNvSpPr txBox="1"/>
          <p:nvPr/>
        </p:nvSpPr>
        <p:spPr>
          <a:xfrm>
            <a:off x="1511553" y="2382537"/>
            <a:ext cx="215846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69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인근 구축 리딩단지 84㎡ 7~10억대</a:t>
            </a:r>
          </a:p>
        </p:txBody>
      </p:sp>
      <p:sp>
        <p:nvSpPr>
          <p:cNvPr id="9" name="텍스트 9: 84㎡ 6억대 공급 예정"/>
          <p:cNvSpPr txBox="1"/>
          <p:nvPr/>
        </p:nvSpPr>
        <p:spPr>
          <a:xfrm>
            <a:off x="4521961" y="2382537"/>
            <a:ext cx="132153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7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84㎡ 6억대 공급 예정</a:t>
            </a:r>
          </a:p>
        </p:txBody>
      </p:sp>
      <p:sp>
        <p:nvSpPr>
          <p:cNvPr id="10" name="텍스트 10: 헬로우시티"/>
          <p:cNvSpPr txBox="1"/>
          <p:nvPr/>
        </p:nvSpPr>
        <p:spPr>
          <a:xfrm>
            <a:off x="8266176" y="2382537"/>
            <a:ext cx="6662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11" name="텍스트 11: 입지"/>
          <p:cNvSpPr txBox="1"/>
          <p:nvPr/>
        </p:nvSpPr>
        <p:spPr>
          <a:xfrm>
            <a:off x="393801" y="2775094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입지</a:t>
            </a:r>
          </a:p>
        </p:txBody>
      </p:sp>
      <p:sp>
        <p:nvSpPr>
          <p:cNvPr id="12" name="텍스트 12: 대부분 역과 떨어진 주거지역"/>
          <p:cNvSpPr txBox="1"/>
          <p:nvPr/>
        </p:nvSpPr>
        <p:spPr>
          <a:xfrm>
            <a:off x="1511553" y="2775094"/>
            <a:ext cx="166163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0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대부분 역과 떨어진 주거지역</a:t>
            </a:r>
          </a:p>
        </p:txBody>
      </p:sp>
      <p:sp>
        <p:nvSpPr>
          <p:cNvPr id="13" name="텍스트 13: KTX오송역 앞 역세권 최중심 (일반상업지역)"/>
          <p:cNvSpPr txBox="1"/>
          <p:nvPr/>
        </p:nvSpPr>
        <p:spPr>
          <a:xfrm>
            <a:off x="4521961" y="2775094"/>
            <a:ext cx="260404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11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KTX오송역 앞 역세권 최중심 (일반상업지역)</a:t>
            </a:r>
          </a:p>
        </p:txBody>
      </p:sp>
      <p:sp>
        <p:nvSpPr>
          <p:cNvPr id="14" name="텍스트 14: 헬로우시티"/>
          <p:cNvSpPr txBox="1"/>
          <p:nvPr/>
        </p:nvSpPr>
        <p:spPr>
          <a:xfrm>
            <a:off x="8266176" y="2775094"/>
            <a:ext cx="6662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15" name="텍스트 15: 생활 편의"/>
          <p:cNvSpPr txBox="1"/>
          <p:nvPr/>
        </p:nvSpPr>
        <p:spPr>
          <a:xfrm>
            <a:off x="393801" y="3167777"/>
            <a:ext cx="57172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생활 편의</a:t>
            </a:r>
          </a:p>
        </p:txBody>
      </p:sp>
      <p:sp>
        <p:nvSpPr>
          <p:cNvPr id="16" name="텍스트 16: 단지 밖 상가·생활시설 이용"/>
          <p:cNvSpPr txBox="1"/>
          <p:nvPr/>
        </p:nvSpPr>
        <p:spPr>
          <a:xfrm>
            <a:off x="1511553" y="3167777"/>
            <a:ext cx="157781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2" b="0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단지 밖 상가·생활시설 이용</a:t>
            </a:r>
          </a:p>
        </p:txBody>
      </p:sp>
      <p:sp>
        <p:nvSpPr>
          <p:cNvPr id="17" name="텍스트 17: 단지 내 판매시설, 쇼핑·편의 원스톱"/>
          <p:cNvSpPr txBox="1"/>
          <p:nvPr/>
        </p:nvSpPr>
        <p:spPr>
          <a:xfrm>
            <a:off x="4521961" y="3167777"/>
            <a:ext cx="20412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단지 내 판매시설, 쇼핑·편의 원스톱</a:t>
            </a:r>
          </a:p>
        </p:txBody>
      </p:sp>
      <p:sp>
        <p:nvSpPr>
          <p:cNvPr id="18" name="텍스트 18: 헬로우시티"/>
          <p:cNvSpPr txBox="1"/>
          <p:nvPr/>
        </p:nvSpPr>
        <p:spPr>
          <a:xfrm>
            <a:off x="8266176" y="3167777"/>
            <a:ext cx="6662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19" name="텍스트 19: 높이·조망"/>
          <p:cNvSpPr txBox="1"/>
          <p:nvPr/>
        </p:nvSpPr>
        <p:spPr>
          <a:xfrm>
            <a:off x="393801" y="3560035"/>
            <a:ext cx="585707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1" spc="-11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높이·조망</a:t>
            </a:r>
          </a:p>
        </p:txBody>
      </p:sp>
      <p:sp>
        <p:nvSpPr>
          <p:cNvPr id="20" name="텍스트 20: 통상 20~30층대, 동간 조망 간섭"/>
          <p:cNvSpPr txBox="1"/>
          <p:nvPr/>
        </p:nvSpPr>
        <p:spPr>
          <a:xfrm>
            <a:off x="1511553" y="3560035"/>
            <a:ext cx="1956038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0" spc="-79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통상 20~30층대, 동간 조망 간섭</a:t>
            </a:r>
          </a:p>
        </p:txBody>
      </p:sp>
      <p:sp>
        <p:nvSpPr>
          <p:cNvPr id="21" name="텍스트 21: 지상 49층, 청주 랜드마크급 조망"/>
          <p:cNvSpPr txBox="1"/>
          <p:nvPr/>
        </p:nvSpPr>
        <p:spPr>
          <a:xfrm>
            <a:off x="4521961" y="3560035"/>
            <a:ext cx="1930256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1" spc="-10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지상 49층, 청주 랜드마크급 조망</a:t>
            </a:r>
          </a:p>
        </p:txBody>
      </p:sp>
      <p:sp>
        <p:nvSpPr>
          <p:cNvPr id="22" name="텍스트 22: 헬로우시티"/>
          <p:cNvSpPr txBox="1"/>
          <p:nvPr/>
        </p:nvSpPr>
        <p:spPr>
          <a:xfrm>
            <a:off x="8266176" y="3560035"/>
            <a:ext cx="666480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2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23" name="텍스트 23: 희소성"/>
          <p:cNvSpPr txBox="1"/>
          <p:nvPr/>
        </p:nvSpPr>
        <p:spPr>
          <a:xfrm>
            <a:off x="393801" y="3953146"/>
            <a:ext cx="41017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2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희소성</a:t>
            </a:r>
          </a:p>
        </p:txBody>
      </p:sp>
      <p:sp>
        <p:nvSpPr>
          <p:cNvPr id="24" name="텍스트 24: 신도시 대단지 반복 공급"/>
          <p:cNvSpPr txBox="1"/>
          <p:nvPr/>
        </p:nvSpPr>
        <p:spPr>
          <a:xfrm>
            <a:off x="1511553" y="3953146"/>
            <a:ext cx="140560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0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신도시 대단지 반복 공급</a:t>
            </a:r>
          </a:p>
        </p:txBody>
      </p:sp>
      <p:sp>
        <p:nvSpPr>
          <p:cNvPr id="25" name="텍스트 25: 역세권 상업지역 주거, 480세대 한정"/>
          <p:cNvSpPr txBox="1"/>
          <p:nvPr/>
        </p:nvSpPr>
        <p:spPr>
          <a:xfrm>
            <a:off x="4521961" y="3953146"/>
            <a:ext cx="215554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9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역세권 상업지역 주거, 480세대 한정</a:t>
            </a:r>
          </a:p>
        </p:txBody>
      </p:sp>
      <p:sp>
        <p:nvSpPr>
          <p:cNvPr id="26" name="텍스트 26: 헬로우시티"/>
          <p:cNvSpPr txBox="1"/>
          <p:nvPr/>
        </p:nvSpPr>
        <p:spPr>
          <a:xfrm>
            <a:off x="8266176" y="3953146"/>
            <a:ext cx="6662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27" name="텍스트 27: 주차"/>
          <p:cNvSpPr txBox="1"/>
          <p:nvPr/>
        </p:nvSpPr>
        <p:spPr>
          <a:xfrm>
            <a:off x="393801" y="4345830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주차</a:t>
            </a:r>
          </a:p>
        </p:txBody>
      </p:sp>
      <p:sp>
        <p:nvSpPr>
          <p:cNvPr id="28" name="텍스트 28: 단지별 상이"/>
          <p:cNvSpPr txBox="1"/>
          <p:nvPr/>
        </p:nvSpPr>
        <p:spPr>
          <a:xfrm>
            <a:off x="1511553" y="4345830"/>
            <a:ext cx="6997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0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단지별 상이</a:t>
            </a:r>
          </a:p>
        </p:txBody>
      </p:sp>
      <p:sp>
        <p:nvSpPr>
          <p:cNvPr id="29" name="텍스트 29: 세대당 1.7대 계획 (공동주택 821대)"/>
          <p:cNvSpPr txBox="1"/>
          <p:nvPr/>
        </p:nvSpPr>
        <p:spPr>
          <a:xfrm>
            <a:off x="4521961" y="4345830"/>
            <a:ext cx="219104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세대당 1.7대 계획 (공동주택 821대)</a:t>
            </a:r>
          </a:p>
        </p:txBody>
      </p:sp>
      <p:sp>
        <p:nvSpPr>
          <p:cNvPr id="30" name="텍스트 30: 헬로우시티"/>
          <p:cNvSpPr txBox="1"/>
          <p:nvPr/>
        </p:nvSpPr>
        <p:spPr>
          <a:xfrm>
            <a:off x="8266176" y="4345830"/>
            <a:ext cx="6662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31" name="텍스트 31: 전용률"/>
          <p:cNvSpPr txBox="1"/>
          <p:nvPr/>
        </p:nvSpPr>
        <p:spPr>
          <a:xfrm>
            <a:off x="393801" y="4738387"/>
            <a:ext cx="41017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2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전용률</a:t>
            </a:r>
          </a:p>
        </p:txBody>
      </p:sp>
      <p:sp>
        <p:nvSpPr>
          <p:cNvPr id="32" name="텍스트 32: 상대적으로 높은 편"/>
          <p:cNvSpPr txBox="1"/>
          <p:nvPr/>
        </p:nvSpPr>
        <p:spPr>
          <a:xfrm>
            <a:off x="1511553" y="4738387"/>
            <a:ext cx="111756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상대적으로 높은 편</a:t>
            </a:r>
          </a:p>
        </p:txBody>
      </p:sp>
      <p:sp>
        <p:nvSpPr>
          <p:cNvPr id="33" name="텍스트 33: 공용면적 비중이 커 낮은 편"/>
          <p:cNvSpPr txBox="1"/>
          <p:nvPr/>
        </p:nvSpPr>
        <p:spPr>
          <a:xfrm>
            <a:off x="4521961" y="4738387"/>
            <a:ext cx="1567276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5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공용면적 비중이 커 낮은 편</a:t>
            </a:r>
          </a:p>
        </p:txBody>
      </p:sp>
      <p:sp>
        <p:nvSpPr>
          <p:cNvPr id="34" name="텍스트 34: 일반 아파트"/>
          <p:cNvSpPr txBox="1"/>
          <p:nvPr/>
        </p:nvSpPr>
        <p:spPr>
          <a:xfrm>
            <a:off x="8249411" y="4738387"/>
            <a:ext cx="6997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일반 아파트</a:t>
            </a:r>
          </a:p>
        </p:txBody>
      </p:sp>
      <p:sp>
        <p:nvSpPr>
          <p:cNvPr id="35" name="텍스트 35: 관리비"/>
          <p:cNvSpPr txBox="1"/>
          <p:nvPr/>
        </p:nvSpPr>
        <p:spPr>
          <a:xfrm>
            <a:off x="393801" y="5130944"/>
            <a:ext cx="41017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2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관리비</a:t>
            </a:r>
          </a:p>
        </p:txBody>
      </p:sp>
      <p:sp>
        <p:nvSpPr>
          <p:cNvPr id="36" name="텍스트 36: 상대적으로 낮은 편"/>
          <p:cNvSpPr txBox="1"/>
          <p:nvPr/>
        </p:nvSpPr>
        <p:spPr>
          <a:xfrm>
            <a:off x="1511553" y="5130944"/>
            <a:ext cx="111756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상대적으로 낮은 편</a:t>
            </a:r>
          </a:p>
        </p:txBody>
      </p:sp>
      <p:sp>
        <p:nvSpPr>
          <p:cNvPr id="37" name="텍스트 37: 초고층 설비·공용시설로 높은 편"/>
          <p:cNvSpPr txBox="1"/>
          <p:nvPr/>
        </p:nvSpPr>
        <p:spPr>
          <a:xfrm>
            <a:off x="4521961" y="5130944"/>
            <a:ext cx="183550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초고층 설비·공용시설로 높은 편</a:t>
            </a:r>
          </a:p>
        </p:txBody>
      </p:sp>
      <p:sp>
        <p:nvSpPr>
          <p:cNvPr id="38" name="텍스트 38: 일반 아파트"/>
          <p:cNvSpPr txBox="1"/>
          <p:nvPr/>
        </p:nvSpPr>
        <p:spPr>
          <a:xfrm>
            <a:off x="8249411" y="5130944"/>
            <a:ext cx="6997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일반 아파트</a:t>
            </a:r>
          </a:p>
        </p:txBody>
      </p:sp>
      <p:sp>
        <p:nvSpPr>
          <p:cNvPr id="39" name="텍스트 39: 조경·배치"/>
          <p:cNvSpPr txBox="1"/>
          <p:nvPr/>
        </p:nvSpPr>
        <p:spPr>
          <a:xfrm>
            <a:off x="393801" y="5523526"/>
            <a:ext cx="5854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109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조경·배치</a:t>
            </a:r>
          </a:p>
        </p:txBody>
      </p:sp>
      <p:sp>
        <p:nvSpPr>
          <p:cNvPr id="40" name="텍스트 40: 넓은 조경, 판상형 남향 배치 유리"/>
          <p:cNvSpPr txBox="1"/>
          <p:nvPr/>
        </p:nvSpPr>
        <p:spPr>
          <a:xfrm>
            <a:off x="1511553" y="5523526"/>
            <a:ext cx="189633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2" b="1" spc="-115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넓은 조경, 판상형 남향 배치 유리</a:t>
            </a:r>
          </a:p>
        </p:txBody>
      </p:sp>
      <p:sp>
        <p:nvSpPr>
          <p:cNvPr id="41" name="텍스트 41: 대지 협소·타워형 위주, 녹지·맞통풍 불리 가능"/>
          <p:cNvSpPr txBox="1"/>
          <p:nvPr/>
        </p:nvSpPr>
        <p:spPr>
          <a:xfrm>
            <a:off x="4521961" y="5523526"/>
            <a:ext cx="262036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8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대지 협소·타워형 위주, 녹지·맞통풍 불리 가능</a:t>
            </a:r>
          </a:p>
        </p:txBody>
      </p:sp>
      <p:sp>
        <p:nvSpPr>
          <p:cNvPr id="42" name="텍스트 42: 일반 아파트"/>
          <p:cNvSpPr txBox="1"/>
          <p:nvPr/>
        </p:nvSpPr>
        <p:spPr>
          <a:xfrm>
            <a:off x="8249411" y="5523526"/>
            <a:ext cx="6997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일반 아파트</a:t>
            </a:r>
          </a:p>
        </p:txBody>
      </p:sp>
      <p:sp>
        <p:nvSpPr>
          <p:cNvPr id="43" name="텍스트 43: 주거 환경"/>
          <p:cNvSpPr txBox="1"/>
          <p:nvPr/>
        </p:nvSpPr>
        <p:spPr>
          <a:xfrm>
            <a:off x="393801" y="5915809"/>
            <a:ext cx="571991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3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주거 환경</a:t>
            </a:r>
          </a:p>
        </p:txBody>
      </p:sp>
      <p:sp>
        <p:nvSpPr>
          <p:cNvPr id="44" name="텍스트 44: 주거 전용 단지로 조용한 편"/>
          <p:cNvSpPr txBox="1"/>
          <p:nvPr/>
        </p:nvSpPr>
        <p:spPr>
          <a:xfrm>
            <a:off x="1511553" y="5915809"/>
            <a:ext cx="1567417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5" b="1" spc="-115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주거 전용 단지로 조용한 편</a:t>
            </a:r>
          </a:p>
        </p:txBody>
      </p:sp>
      <p:sp>
        <p:nvSpPr>
          <p:cNvPr id="45" name="텍스트 45: 상가·유동인구로 저층부 소음 가능"/>
          <p:cNvSpPr txBox="1"/>
          <p:nvPr/>
        </p:nvSpPr>
        <p:spPr>
          <a:xfrm>
            <a:off x="4521961" y="5915809"/>
            <a:ext cx="1963785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9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상가·유동인구로 저층부 소음 가능</a:t>
            </a:r>
          </a:p>
        </p:txBody>
      </p:sp>
      <p:sp>
        <p:nvSpPr>
          <p:cNvPr id="46" name="텍스트 46: 일반 아파트"/>
          <p:cNvSpPr txBox="1"/>
          <p:nvPr/>
        </p:nvSpPr>
        <p:spPr>
          <a:xfrm>
            <a:off x="8249411" y="5915809"/>
            <a:ext cx="700007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일반 아파트</a:t>
            </a:r>
          </a:p>
        </p:txBody>
      </p:sp>
      <p:sp>
        <p:nvSpPr>
          <p:cNvPr id="47" name="텍스트 47: CHAPTER 02  ·  오송역 헬로우시티 │ 49층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3  ·  왜 헬로우시티  │  49층, 청주의 하늘을 누리다</a:t>
            </a:r>
          </a:p>
        </p:txBody>
      </p:sp>
      <p:sp>
        <p:nvSpPr>
          <p:cNvPr id="48" name="텍스트 48: 16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49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50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51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52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53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구분"/>
          <p:cNvSpPr txBox="1"/>
          <p:nvPr/>
        </p:nvSpPr>
        <p:spPr>
          <a:xfrm>
            <a:off x="847648" y="2240841"/>
            <a:ext cx="317116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6" b="0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" name="텍스트 3: 일반지역주택조합"/>
          <p:cNvSpPr txBox="1"/>
          <p:nvPr/>
        </p:nvSpPr>
        <p:spPr>
          <a:xfrm>
            <a:off x="2903220" y="2240841"/>
            <a:ext cx="1194639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9" b="0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일반지역주택조합</a:t>
            </a:r>
          </a:p>
        </p:txBody>
      </p:sp>
      <p:sp>
        <p:nvSpPr>
          <p:cNvPr id="4" name="텍스트 4: 오송역 헬로우시티"/>
          <p:cNvSpPr txBox="1"/>
          <p:nvPr/>
        </p:nvSpPr>
        <p:spPr>
          <a:xfrm>
            <a:off x="6866255" y="2240841"/>
            <a:ext cx="1223847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5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5" name="텍스트 5: 토지 확보"/>
          <p:cNvSpPr txBox="1"/>
          <p:nvPr/>
        </p:nvSpPr>
        <p:spPr>
          <a:xfrm>
            <a:off x="695248" y="2683369"/>
            <a:ext cx="62086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4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 확보</a:t>
            </a:r>
          </a:p>
        </p:txBody>
      </p:sp>
      <p:sp>
        <p:nvSpPr>
          <p:cNvPr id="6" name="텍스트 6: 확보 불가 시 사업지연 다반사"/>
          <p:cNvSpPr txBox="1"/>
          <p:nvPr/>
        </p:nvSpPr>
        <p:spPr>
          <a:xfrm>
            <a:off x="2653283" y="2689242"/>
            <a:ext cx="169552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4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확보 불가 시 사업지연 다반사</a:t>
            </a:r>
          </a:p>
        </p:txBody>
      </p:sp>
      <p:sp>
        <p:nvSpPr>
          <p:cNvPr id="7" name="텍스트 7: 토지 99.9% 계약 완료"/>
          <p:cNvSpPr txBox="1"/>
          <p:nvPr/>
        </p:nvSpPr>
        <p:spPr>
          <a:xfrm>
            <a:off x="6648322" y="2670525"/>
            <a:ext cx="165932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 99.9% 계약 완료</a:t>
            </a:r>
          </a:p>
        </p:txBody>
      </p:sp>
      <p:sp>
        <p:nvSpPr>
          <p:cNvPr id="8" name="텍스트 8: 용도변경 가능성"/>
          <p:cNvSpPr txBox="1"/>
          <p:nvPr/>
        </p:nvSpPr>
        <p:spPr>
          <a:xfrm>
            <a:off x="484936" y="3102469"/>
            <a:ext cx="1043015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3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용도변경 가능성</a:t>
            </a:r>
          </a:p>
        </p:txBody>
      </p:sp>
      <p:sp>
        <p:nvSpPr>
          <p:cNvPr id="9" name="텍스트 9: 용도변경 대상지의 경우 변경불가에 따른 사업 실패"/>
          <p:cNvSpPr txBox="1"/>
          <p:nvPr/>
        </p:nvSpPr>
        <p:spPr>
          <a:xfrm>
            <a:off x="2043683" y="3108342"/>
            <a:ext cx="291588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용도변경 대상지의 경우 변경불가에 따른 사업 실패</a:t>
            </a:r>
          </a:p>
        </p:txBody>
      </p:sp>
      <p:sp>
        <p:nvSpPr>
          <p:cNvPr id="10" name="텍스트 10: ‘오송역세권 도시개발사업지구’ 승인, 변경 가능성 無"/>
          <p:cNvSpPr txBox="1"/>
          <p:nvPr/>
        </p:nvSpPr>
        <p:spPr>
          <a:xfrm>
            <a:off x="5649721" y="3090006"/>
            <a:ext cx="365766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3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‘오송역세권 도시개발사업지구’ 승인, 변경 가능성 無</a:t>
            </a:r>
          </a:p>
        </p:txBody>
      </p:sp>
      <p:sp>
        <p:nvSpPr>
          <p:cNvPr id="11" name="텍스트 11: 사업비·분담금"/>
          <p:cNvSpPr txBox="1"/>
          <p:nvPr/>
        </p:nvSpPr>
        <p:spPr>
          <a:xfrm>
            <a:off x="548944" y="3521270"/>
            <a:ext cx="916782" cy="1905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spc="-12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사업비·분담금</a:t>
            </a:r>
          </a:p>
        </p:txBody>
      </p:sp>
      <p:sp>
        <p:nvSpPr>
          <p:cNvPr id="12" name="텍스트 12: 사업비 미확정, 분담금 과잉 우려"/>
          <p:cNvSpPr txBox="1"/>
          <p:nvPr/>
        </p:nvSpPr>
        <p:spPr>
          <a:xfrm>
            <a:off x="2570988" y="3527142"/>
            <a:ext cx="1860026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7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사업비 미확정, 분담금 과잉 우려</a:t>
            </a:r>
          </a:p>
        </p:txBody>
      </p:sp>
      <p:sp>
        <p:nvSpPr>
          <p:cNvPr id="13" name="텍스트 13: 사업비 비교적 확정적, 분담금 발생 최소화 가능"/>
          <p:cNvSpPr txBox="1"/>
          <p:nvPr/>
        </p:nvSpPr>
        <p:spPr>
          <a:xfrm>
            <a:off x="5831459" y="3509106"/>
            <a:ext cx="3294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1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사업비 비교적 확정적, 분담금 발생 최소화 가능</a:t>
            </a:r>
          </a:p>
        </p:txBody>
      </p:sp>
      <p:sp>
        <p:nvSpPr>
          <p:cNvPr id="14" name="텍스트 14: 시공사"/>
          <p:cNvSpPr txBox="1"/>
          <p:nvPr/>
        </p:nvSpPr>
        <p:spPr>
          <a:xfrm>
            <a:off x="782116" y="3940923"/>
            <a:ext cx="44896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5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시공사</a:t>
            </a:r>
          </a:p>
        </p:txBody>
      </p:sp>
      <p:sp>
        <p:nvSpPr>
          <p:cNvPr id="15" name="텍스트 15: 조합원 모집 불리, 시공사 확보 악영향"/>
          <p:cNvSpPr txBox="1"/>
          <p:nvPr/>
        </p:nvSpPr>
        <p:spPr>
          <a:xfrm>
            <a:off x="2426207" y="3946796"/>
            <a:ext cx="214931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8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조합원 모집 불리, 시공사 확보 악영향</a:t>
            </a:r>
          </a:p>
        </p:txBody>
      </p:sp>
      <p:sp>
        <p:nvSpPr>
          <p:cNvPr id="16" name="텍스트 16: 조합원 모집 유리, 시공사 확보 원활"/>
          <p:cNvSpPr txBox="1"/>
          <p:nvPr/>
        </p:nvSpPr>
        <p:spPr>
          <a:xfrm>
            <a:off x="6244463" y="3928206"/>
            <a:ext cx="246856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4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 모집 유리, 시공사 확보 원활</a:t>
            </a:r>
          </a:p>
        </p:txBody>
      </p:sp>
      <p:sp>
        <p:nvSpPr>
          <p:cNvPr id="17" name="텍스트 17: 자금 관리"/>
          <p:cNvSpPr txBox="1"/>
          <p:nvPr/>
        </p:nvSpPr>
        <p:spPr>
          <a:xfrm>
            <a:off x="695248" y="4360023"/>
            <a:ext cx="62086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4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자금 관리</a:t>
            </a:r>
          </a:p>
        </p:txBody>
      </p:sp>
      <p:sp>
        <p:nvSpPr>
          <p:cNvPr id="18" name="텍스트 18: 신탁사 선정 필수"/>
          <p:cNvSpPr txBox="1"/>
          <p:nvPr/>
        </p:nvSpPr>
        <p:spPr>
          <a:xfrm>
            <a:off x="3006851" y="4365896"/>
            <a:ext cx="989604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3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신탁사 선정 필수</a:t>
            </a:r>
          </a:p>
        </p:txBody>
      </p:sp>
      <p:sp>
        <p:nvSpPr>
          <p:cNvPr id="19" name="텍스트 19: 신한자산신탁㈜ 계약체결 완료, 투명한 자금관리"/>
          <p:cNvSpPr txBox="1"/>
          <p:nvPr/>
        </p:nvSpPr>
        <p:spPr>
          <a:xfrm>
            <a:off x="5773546" y="4347560"/>
            <a:ext cx="341039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3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신한자산신탁㈜ 계약체결 완료, 투명한 자금관리</a:t>
            </a:r>
          </a:p>
        </p:txBody>
      </p:sp>
      <p:sp>
        <p:nvSpPr>
          <p:cNvPr id="20" name="텍스트 20: 사업 기간"/>
          <p:cNvSpPr txBox="1"/>
          <p:nvPr/>
        </p:nvSpPr>
        <p:spPr>
          <a:xfrm>
            <a:off x="695248" y="4779123"/>
            <a:ext cx="62086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4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 기간</a:t>
            </a:r>
          </a:p>
        </p:txBody>
      </p:sp>
      <p:sp>
        <p:nvSpPr>
          <p:cNvPr id="21" name="텍스트 21: 조합설립에서 입주까지 기간을 예측하기 어려움"/>
          <p:cNvSpPr txBox="1"/>
          <p:nvPr/>
        </p:nvSpPr>
        <p:spPr>
          <a:xfrm>
            <a:off x="2139442" y="4784996"/>
            <a:ext cx="272411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조합설립에서 입주까지 기간을 예측하기 어려움</a:t>
            </a:r>
          </a:p>
        </p:txBody>
      </p:sp>
      <p:sp>
        <p:nvSpPr>
          <p:cNvPr id="22" name="텍스트 22: 2031년 2월 입주 예정, 사업기간 예측 유리"/>
          <p:cNvSpPr txBox="1"/>
          <p:nvPr/>
        </p:nvSpPr>
        <p:spPr>
          <a:xfrm>
            <a:off x="5925946" y="4766660"/>
            <a:ext cx="310407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9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2031년 2월 입주 예정, 사업기간 예측 유리</a:t>
            </a:r>
          </a:p>
        </p:txBody>
      </p:sp>
      <p:sp>
        <p:nvSpPr>
          <p:cNvPr id="23" name="텍스트 23: 정보 공개"/>
          <p:cNvSpPr txBox="1"/>
          <p:nvPr/>
        </p:nvSpPr>
        <p:spPr>
          <a:xfrm>
            <a:off x="695248" y="5198477"/>
            <a:ext cx="62086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4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정보 공개</a:t>
            </a:r>
          </a:p>
        </p:txBody>
      </p:sp>
      <p:sp>
        <p:nvSpPr>
          <p:cNvPr id="24" name="텍스트 24: 조합원이 진행 상황을 확인하기 어려움"/>
          <p:cNvSpPr txBox="1"/>
          <p:nvPr/>
        </p:nvSpPr>
        <p:spPr>
          <a:xfrm>
            <a:off x="2397251" y="5204350"/>
            <a:ext cx="220875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조합원이 진행 상황을 확인하기 어려움</a:t>
            </a:r>
          </a:p>
        </p:txBody>
      </p:sp>
      <p:sp>
        <p:nvSpPr>
          <p:cNvPr id="25" name="텍스트 25: 정기 공개 체계와 조합원 확인 절차"/>
          <p:cNvSpPr txBox="1"/>
          <p:nvPr/>
        </p:nvSpPr>
        <p:spPr>
          <a:xfrm>
            <a:off x="6265798" y="5185760"/>
            <a:ext cx="242436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9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정기 공개 체계와 조합원 확인 절차</a:t>
            </a:r>
          </a:p>
        </p:txBody>
      </p:sp>
      <p:sp>
        <p:nvSpPr>
          <p:cNvPr id="26" name="텍스트 26: 시행업무"/>
          <p:cNvSpPr txBox="1"/>
          <p:nvPr/>
        </p:nvSpPr>
        <p:spPr>
          <a:xfrm>
            <a:off x="712012" y="5617628"/>
            <a:ext cx="58806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1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시행업무</a:t>
            </a:r>
          </a:p>
        </p:txBody>
      </p:sp>
      <p:sp>
        <p:nvSpPr>
          <p:cNvPr id="27" name="텍스트 27: 비전문성에 따른 사업절차 문제 발생 가능성 다수"/>
          <p:cNvSpPr txBox="1"/>
          <p:nvPr/>
        </p:nvSpPr>
        <p:spPr>
          <a:xfrm>
            <a:off x="2107438" y="5623500"/>
            <a:ext cx="278812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3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비전문성에 따른 사업절차 문제 발생 가능성 다수</a:t>
            </a:r>
          </a:p>
        </p:txBody>
      </p:sp>
      <p:sp>
        <p:nvSpPr>
          <p:cNvPr id="28" name="텍스트 28: 성공경험 및 노하우 보유한 ‘팍스디앤엠’ 업무대행"/>
          <p:cNvSpPr txBox="1"/>
          <p:nvPr/>
        </p:nvSpPr>
        <p:spPr>
          <a:xfrm>
            <a:off x="5750686" y="5604586"/>
            <a:ext cx="3456387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1" b="0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성공경험 및 노하우 보유한 ‘팍스디앤엠’ 업무대행</a:t>
            </a:r>
          </a:p>
        </p:txBody>
      </p:sp>
      <p:sp>
        <p:nvSpPr>
          <p:cNvPr id="29" name="텍스트 29: CHAPTER 02  ·  오송역 헬로우시티 │ 오송역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4  ·  가격과 안심  │  오송역 헬로우시티만의 사업안정성</a:t>
            </a:r>
          </a:p>
        </p:txBody>
      </p:sp>
      <p:sp>
        <p:nvSpPr>
          <p:cNvPr id="30" name="텍스트 30: ‘토지 계약 완료’가 만든, 출발선이 다른 헬로우시티의"/>
          <p:cNvSpPr txBox="1"/>
          <p:nvPr/>
        </p:nvSpPr>
        <p:spPr>
          <a:xfrm>
            <a:off x="304800" y="664811"/>
            <a:ext cx="9004548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‘토지 계약 완료’가 만든, </a:t>
            </a:r>
            <a:r>
              <a:rPr lang="ko-KR" altLang="en-US" sz="2646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출발선이 다른 헬로우시티의 안정성</a:t>
            </a:r>
            <a:r>
              <a:rPr lang="ko-KR" altLang="en-US" sz="264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과 함께,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 모집부터 입주까지, 풍부한 경험의 </a:t>
            </a:r>
            <a:r>
              <a:rPr lang="ko-KR" altLang="en-US" sz="2644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‘팍스디앤엠’</a:t>
            </a:r>
            <a:r>
              <a:rPr lang="ko-KR" altLang="en-US" sz="264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 업무대행</a:t>
            </a:r>
          </a:p>
        </p:txBody>
      </p:sp>
      <p:sp>
        <p:nvSpPr>
          <p:cNvPr id="31" name="텍스트 31: VS"/>
          <p:cNvSpPr txBox="1"/>
          <p:nvPr/>
        </p:nvSpPr>
        <p:spPr>
          <a:xfrm>
            <a:off x="5191378" y="2254110"/>
            <a:ext cx="218117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3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  <p:sp>
        <p:nvSpPr>
          <p:cNvPr id="32" name="텍스트 32: 17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33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34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35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36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37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헬로우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4  ·  가격과 안심  │  헬로우시티 제도적 이점</a:t>
            </a:r>
          </a:p>
        </p:txBody>
      </p:sp>
      <p:sp>
        <p:nvSpPr>
          <p:cNvPr id="3" name="텍스트 3: 헬로우시티와 같이 사업 안정성이 확보됐다면, 지주택이 "/>
          <p:cNvSpPr txBox="1"/>
          <p:nvPr/>
        </p:nvSpPr>
        <p:spPr>
          <a:xfrm>
            <a:off x="304800" y="664811"/>
            <a:ext cx="9348035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헬로우시티와 같이 사업 안정성이 확보됐다면, </a:t>
            </a:r>
            <a:r>
              <a:rPr lang="ko-KR" altLang="en-US" sz="2631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지주택이 유리한 점 다수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청약통장·추첨 없이 오송역세권 최중심 입지의 입주자 지위 확정 가능</a:t>
            </a:r>
          </a:p>
        </p:txBody>
      </p:sp>
      <p:sp>
        <p:nvSpPr>
          <p:cNvPr id="4" name="텍스트 4: 구분"/>
          <p:cNvSpPr txBox="1"/>
          <p:nvPr/>
        </p:nvSpPr>
        <p:spPr>
          <a:xfrm>
            <a:off x="987247" y="2240841"/>
            <a:ext cx="316813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5" b="0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5" name="텍스트 5: 일반분양"/>
          <p:cNvSpPr txBox="1"/>
          <p:nvPr/>
        </p:nvSpPr>
        <p:spPr>
          <a:xfrm>
            <a:off x="3330575" y="2240841"/>
            <a:ext cx="609422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7" b="0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일반분양</a:t>
            </a:r>
          </a:p>
        </p:txBody>
      </p:sp>
      <p:sp>
        <p:nvSpPr>
          <p:cNvPr id="6" name="텍스트 6: 오송역 헬로우시티"/>
          <p:cNvSpPr txBox="1"/>
          <p:nvPr/>
        </p:nvSpPr>
        <p:spPr>
          <a:xfrm>
            <a:off x="6861302" y="2240841"/>
            <a:ext cx="1223594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5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7" name="텍스트 7: 청약통장"/>
          <p:cNvSpPr txBox="1"/>
          <p:nvPr/>
        </p:nvSpPr>
        <p:spPr>
          <a:xfrm>
            <a:off x="851611" y="2753092"/>
            <a:ext cx="58806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1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청약통장</a:t>
            </a:r>
          </a:p>
        </p:txBody>
      </p:sp>
      <p:sp>
        <p:nvSpPr>
          <p:cNvPr id="8" name="텍스트 8: 필요"/>
          <p:cNvSpPr txBox="1"/>
          <p:nvPr/>
        </p:nvSpPr>
        <p:spPr>
          <a:xfrm>
            <a:off x="3495166" y="2758964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필요</a:t>
            </a:r>
          </a:p>
        </p:txBody>
      </p:sp>
      <p:sp>
        <p:nvSpPr>
          <p:cNvPr id="9" name="텍스트 9: 불필요"/>
          <p:cNvSpPr txBox="1"/>
          <p:nvPr/>
        </p:nvSpPr>
        <p:spPr>
          <a:xfrm>
            <a:off x="7225538" y="2740629"/>
            <a:ext cx="49625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불필요</a:t>
            </a:r>
          </a:p>
        </p:txBody>
      </p:sp>
      <p:sp>
        <p:nvSpPr>
          <p:cNvPr id="10" name="텍스트 10: 재당첨제한"/>
          <p:cNvSpPr txBox="1"/>
          <p:nvPr/>
        </p:nvSpPr>
        <p:spPr>
          <a:xfrm>
            <a:off x="781507" y="3312146"/>
            <a:ext cx="728171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0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재당첨제한</a:t>
            </a:r>
          </a:p>
        </p:txBody>
      </p:sp>
      <p:sp>
        <p:nvSpPr>
          <p:cNvPr id="11" name="텍스트 11: 제한 지역 내 청약 불가"/>
          <p:cNvSpPr txBox="1"/>
          <p:nvPr/>
        </p:nvSpPr>
        <p:spPr>
          <a:xfrm>
            <a:off x="2981579" y="3318019"/>
            <a:ext cx="130959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6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제한 지역 내 청약 불가</a:t>
            </a:r>
          </a:p>
        </p:txBody>
      </p:sp>
      <p:sp>
        <p:nvSpPr>
          <p:cNvPr id="12" name="텍스트 12: 사업계획승인 전 재당첨제한 미적용"/>
          <p:cNvSpPr txBox="1"/>
          <p:nvPr/>
        </p:nvSpPr>
        <p:spPr>
          <a:xfrm>
            <a:off x="6222746" y="3299429"/>
            <a:ext cx="250221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3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사업계획승인 전 재당첨제한 미적용</a:t>
            </a:r>
          </a:p>
        </p:txBody>
      </p:sp>
      <p:sp>
        <p:nvSpPr>
          <p:cNvPr id="13" name="텍스트 13: 당첨자 선정"/>
          <p:cNvSpPr txBox="1"/>
          <p:nvPr/>
        </p:nvSpPr>
        <p:spPr>
          <a:xfrm>
            <a:off x="764743" y="3871073"/>
            <a:ext cx="76107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2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당첨자 선정</a:t>
            </a:r>
          </a:p>
        </p:txBody>
      </p:sp>
      <p:sp>
        <p:nvSpPr>
          <p:cNvPr id="14" name="텍스트 14: 가점제 등 청약요건에 따라 배정"/>
          <p:cNvSpPr txBox="1"/>
          <p:nvPr/>
        </p:nvSpPr>
        <p:spPr>
          <a:xfrm>
            <a:off x="2724023" y="3876946"/>
            <a:ext cx="182318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가점제 등 청약요건에 따라 배정</a:t>
            </a:r>
          </a:p>
        </p:txBody>
      </p:sp>
      <p:sp>
        <p:nvSpPr>
          <p:cNvPr id="15" name="텍스트 15: 조합원 우선 공급 확정"/>
          <p:cNvSpPr txBox="1"/>
          <p:nvPr/>
        </p:nvSpPr>
        <p:spPr>
          <a:xfrm>
            <a:off x="6693661" y="3858356"/>
            <a:ext cx="155878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8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 우선 공급 확정</a:t>
            </a:r>
          </a:p>
        </p:txBody>
      </p:sp>
      <p:sp>
        <p:nvSpPr>
          <p:cNvPr id="16" name="텍스트 16: 전매/양도"/>
          <p:cNvSpPr txBox="1"/>
          <p:nvPr/>
        </p:nvSpPr>
        <p:spPr>
          <a:xfrm>
            <a:off x="824179" y="4429873"/>
            <a:ext cx="643717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전매/양도</a:t>
            </a:r>
          </a:p>
        </p:txBody>
      </p:sp>
      <p:sp>
        <p:nvSpPr>
          <p:cNvPr id="17" name="텍스트 17: 공공택지 1년, 민간택지 없음"/>
          <p:cNvSpPr txBox="1"/>
          <p:nvPr/>
        </p:nvSpPr>
        <p:spPr>
          <a:xfrm>
            <a:off x="2801747" y="4435746"/>
            <a:ext cx="166773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3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공공택지 1년, 민간택지 없음</a:t>
            </a:r>
          </a:p>
        </p:txBody>
      </p:sp>
      <p:sp>
        <p:nvSpPr>
          <p:cNvPr id="18" name="텍스트 18: 조합설립인가 ~ 사업계획승인 외 가능"/>
          <p:cNvSpPr txBox="1"/>
          <p:nvPr/>
        </p:nvSpPr>
        <p:spPr>
          <a:xfrm>
            <a:off x="6145021" y="4417410"/>
            <a:ext cx="265614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7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조합설립인가 ~ 사업계획승인 외 가능</a:t>
            </a:r>
          </a:p>
        </p:txBody>
      </p:sp>
      <p:sp>
        <p:nvSpPr>
          <p:cNvPr id="19" name="텍스트 19: 자격유지"/>
          <p:cNvSpPr txBox="1"/>
          <p:nvPr/>
        </p:nvSpPr>
        <p:spPr>
          <a:xfrm>
            <a:off x="851611" y="4988800"/>
            <a:ext cx="58806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1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자격유지</a:t>
            </a:r>
          </a:p>
        </p:txBody>
      </p:sp>
      <p:sp>
        <p:nvSpPr>
          <p:cNvPr id="20" name="텍스트 20: 없음"/>
          <p:cNvSpPr txBox="1"/>
          <p:nvPr/>
        </p:nvSpPr>
        <p:spPr>
          <a:xfrm>
            <a:off x="3495166" y="4994673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없음</a:t>
            </a:r>
          </a:p>
        </p:txBody>
      </p:sp>
      <p:sp>
        <p:nvSpPr>
          <p:cNvPr id="21" name="텍스트 21: 조합설립인가 ~ 입주 시"/>
          <p:cNvSpPr txBox="1"/>
          <p:nvPr/>
        </p:nvSpPr>
        <p:spPr>
          <a:xfrm>
            <a:off x="6637273" y="4976337"/>
            <a:ext cx="167316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3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조합설립인가 ~ 입주 시</a:t>
            </a:r>
          </a:p>
        </p:txBody>
      </p:sp>
      <p:sp>
        <p:nvSpPr>
          <p:cNvPr id="22" name="텍스트 22: 분양가"/>
          <p:cNvSpPr txBox="1"/>
          <p:nvPr/>
        </p:nvSpPr>
        <p:spPr>
          <a:xfrm>
            <a:off x="921715" y="5547829"/>
            <a:ext cx="44835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3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분양가</a:t>
            </a:r>
          </a:p>
        </p:txBody>
      </p:sp>
      <p:sp>
        <p:nvSpPr>
          <p:cNvPr id="23" name="텍스트 23: 토지 매입 완료 후 시행, 비교적 고가 설정(이자비용 "/>
          <p:cNvSpPr txBox="1"/>
          <p:nvPr/>
        </p:nvSpPr>
        <p:spPr>
          <a:xfrm>
            <a:off x="2080895" y="5553701"/>
            <a:ext cx="310813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4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토지 매입 완료 후 시행, 비교적 고가 설정(이자비용 등)</a:t>
            </a:r>
          </a:p>
        </p:txBody>
      </p:sp>
      <p:sp>
        <p:nvSpPr>
          <p:cNvPr id="24" name="텍스트 24: 토지 계약 완료 후 시행, 비교적 저가 설정 가능"/>
          <p:cNvSpPr txBox="1"/>
          <p:nvPr/>
        </p:nvSpPr>
        <p:spPr>
          <a:xfrm>
            <a:off x="5864352" y="5535086"/>
            <a:ext cx="321722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6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 계약 완료 후 시행, 비교적 저가 설정 가능</a:t>
            </a:r>
          </a:p>
        </p:txBody>
      </p:sp>
      <p:sp>
        <p:nvSpPr>
          <p:cNvPr id="25" name="텍스트 25: VS"/>
          <p:cNvSpPr txBox="1"/>
          <p:nvPr/>
        </p:nvSpPr>
        <p:spPr>
          <a:xfrm>
            <a:off x="5191378" y="2254110"/>
            <a:ext cx="218117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3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  <p:sp>
        <p:nvSpPr>
          <p:cNvPr id="26" name="텍스트 26: 18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27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28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29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30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31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높은 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4  ·  가격과 안심  │  높은 신뢰도의 대기업 협력사</a:t>
            </a:r>
          </a:p>
        </p:txBody>
      </p:sp>
      <p:sp>
        <p:nvSpPr>
          <p:cNvPr id="3" name="텍스트 3: 또한, 팍스디앤엠의 체계적 지휘 기반 신뢰도 높은 협력"/>
          <p:cNvSpPr txBox="1"/>
          <p:nvPr/>
        </p:nvSpPr>
        <p:spPr>
          <a:xfrm>
            <a:off x="304800" y="664811"/>
            <a:ext cx="9373668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또한, 팍스디앤엠의 체계적 지휘 기반 신뢰도 높은 협력사까지 구축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‘포스코A&amp;C’ </a:t>
            </a:r>
            <a:r>
              <a:rPr lang="ko-KR" altLang="en-US" sz="264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혁신설계와 </a:t>
            </a:r>
            <a:r>
              <a:rPr lang="ko-KR" altLang="en-US" sz="264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‘신한자산신탁’ </a:t>
            </a:r>
            <a:r>
              <a:rPr lang="ko-KR" altLang="en-US" sz="264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전문 자금관리까지, 계약완료</a:t>
            </a:r>
          </a:p>
        </p:txBody>
      </p:sp>
      <p:sp>
        <p:nvSpPr>
          <p:cNvPr id="4" name="텍스트 4: 오송역 C17블록 지역주택조합 추진위원회"/>
          <p:cNvSpPr txBox="1"/>
          <p:nvPr/>
        </p:nvSpPr>
        <p:spPr>
          <a:xfrm>
            <a:off x="3570096" y="2309877"/>
            <a:ext cx="260134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C17블록 지역주택조합 추진위원회</a:t>
            </a:r>
          </a:p>
        </p:txBody>
      </p:sp>
      <p:sp>
        <p:nvSpPr>
          <p:cNvPr id="5" name="텍스트 5: 자금관리 : 신한자산신탁㈜"/>
          <p:cNvSpPr txBox="1"/>
          <p:nvPr/>
        </p:nvSpPr>
        <p:spPr>
          <a:xfrm>
            <a:off x="7252461" y="2817989"/>
            <a:ext cx="1712616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0" spc="-11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자금관리 : 신한자산신탁㈜</a:t>
            </a:r>
          </a:p>
        </p:txBody>
      </p:sp>
      <p:sp>
        <p:nvSpPr>
          <p:cNvPr id="6" name="텍스트 6: 총괄 - 그린"/>
          <p:cNvSpPr txBox="1"/>
          <p:nvPr/>
        </p:nvSpPr>
        <p:spPr>
          <a:xfrm>
            <a:off x="1285366" y="4975353"/>
            <a:ext cx="697484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94" dirty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총괄 - 그린</a:t>
            </a:r>
          </a:p>
        </p:txBody>
      </p:sp>
      <p:sp>
        <p:nvSpPr>
          <p:cNvPr id="7" name="텍스트 7: 총괄 - 블루"/>
          <p:cNvSpPr txBox="1"/>
          <p:nvPr/>
        </p:nvSpPr>
        <p:spPr>
          <a:xfrm>
            <a:off x="4524502" y="4975353"/>
            <a:ext cx="69748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94" dirty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총괄 - 블루</a:t>
            </a:r>
          </a:p>
        </p:txBody>
      </p:sp>
      <p:sp>
        <p:nvSpPr>
          <p:cNvPr id="8" name="텍스트 8: 총괄 - 레드"/>
          <p:cNvSpPr txBox="1"/>
          <p:nvPr/>
        </p:nvSpPr>
        <p:spPr>
          <a:xfrm>
            <a:off x="7763256" y="4975353"/>
            <a:ext cx="69773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94" dirty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총괄 - 레드</a:t>
            </a:r>
          </a:p>
        </p:txBody>
      </p:sp>
      <p:sp>
        <p:nvSpPr>
          <p:cNvPr id="9" name="텍스트 9: 본부"/>
          <p:cNvSpPr txBox="1"/>
          <p:nvPr/>
        </p:nvSpPr>
        <p:spPr>
          <a:xfrm>
            <a:off x="983589" y="5417344"/>
            <a:ext cx="27222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본부</a:t>
            </a:r>
          </a:p>
        </p:txBody>
      </p:sp>
      <p:sp>
        <p:nvSpPr>
          <p:cNvPr id="10" name="텍스트 10: 본부"/>
          <p:cNvSpPr txBox="1"/>
          <p:nvPr/>
        </p:nvSpPr>
        <p:spPr>
          <a:xfrm>
            <a:off x="2012314" y="5417344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본부</a:t>
            </a:r>
          </a:p>
        </p:txBody>
      </p:sp>
      <p:sp>
        <p:nvSpPr>
          <p:cNvPr id="11" name="텍스트 11: 팀"/>
          <p:cNvSpPr txBox="1"/>
          <p:nvPr/>
        </p:nvSpPr>
        <p:spPr>
          <a:xfrm>
            <a:off x="787908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2" name="텍스트 12: 팀"/>
          <p:cNvSpPr txBox="1"/>
          <p:nvPr/>
        </p:nvSpPr>
        <p:spPr>
          <a:xfrm>
            <a:off x="1306702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3" name="텍스트 13: 팀"/>
          <p:cNvSpPr txBox="1"/>
          <p:nvPr/>
        </p:nvSpPr>
        <p:spPr>
          <a:xfrm>
            <a:off x="1816861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4" name="텍스트 14: 팀"/>
          <p:cNvSpPr txBox="1"/>
          <p:nvPr/>
        </p:nvSpPr>
        <p:spPr>
          <a:xfrm>
            <a:off x="2335402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5" name="텍스트 15: 팀"/>
          <p:cNvSpPr txBox="1"/>
          <p:nvPr/>
        </p:nvSpPr>
        <p:spPr>
          <a:xfrm>
            <a:off x="4028185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6" name="텍스트 16: 팀"/>
          <p:cNvSpPr txBox="1"/>
          <p:nvPr/>
        </p:nvSpPr>
        <p:spPr>
          <a:xfrm>
            <a:off x="4546980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7" name="텍스트 17: 팀"/>
          <p:cNvSpPr txBox="1"/>
          <p:nvPr/>
        </p:nvSpPr>
        <p:spPr>
          <a:xfrm>
            <a:off x="5057266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8" name="텍스트 18: 팀"/>
          <p:cNvSpPr txBox="1"/>
          <p:nvPr/>
        </p:nvSpPr>
        <p:spPr>
          <a:xfrm>
            <a:off x="5575680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9" name="텍스트 19: 팀"/>
          <p:cNvSpPr txBox="1"/>
          <p:nvPr/>
        </p:nvSpPr>
        <p:spPr>
          <a:xfrm>
            <a:off x="7266178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20" name="텍스트 20: 팀"/>
          <p:cNvSpPr txBox="1"/>
          <p:nvPr/>
        </p:nvSpPr>
        <p:spPr>
          <a:xfrm>
            <a:off x="7784592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21" name="텍스트 21: 팀"/>
          <p:cNvSpPr txBox="1"/>
          <p:nvPr/>
        </p:nvSpPr>
        <p:spPr>
          <a:xfrm>
            <a:off x="8295131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22" name="텍스트 22: 팀"/>
          <p:cNvSpPr txBox="1"/>
          <p:nvPr/>
        </p:nvSpPr>
        <p:spPr>
          <a:xfrm>
            <a:off x="8813545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23" name="텍스트 23: 본부"/>
          <p:cNvSpPr txBox="1"/>
          <p:nvPr/>
        </p:nvSpPr>
        <p:spPr>
          <a:xfrm>
            <a:off x="4222369" y="5417344"/>
            <a:ext cx="27253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1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본부</a:t>
            </a:r>
          </a:p>
        </p:txBody>
      </p:sp>
      <p:sp>
        <p:nvSpPr>
          <p:cNvPr id="24" name="텍스트 24: 본부"/>
          <p:cNvSpPr txBox="1"/>
          <p:nvPr/>
        </p:nvSpPr>
        <p:spPr>
          <a:xfrm>
            <a:off x="5251450" y="5417344"/>
            <a:ext cx="27222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본부</a:t>
            </a:r>
          </a:p>
        </p:txBody>
      </p:sp>
      <p:sp>
        <p:nvSpPr>
          <p:cNvPr id="25" name="텍스트 25: 본부"/>
          <p:cNvSpPr txBox="1"/>
          <p:nvPr/>
        </p:nvSpPr>
        <p:spPr>
          <a:xfrm>
            <a:off x="7460233" y="5417344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본부</a:t>
            </a:r>
          </a:p>
        </p:txBody>
      </p:sp>
      <p:sp>
        <p:nvSpPr>
          <p:cNvPr id="26" name="텍스트 26: 본부"/>
          <p:cNvSpPr txBox="1"/>
          <p:nvPr/>
        </p:nvSpPr>
        <p:spPr>
          <a:xfrm>
            <a:off x="8489315" y="5417344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본부</a:t>
            </a:r>
          </a:p>
        </p:txBody>
      </p:sp>
      <p:sp>
        <p:nvSpPr>
          <p:cNvPr id="27" name="텍스트 27: 설계·PM : 포스코A&amp;C"/>
          <p:cNvSpPr txBox="1"/>
          <p:nvPr/>
        </p:nvSpPr>
        <p:spPr>
          <a:xfrm>
            <a:off x="925372" y="2817989"/>
            <a:ext cx="1508679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0" spc="-6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설계·PM : 포스코A&amp;C</a:t>
            </a:r>
          </a:p>
        </p:txBody>
      </p:sp>
      <p:sp>
        <p:nvSpPr>
          <p:cNvPr id="28" name="텍스트 28: · 1970년 창립·56년 포스코그룹 건축사"/>
          <p:cNvSpPr txBox="1"/>
          <p:nvPr/>
        </p:nvSpPr>
        <p:spPr>
          <a:xfrm>
            <a:off x="639775" y="3204852"/>
            <a:ext cx="1864900" cy="8503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42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42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1970년 창립</a:t>
            </a:r>
            <a:r>
              <a:rPr lang="ko-KR" altLang="en-US" sz="852" b="0" spc="-42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·56년 포스코그룹 건축사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54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0" spc="-54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기획·설계·CM·시공 종합수행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58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58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국내 최초 모듈러 </a:t>
            </a:r>
            <a:r>
              <a:rPr lang="ko-KR" altLang="en-US" sz="852" b="0" spc="-58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공동주택 ‘청담 MUTO’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62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62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국내 최고층 모듈러 </a:t>
            </a:r>
            <a:r>
              <a:rPr lang="ko-KR" altLang="en-US" sz="852" b="0" spc="-62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‘광양 기가타운’ 12층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0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0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2024 美 World of Modular</a:t>
            </a:r>
            <a:r>
              <a:rPr lang="ko-KR" altLang="en-US" sz="852" b="0" spc="0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수상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30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30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‘Park1538’</a:t>
            </a:r>
            <a:r>
              <a:rPr lang="ko-KR" altLang="en-US" sz="852" b="0" spc="-30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A’디자인어워드 플래티넘</a:t>
            </a:r>
          </a:p>
        </p:txBody>
      </p:sp>
      <p:sp>
        <p:nvSpPr>
          <p:cNvPr id="29" name="텍스트 29: · 2006년 설립·20년 부동산신탁 전문"/>
          <p:cNvSpPr txBox="1"/>
          <p:nvPr/>
        </p:nvSpPr>
        <p:spPr>
          <a:xfrm>
            <a:off x="7114285" y="3204852"/>
            <a:ext cx="1684625" cy="8503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40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40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2006년 설립</a:t>
            </a:r>
            <a:r>
              <a:rPr lang="ko-KR" altLang="en-US" sz="852" b="0" spc="-40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·20년 부동산신탁 전문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44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44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신한금융그룹 100%</a:t>
            </a:r>
            <a:r>
              <a:rPr lang="ko-KR" altLang="en-US" sz="852" b="0" spc="-44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자회사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78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78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관리형 토지신탁 </a:t>
            </a:r>
            <a:r>
              <a:rPr lang="ko-KR" altLang="en-US" sz="852" b="0" spc="-78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업계 최초 인가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76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76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리딩금융그룹</a:t>
            </a:r>
            <a:r>
              <a:rPr lang="ko-KR" altLang="en-US" sz="852" b="0" spc="-76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의 신용·자본 안정성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78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78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분양대금</a:t>
            </a:r>
            <a:r>
              <a:rPr lang="ko-KR" altLang="en-US" sz="852" b="0" spc="-78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·사업비 신탁계좌 분리관리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79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0" spc="-79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투명한 자금집행으로 조합원 보호</a:t>
            </a:r>
          </a:p>
        </p:txBody>
      </p:sp>
      <p:sp>
        <p:nvSpPr>
          <p:cNvPr id="30" name="텍스트 30: · 부동산 종합마케팅 전문기업 PAX D&amp;M"/>
          <p:cNvSpPr txBox="1"/>
          <p:nvPr/>
        </p:nvSpPr>
        <p:spPr>
          <a:xfrm>
            <a:off x="3906011" y="3204852"/>
            <a:ext cx="1900905" cy="8503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52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5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부동산 종합마케팅 전문기업 </a:t>
            </a:r>
            <a:r>
              <a:rPr lang="ko-KR" altLang="en-US" sz="852" b="0" spc="-5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PAX D&amp;M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70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7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사업기획·상품구성·광고·영업 </a:t>
            </a:r>
            <a:r>
              <a:rPr lang="ko-KR" altLang="en-US" sz="852" b="0" spc="-7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전 과정 수행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82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안양 호계푸르지오 </a:t>
            </a:r>
            <a:r>
              <a:rPr lang="ko-KR" altLang="en-US" sz="85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지역주택조합 성공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80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8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추가분담금 없이 </a:t>
            </a:r>
            <a:r>
              <a:rPr lang="ko-KR" altLang="en-US" sz="852" b="0" spc="-8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입주까지 사업 완료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56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5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청주 레이원시티 1,817세대 등 다수 </a:t>
            </a:r>
            <a:r>
              <a:rPr lang="ko-KR" altLang="en-US" sz="852" b="0" spc="-5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분양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49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4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한화포레나 1,849세대 </a:t>
            </a:r>
            <a:r>
              <a:rPr lang="ko-KR" altLang="en-US" sz="852" b="0" spc="-4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입주 수행</a:t>
            </a:r>
          </a:p>
        </p:txBody>
      </p:sp>
      <p:sp>
        <p:nvSpPr>
          <p:cNvPr id="31" name="텍스트 31: 업무대행사 : ㈜팍스디앤엠"/>
          <p:cNvSpPr txBox="1"/>
          <p:nvPr/>
        </p:nvSpPr>
        <p:spPr>
          <a:xfrm>
            <a:off x="3977640" y="2818101"/>
            <a:ext cx="1784401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1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업무대행사 : ㈜팍스디앤엠</a:t>
            </a:r>
          </a:p>
        </p:txBody>
      </p:sp>
      <p:sp>
        <p:nvSpPr>
          <p:cNvPr id="32" name="텍스트 32: 모집대행 : ㈜지그디앤씨"/>
          <p:cNvSpPr txBox="1"/>
          <p:nvPr/>
        </p:nvSpPr>
        <p:spPr>
          <a:xfrm>
            <a:off x="4111752" y="4367531"/>
            <a:ext cx="151764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2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모집대행 : ㈜지그디앤씨</a:t>
            </a:r>
          </a:p>
        </p:txBody>
      </p:sp>
      <p:sp>
        <p:nvSpPr>
          <p:cNvPr id="33" name="텍스트 33: 19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34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35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36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37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38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99.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4  ·  가격과 안심  │  99.9% 안정적인 사업성 확보</a:t>
            </a:r>
          </a:p>
        </p:txBody>
      </p:sp>
      <p:sp>
        <p:nvSpPr>
          <p:cNvPr id="3" name="텍스트 3: 헬로우시티는 이례적으로 토지계약 완료 후 진행되는 안정"/>
          <p:cNvSpPr txBox="1"/>
          <p:nvPr/>
        </p:nvSpPr>
        <p:spPr>
          <a:xfrm>
            <a:off x="304800" y="664811"/>
            <a:ext cx="8957751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헬로우시티는 이례적으로 </a:t>
            </a:r>
            <a:r>
              <a:rPr lang="ko-KR" altLang="en-US" sz="2626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토지계약 완료 후 진행</a:t>
            </a:r>
            <a:r>
              <a:rPr lang="ko-KR" altLang="en-US" sz="262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되는 안정적 사업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(기존 지주택은 토지확보 과정에서 문제 다수 발생, 사업진행 불투명)</a:t>
            </a:r>
          </a:p>
        </p:txBody>
      </p:sp>
      <p:sp>
        <p:nvSpPr>
          <p:cNvPr id="4" name="텍스트 4: 사업 진행 불투명 …"/>
          <p:cNvSpPr txBox="1"/>
          <p:nvPr/>
        </p:nvSpPr>
        <p:spPr>
          <a:xfrm>
            <a:off x="7081773" y="4096671"/>
            <a:ext cx="107945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0" spc="-11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사업 진행 불투명 …</a:t>
            </a:r>
          </a:p>
        </p:txBody>
      </p:sp>
      <p:sp>
        <p:nvSpPr>
          <p:cNvPr id="5" name="텍스트 5: 01"/>
          <p:cNvSpPr txBox="1"/>
          <p:nvPr/>
        </p:nvSpPr>
        <p:spPr>
          <a:xfrm>
            <a:off x="1920239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텍스트 6: 조합원 모집"/>
          <p:cNvSpPr txBox="1"/>
          <p:nvPr/>
        </p:nvSpPr>
        <p:spPr>
          <a:xfrm>
            <a:off x="1476121" y="2994629"/>
            <a:ext cx="85134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조합원 모집</a:t>
            </a:r>
          </a:p>
        </p:txBody>
      </p:sp>
      <p:sp>
        <p:nvSpPr>
          <p:cNvPr id="7" name="텍스트 7: 자격 확인 후 가입"/>
          <p:cNvSpPr txBox="1"/>
          <p:nvPr/>
        </p:nvSpPr>
        <p:spPr>
          <a:xfrm>
            <a:off x="1476121" y="3363130"/>
            <a:ext cx="889568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0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자격 확인 후 가입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0" spc="-91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(현재 단계)</a:t>
            </a:r>
          </a:p>
        </p:txBody>
      </p:sp>
      <p:sp>
        <p:nvSpPr>
          <p:cNvPr id="8" name="텍스트 8: 02"/>
          <p:cNvSpPr txBox="1"/>
          <p:nvPr/>
        </p:nvSpPr>
        <p:spPr>
          <a:xfrm>
            <a:off x="3319526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9" name="텍스트 9: 조합설립인가"/>
          <p:cNvSpPr txBox="1"/>
          <p:nvPr/>
        </p:nvSpPr>
        <p:spPr>
          <a:xfrm>
            <a:off x="2873375" y="2994629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조합설립인가</a:t>
            </a:r>
          </a:p>
        </p:txBody>
      </p:sp>
      <p:sp>
        <p:nvSpPr>
          <p:cNvPr id="10" name="텍스트 10: 창립총회와 인가 신청"/>
          <p:cNvSpPr txBox="1"/>
          <p:nvPr/>
        </p:nvSpPr>
        <p:spPr>
          <a:xfrm>
            <a:off x="2873375" y="3363629"/>
            <a:ext cx="10831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0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창립총회와 인가 신청</a:t>
            </a:r>
          </a:p>
        </p:txBody>
      </p:sp>
      <p:sp>
        <p:nvSpPr>
          <p:cNvPr id="11" name="텍스트 11: 03"/>
          <p:cNvSpPr txBox="1"/>
          <p:nvPr/>
        </p:nvSpPr>
        <p:spPr>
          <a:xfrm>
            <a:off x="4718939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2" name="텍스트 12: 04"/>
          <p:cNvSpPr txBox="1"/>
          <p:nvPr/>
        </p:nvSpPr>
        <p:spPr>
          <a:xfrm>
            <a:off x="6118225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3" name="텍스트 13: 사업계획승인"/>
          <p:cNvSpPr txBox="1"/>
          <p:nvPr/>
        </p:nvSpPr>
        <p:spPr>
          <a:xfrm>
            <a:off x="5667755" y="2994629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사업계획승인</a:t>
            </a:r>
          </a:p>
        </p:txBody>
      </p:sp>
      <p:sp>
        <p:nvSpPr>
          <p:cNvPr id="14" name="텍스트 14: 설계·인허가 확정"/>
          <p:cNvSpPr txBox="1"/>
          <p:nvPr/>
        </p:nvSpPr>
        <p:spPr>
          <a:xfrm>
            <a:off x="5667755" y="3363629"/>
            <a:ext cx="86975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2" b="0" spc="-100" dirty="0">
                <a:solidFill>
                  <a:srgbClr val="5E5E5E"/>
                </a:solidFill>
                <a:latin typeface="맑은 고딕"/>
                <a:ea typeface="맑은 고딕"/>
                <a:cs typeface="맑은 고딕"/>
              </a:rPr>
              <a:t>설계·인허가 확정</a:t>
            </a:r>
          </a:p>
        </p:txBody>
      </p:sp>
      <p:sp>
        <p:nvSpPr>
          <p:cNvPr id="15" name="텍스트 15: 05"/>
          <p:cNvSpPr txBox="1"/>
          <p:nvPr/>
        </p:nvSpPr>
        <p:spPr>
          <a:xfrm>
            <a:off x="7517638" y="2053876"/>
            <a:ext cx="21340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6" name="텍스트 16: 착공"/>
          <p:cNvSpPr txBox="1"/>
          <p:nvPr/>
        </p:nvSpPr>
        <p:spPr>
          <a:xfrm>
            <a:off x="7077709" y="2994629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착공</a:t>
            </a:r>
          </a:p>
        </p:txBody>
      </p:sp>
      <p:sp>
        <p:nvSpPr>
          <p:cNvPr id="17" name="텍스트 17: 공정에 따른"/>
          <p:cNvSpPr txBox="1"/>
          <p:nvPr/>
        </p:nvSpPr>
        <p:spPr>
          <a:xfrm>
            <a:off x="7077709" y="3363130"/>
            <a:ext cx="609152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5E5E5E"/>
                </a:solidFill>
                <a:latin typeface="맑은 고딕"/>
                <a:ea typeface="맑은 고딕"/>
                <a:cs typeface="맑은 고딕"/>
              </a:rPr>
              <a:t>공정에 따른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5E5E5E"/>
                </a:solidFill>
                <a:latin typeface="맑은 고딕"/>
                <a:ea typeface="맑은 고딕"/>
                <a:cs typeface="맑은 고딕"/>
              </a:rPr>
              <a:t>분담금 납입</a:t>
            </a:r>
          </a:p>
        </p:txBody>
      </p:sp>
      <p:sp>
        <p:nvSpPr>
          <p:cNvPr id="18" name="텍스트 18: 06"/>
          <p:cNvSpPr txBox="1"/>
          <p:nvPr/>
        </p:nvSpPr>
        <p:spPr>
          <a:xfrm>
            <a:off x="8916923" y="2053876"/>
            <a:ext cx="21340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19" name="텍스트 19: 입주"/>
          <p:cNvSpPr txBox="1"/>
          <p:nvPr/>
        </p:nvSpPr>
        <p:spPr>
          <a:xfrm>
            <a:off x="8474964" y="2994629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입주</a:t>
            </a:r>
          </a:p>
        </p:txBody>
      </p:sp>
      <p:sp>
        <p:nvSpPr>
          <p:cNvPr id="20" name="텍스트 20: 불투명"/>
          <p:cNvSpPr txBox="1"/>
          <p:nvPr/>
        </p:nvSpPr>
        <p:spPr>
          <a:xfrm>
            <a:off x="8474964" y="3363629"/>
            <a:ext cx="3592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5E5E5E"/>
                </a:solidFill>
                <a:latin typeface="맑은 고딕"/>
                <a:ea typeface="맑은 고딕"/>
                <a:cs typeface="맑은 고딕"/>
              </a:rPr>
              <a:t>불투명</a:t>
            </a:r>
          </a:p>
        </p:txBody>
      </p:sp>
      <p:sp>
        <p:nvSpPr>
          <p:cNvPr id="21" name="텍스트 21: 일반지역"/>
          <p:cNvSpPr txBox="1"/>
          <p:nvPr/>
        </p:nvSpPr>
        <p:spPr>
          <a:xfrm>
            <a:off x="297179" y="3112603"/>
            <a:ext cx="921451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0" b="1" spc="-200" dirty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일반지역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0" b="1" spc="-200" dirty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주택조합</a:t>
            </a:r>
          </a:p>
        </p:txBody>
      </p:sp>
      <p:sp>
        <p:nvSpPr>
          <p:cNvPr id="22" name="텍스트 22: 토지 확보 문제"/>
          <p:cNvSpPr txBox="1"/>
          <p:nvPr/>
        </p:nvSpPr>
        <p:spPr>
          <a:xfrm>
            <a:off x="4270502" y="2994629"/>
            <a:ext cx="104946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0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토지 확보 문제</a:t>
            </a:r>
          </a:p>
        </p:txBody>
      </p:sp>
      <p:sp>
        <p:nvSpPr>
          <p:cNvPr id="23" name="텍스트 23: 추가분담금 과잉,"/>
          <p:cNvSpPr txBox="1"/>
          <p:nvPr/>
        </p:nvSpPr>
        <p:spPr>
          <a:xfrm>
            <a:off x="4270502" y="3363130"/>
            <a:ext cx="1000821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추가분담금 과잉,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사업연기 등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주요 문제 발생 시점</a:t>
            </a:r>
          </a:p>
        </p:txBody>
      </p:sp>
      <p:sp>
        <p:nvSpPr>
          <p:cNvPr id="24" name="텍스트 24: 토지 99.9%"/>
          <p:cNvSpPr txBox="1"/>
          <p:nvPr/>
        </p:nvSpPr>
        <p:spPr>
          <a:xfrm>
            <a:off x="1473961" y="4748956"/>
            <a:ext cx="1094292" cy="4876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8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토지 99.9%</a:t>
            </a:r>
          </a:p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58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계약 완료!</a:t>
            </a:r>
          </a:p>
        </p:txBody>
      </p:sp>
      <p:sp>
        <p:nvSpPr>
          <p:cNvPr id="25" name="텍스트 25: 조합원 모집"/>
          <p:cNvSpPr txBox="1"/>
          <p:nvPr/>
        </p:nvSpPr>
        <p:spPr>
          <a:xfrm>
            <a:off x="2873375" y="4696937"/>
            <a:ext cx="84982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조합원 모집</a:t>
            </a:r>
          </a:p>
        </p:txBody>
      </p:sp>
      <p:sp>
        <p:nvSpPr>
          <p:cNvPr id="26" name="텍스트 26: 자격 확인 후 가입"/>
          <p:cNvSpPr txBox="1"/>
          <p:nvPr/>
        </p:nvSpPr>
        <p:spPr>
          <a:xfrm>
            <a:off x="2873375" y="5065184"/>
            <a:ext cx="889568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0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자격 확인 후 가입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0" spc="-91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(현재 단계)</a:t>
            </a:r>
          </a:p>
        </p:txBody>
      </p:sp>
      <p:sp>
        <p:nvSpPr>
          <p:cNvPr id="27" name="텍스트 27: 조합설립인가"/>
          <p:cNvSpPr txBox="1"/>
          <p:nvPr/>
        </p:nvSpPr>
        <p:spPr>
          <a:xfrm>
            <a:off x="4270502" y="4696937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조합설립인가</a:t>
            </a:r>
          </a:p>
        </p:txBody>
      </p:sp>
      <p:sp>
        <p:nvSpPr>
          <p:cNvPr id="28" name="텍스트 28: 창립총회와 인가 신청"/>
          <p:cNvSpPr txBox="1"/>
          <p:nvPr/>
        </p:nvSpPr>
        <p:spPr>
          <a:xfrm>
            <a:off x="4270502" y="5065683"/>
            <a:ext cx="10831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0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창립총회와 인가 신청</a:t>
            </a:r>
          </a:p>
        </p:txBody>
      </p:sp>
      <p:sp>
        <p:nvSpPr>
          <p:cNvPr id="29" name="텍스트 29: 사업계획승인"/>
          <p:cNvSpPr txBox="1"/>
          <p:nvPr/>
        </p:nvSpPr>
        <p:spPr>
          <a:xfrm>
            <a:off x="5667755" y="4696937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사업계획승인</a:t>
            </a:r>
          </a:p>
        </p:txBody>
      </p:sp>
      <p:sp>
        <p:nvSpPr>
          <p:cNvPr id="30" name="텍스트 30: 설계·인허가 확정"/>
          <p:cNvSpPr txBox="1"/>
          <p:nvPr/>
        </p:nvSpPr>
        <p:spPr>
          <a:xfrm>
            <a:off x="5667755" y="5065683"/>
            <a:ext cx="86975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2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설계·인허가 확정</a:t>
            </a:r>
          </a:p>
        </p:txBody>
      </p:sp>
      <p:sp>
        <p:nvSpPr>
          <p:cNvPr id="31" name="텍스트 31: 착공"/>
          <p:cNvSpPr txBox="1"/>
          <p:nvPr/>
        </p:nvSpPr>
        <p:spPr>
          <a:xfrm>
            <a:off x="7077709" y="4696937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착공</a:t>
            </a:r>
          </a:p>
        </p:txBody>
      </p:sp>
      <p:sp>
        <p:nvSpPr>
          <p:cNvPr id="32" name="텍스트 32: 공정에 따른"/>
          <p:cNvSpPr txBox="1"/>
          <p:nvPr/>
        </p:nvSpPr>
        <p:spPr>
          <a:xfrm>
            <a:off x="7077709" y="5065184"/>
            <a:ext cx="609152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공정에 따른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분담금 납입</a:t>
            </a:r>
          </a:p>
        </p:txBody>
      </p:sp>
      <p:sp>
        <p:nvSpPr>
          <p:cNvPr id="33" name="텍스트 33: 입주"/>
          <p:cNvSpPr txBox="1"/>
          <p:nvPr/>
        </p:nvSpPr>
        <p:spPr>
          <a:xfrm>
            <a:off x="8474964" y="4696937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입주</a:t>
            </a:r>
          </a:p>
        </p:txBody>
      </p:sp>
      <p:sp>
        <p:nvSpPr>
          <p:cNvPr id="34" name="텍스트 34: 2031년 2월 예정"/>
          <p:cNvSpPr txBox="1"/>
          <p:nvPr/>
        </p:nvSpPr>
        <p:spPr>
          <a:xfrm>
            <a:off x="8474964" y="5065683"/>
            <a:ext cx="94748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2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2031년 2월 예정</a:t>
            </a:r>
          </a:p>
        </p:txBody>
      </p:sp>
      <p:sp>
        <p:nvSpPr>
          <p:cNvPr id="35" name="텍스트 35: 원활하고 안정적인 사업기반 확보!"/>
          <p:cNvSpPr txBox="1"/>
          <p:nvPr/>
        </p:nvSpPr>
        <p:spPr>
          <a:xfrm>
            <a:off x="5074665" y="5798182"/>
            <a:ext cx="2229313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9" b="1" spc="-13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원활하고 안정적인 사업기반 확보!</a:t>
            </a:r>
          </a:p>
        </p:txBody>
      </p:sp>
      <p:sp>
        <p:nvSpPr>
          <p:cNvPr id="36" name="텍스트 36: 2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37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38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39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40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41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01"/>
          <p:cNvSpPr txBox="1"/>
          <p:nvPr/>
        </p:nvSpPr>
        <p:spPr>
          <a:xfrm>
            <a:off x="1920239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" name="텍스트 3: 02"/>
          <p:cNvSpPr txBox="1"/>
          <p:nvPr/>
        </p:nvSpPr>
        <p:spPr>
          <a:xfrm>
            <a:off x="3319526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4" name="텍스트 4: 03"/>
          <p:cNvSpPr txBox="1"/>
          <p:nvPr/>
        </p:nvSpPr>
        <p:spPr>
          <a:xfrm>
            <a:off x="4718939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텍스트 5: 04"/>
          <p:cNvSpPr txBox="1"/>
          <p:nvPr/>
        </p:nvSpPr>
        <p:spPr>
          <a:xfrm>
            <a:off x="6118225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6" name="텍스트 6: 05"/>
          <p:cNvSpPr txBox="1"/>
          <p:nvPr/>
        </p:nvSpPr>
        <p:spPr>
          <a:xfrm>
            <a:off x="7517638" y="2053876"/>
            <a:ext cx="21340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7" name="텍스트 7: 06"/>
          <p:cNvSpPr txBox="1"/>
          <p:nvPr/>
        </p:nvSpPr>
        <p:spPr>
          <a:xfrm>
            <a:off x="8916923" y="2053876"/>
            <a:ext cx="21340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8" name="텍스트 8: CHAPTER 02  ·  오송역 헬로우시티 │ 99.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5  ·  미래가치와 결정  │  99.9% 안정적인 사업성 확보</a:t>
            </a:r>
          </a:p>
        </p:txBody>
      </p:sp>
      <p:sp>
        <p:nvSpPr>
          <p:cNvPr id="9" name="텍스트 9: 헬로우시티 사업은 일반 지주택과는 완전히 다른 사업"/>
          <p:cNvSpPr txBox="1"/>
          <p:nvPr/>
        </p:nvSpPr>
        <p:spPr>
          <a:xfrm>
            <a:off x="304800" y="664811"/>
            <a:ext cx="8551977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 사업은 일반 지주택과는 </a:t>
            </a:r>
            <a:r>
              <a:rPr lang="ko-KR" altLang="en-US" sz="2627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완전히 다른 사업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 모집부터 설립인가, 사업계획승인부터 입주까지 다이렉트</a:t>
            </a:r>
          </a:p>
        </p:txBody>
      </p:sp>
      <p:sp>
        <p:nvSpPr>
          <p:cNvPr id="10" name="텍스트 10: 2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11" name="텍스트 11: 사업진행계획 →"/>
          <p:cNvSpPr txBox="1"/>
          <p:nvPr/>
        </p:nvSpPr>
        <p:spPr>
          <a:xfrm>
            <a:off x="1488313" y="4290618"/>
            <a:ext cx="1127514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5" b="1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사업진행계획 →</a:t>
            </a:r>
          </a:p>
        </p:txBody>
      </p:sp>
      <p:sp>
        <p:nvSpPr>
          <p:cNvPr id="12" name="텍스트 12: 2026년 12월 예정"/>
          <p:cNvSpPr txBox="1"/>
          <p:nvPr/>
        </p:nvSpPr>
        <p:spPr>
          <a:xfrm>
            <a:off x="4166108" y="4176417"/>
            <a:ext cx="1228463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21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2026년 12월 예정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7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(+45일 내 인가 예상)</a:t>
            </a:r>
          </a:p>
        </p:txBody>
      </p:sp>
      <p:sp>
        <p:nvSpPr>
          <p:cNvPr id="13" name="텍스트 13: 10/8 공고"/>
          <p:cNvSpPr txBox="1"/>
          <p:nvPr/>
        </p:nvSpPr>
        <p:spPr>
          <a:xfrm>
            <a:off x="2835529" y="4155082"/>
            <a:ext cx="1132372" cy="5029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10/8 공고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10/9 신청개시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10/23~25 정계약</a:t>
            </a:r>
          </a:p>
        </p:txBody>
      </p:sp>
      <p:sp>
        <p:nvSpPr>
          <p:cNvPr id="14" name="텍스트 14: 2027년 6월 접수"/>
          <p:cNvSpPr txBox="1"/>
          <p:nvPr/>
        </p:nvSpPr>
        <p:spPr>
          <a:xfrm>
            <a:off x="5625465" y="4176417"/>
            <a:ext cx="1167884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3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2027년 6월 접수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93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(약 4개월 소요 예상)</a:t>
            </a:r>
          </a:p>
        </p:txBody>
      </p:sp>
      <p:sp>
        <p:nvSpPr>
          <p:cNvPr id="15" name="텍스트 15: 2027년 10월 예정"/>
          <p:cNvSpPr txBox="1"/>
          <p:nvPr/>
        </p:nvSpPr>
        <p:spPr>
          <a:xfrm>
            <a:off x="7036434" y="4176417"/>
            <a:ext cx="1143958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21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2027년 10월 예정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71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(40개월 공사 시)</a:t>
            </a:r>
          </a:p>
        </p:txBody>
      </p:sp>
      <p:sp>
        <p:nvSpPr>
          <p:cNvPr id="16" name="텍스트 16: 2031년 2월 예정"/>
          <p:cNvSpPr txBox="1"/>
          <p:nvPr/>
        </p:nvSpPr>
        <p:spPr>
          <a:xfrm>
            <a:off x="8503919" y="4175919"/>
            <a:ext cx="104514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3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2031년 2월 예정</a:t>
            </a:r>
          </a:p>
        </p:txBody>
      </p:sp>
      <p:sp>
        <p:nvSpPr>
          <p:cNvPr id="17" name="텍스트 17: 토지 99.9%"/>
          <p:cNvSpPr txBox="1"/>
          <p:nvPr/>
        </p:nvSpPr>
        <p:spPr>
          <a:xfrm>
            <a:off x="1473961" y="3059474"/>
            <a:ext cx="1094292" cy="487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8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토지 99.9%</a:t>
            </a:r>
          </a:p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58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계약 완료!</a:t>
            </a:r>
          </a:p>
        </p:txBody>
      </p:sp>
      <p:sp>
        <p:nvSpPr>
          <p:cNvPr id="18" name="텍스트 18: 조합원 모집"/>
          <p:cNvSpPr txBox="1"/>
          <p:nvPr/>
        </p:nvSpPr>
        <p:spPr>
          <a:xfrm>
            <a:off x="2873375" y="3007329"/>
            <a:ext cx="84982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조합원 모집</a:t>
            </a:r>
          </a:p>
        </p:txBody>
      </p:sp>
      <p:sp>
        <p:nvSpPr>
          <p:cNvPr id="19" name="텍스트 19: 자격 확인 후 가입"/>
          <p:cNvSpPr txBox="1"/>
          <p:nvPr/>
        </p:nvSpPr>
        <p:spPr>
          <a:xfrm>
            <a:off x="2873375" y="3375703"/>
            <a:ext cx="889568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0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자격 확인 후 가입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9" b="0" spc="-93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(현재 단계)</a:t>
            </a:r>
          </a:p>
        </p:txBody>
      </p:sp>
      <p:sp>
        <p:nvSpPr>
          <p:cNvPr id="20" name="텍스트 20: 조합설립인가"/>
          <p:cNvSpPr txBox="1"/>
          <p:nvPr/>
        </p:nvSpPr>
        <p:spPr>
          <a:xfrm>
            <a:off x="4270502" y="3007329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조합설립인가</a:t>
            </a:r>
          </a:p>
        </p:txBody>
      </p:sp>
      <p:sp>
        <p:nvSpPr>
          <p:cNvPr id="21" name="텍스트 21: 창립총회와 인가 신청"/>
          <p:cNvSpPr txBox="1"/>
          <p:nvPr/>
        </p:nvSpPr>
        <p:spPr>
          <a:xfrm>
            <a:off x="4270502" y="3376202"/>
            <a:ext cx="10831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0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창립총회와 인가 신청</a:t>
            </a:r>
          </a:p>
        </p:txBody>
      </p:sp>
      <p:sp>
        <p:nvSpPr>
          <p:cNvPr id="22" name="텍스트 22: 사업계획승인"/>
          <p:cNvSpPr txBox="1"/>
          <p:nvPr/>
        </p:nvSpPr>
        <p:spPr>
          <a:xfrm>
            <a:off x="5667755" y="3007329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사업계획승인</a:t>
            </a:r>
          </a:p>
        </p:txBody>
      </p:sp>
      <p:sp>
        <p:nvSpPr>
          <p:cNvPr id="23" name="텍스트 23: 설계·인허가 확정"/>
          <p:cNvSpPr txBox="1"/>
          <p:nvPr/>
        </p:nvSpPr>
        <p:spPr>
          <a:xfrm>
            <a:off x="5667755" y="3376202"/>
            <a:ext cx="86975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2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설계·인허가 확정</a:t>
            </a:r>
          </a:p>
        </p:txBody>
      </p:sp>
      <p:sp>
        <p:nvSpPr>
          <p:cNvPr id="24" name="텍스트 24: 착공"/>
          <p:cNvSpPr txBox="1"/>
          <p:nvPr/>
        </p:nvSpPr>
        <p:spPr>
          <a:xfrm>
            <a:off x="7077709" y="3007329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착공</a:t>
            </a:r>
          </a:p>
        </p:txBody>
      </p:sp>
      <p:sp>
        <p:nvSpPr>
          <p:cNvPr id="25" name="텍스트 25: 공정에 따른"/>
          <p:cNvSpPr txBox="1"/>
          <p:nvPr/>
        </p:nvSpPr>
        <p:spPr>
          <a:xfrm>
            <a:off x="7077709" y="3375703"/>
            <a:ext cx="609421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6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공정에 따른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분담금 납입</a:t>
            </a:r>
          </a:p>
        </p:txBody>
      </p:sp>
      <p:sp>
        <p:nvSpPr>
          <p:cNvPr id="26" name="텍스트 26: 입주"/>
          <p:cNvSpPr txBox="1"/>
          <p:nvPr/>
        </p:nvSpPr>
        <p:spPr>
          <a:xfrm>
            <a:off x="8474964" y="3007329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입주</a:t>
            </a:r>
          </a:p>
        </p:txBody>
      </p:sp>
      <p:sp>
        <p:nvSpPr>
          <p:cNvPr id="27" name="텍스트 27: 2031년 2월 예정"/>
          <p:cNvSpPr txBox="1"/>
          <p:nvPr/>
        </p:nvSpPr>
        <p:spPr>
          <a:xfrm>
            <a:off x="8474964" y="3376202"/>
            <a:ext cx="94748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2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2031년 2월 예정</a:t>
            </a:r>
          </a:p>
        </p:txBody>
      </p:sp>
      <p:sp>
        <p:nvSpPr>
          <p:cNvPr id="28" name="텍스트 28: 원활하고 안정적인 사업기반 확보!"/>
          <p:cNvSpPr txBox="1"/>
          <p:nvPr/>
        </p:nvSpPr>
        <p:spPr>
          <a:xfrm>
            <a:off x="4375658" y="5538193"/>
            <a:ext cx="2229281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9" b="1" spc="-13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원활하고 안정적인 사업기반 확보!</a:t>
            </a:r>
          </a:p>
        </p:txBody>
      </p:sp>
      <p:sp>
        <p:nvSpPr>
          <p:cNvPr id="29" name="텍스트 29: 납부조건 →"/>
          <p:cNvSpPr txBox="1"/>
          <p:nvPr/>
        </p:nvSpPr>
        <p:spPr>
          <a:xfrm>
            <a:off x="1645285" y="4997165"/>
            <a:ext cx="81336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0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납부조건 →</a:t>
            </a:r>
          </a:p>
        </p:txBody>
      </p:sp>
      <p:sp>
        <p:nvSpPr>
          <p:cNvPr id="30" name="텍스트 30: 2차 계약금 10%"/>
          <p:cNvSpPr txBox="1"/>
          <p:nvPr/>
        </p:nvSpPr>
        <p:spPr>
          <a:xfrm>
            <a:off x="4293108" y="4881485"/>
            <a:ext cx="998211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48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2차 계약금 10%</a:t>
            </a:r>
          </a:p>
        </p:txBody>
      </p:sp>
      <p:sp>
        <p:nvSpPr>
          <p:cNvPr id="31" name="텍스트 31: 신청금 500만원"/>
          <p:cNvSpPr txBox="1"/>
          <p:nvPr/>
        </p:nvSpPr>
        <p:spPr>
          <a:xfrm>
            <a:off x="2835529" y="4860947"/>
            <a:ext cx="994523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6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신청금 500만원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 계약금 10%</a:t>
            </a:r>
          </a:p>
        </p:txBody>
      </p:sp>
      <p:sp>
        <p:nvSpPr>
          <p:cNvPr id="32" name="텍스트 32: 1차 중도금 10%"/>
          <p:cNvSpPr txBox="1"/>
          <p:nvPr/>
        </p:nvSpPr>
        <p:spPr>
          <a:xfrm>
            <a:off x="7016622" y="4881971"/>
            <a:ext cx="1182323" cy="5040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48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1차 중도금 10%</a:t>
            </a:r>
          </a:p>
          <a:p>
            <a:pPr algn="ctr">
              <a:lnSpc>
                <a:spcPts val="13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31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2~7차 중도금 60%</a:t>
            </a:r>
          </a:p>
          <a:p>
            <a:pPr algn="ctr">
              <a:lnSpc>
                <a:spcPts val="13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75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[집단대출]</a:t>
            </a:r>
          </a:p>
        </p:txBody>
      </p:sp>
      <p:sp>
        <p:nvSpPr>
          <p:cNvPr id="33" name="텍스트 33: 잔금 10%"/>
          <p:cNvSpPr txBox="1"/>
          <p:nvPr/>
        </p:nvSpPr>
        <p:spPr>
          <a:xfrm>
            <a:off x="8714231" y="4881485"/>
            <a:ext cx="626629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3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잔금 10%</a:t>
            </a:r>
          </a:p>
        </p:txBody>
      </p:sp>
      <p:sp>
        <p:nvSpPr>
          <p:cNvPr id="34" name="텍스트 34: 1차 중도금 10%, 정계약 기간 내 “신한은행 홍보관"/>
          <p:cNvSpPr txBox="1"/>
          <p:nvPr/>
        </p:nvSpPr>
        <p:spPr>
          <a:xfrm>
            <a:off x="4061586" y="5999795"/>
            <a:ext cx="4271629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9" b="0" spc="-104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1차 중도금 10%, 정계약 기간 내 </a:t>
            </a:r>
            <a:r>
              <a:rPr lang="ko-KR" altLang="en-US" sz="1399" b="0" spc="-104" dirty="0">
                <a:solidFill>
                  <a:srgbClr val="196B24"/>
                </a:solidFill>
                <a:latin typeface="맑은 고딕"/>
                <a:ea typeface="맑은 고딕"/>
                <a:cs typeface="맑은 고딕"/>
              </a:rPr>
              <a:t>“신한은행 홍보관 내 상주”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9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대출상담+통장발급 시행</a:t>
            </a:r>
          </a:p>
        </p:txBody>
      </p:sp>
      <p:sp>
        <p:nvSpPr>
          <p:cNvPr id="35" name="텍스트 35: 납부금액 없음"/>
          <p:cNvSpPr txBox="1"/>
          <p:nvPr/>
        </p:nvSpPr>
        <p:spPr>
          <a:xfrm>
            <a:off x="5811646" y="4881485"/>
            <a:ext cx="799803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9" b="0" spc="-111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납부금액 없음</a:t>
            </a:r>
          </a:p>
        </p:txBody>
      </p:sp>
      <p:sp>
        <p:nvSpPr>
          <p:cNvPr id="36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37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38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39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40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99.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99.9% 안정적인 사업성 확보</a:t>
            </a:r>
          </a:p>
        </p:txBody>
      </p:sp>
      <p:sp>
        <p:nvSpPr>
          <p:cNvPr id="3" name="텍스트 3: 10/9(금) ~ 10/22(목) 단 14일간, 신청금"/>
          <p:cNvSpPr txBox="1"/>
          <p:nvPr/>
        </p:nvSpPr>
        <p:spPr>
          <a:xfrm>
            <a:off x="304800" y="664811"/>
            <a:ext cx="9360694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0" b="1" spc="-18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10/9(금) ~ 10/22(목) 단 14일간, 신청금 500만원으로 단 480명,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헬로우시티의 미래가치 - </a:t>
            </a:r>
            <a:r>
              <a:rPr lang="ko-KR" altLang="en-US" sz="2667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조합원 지위 “계약권한” 획득 [선착순]</a:t>
            </a:r>
          </a:p>
        </p:txBody>
      </p:sp>
      <p:sp>
        <p:nvSpPr>
          <p:cNvPr id="4" name="텍스트 4: 23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  <p:sp>
        <p:nvSpPr>
          <p:cNvPr id="5" name="텍스트 5: 조합원 자격 임시 체크"/>
          <p:cNvSpPr txBox="1"/>
          <p:nvPr/>
        </p:nvSpPr>
        <p:spPr>
          <a:xfrm>
            <a:off x="918972" y="3426577"/>
            <a:ext cx="1770963" cy="2435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80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조합원 자격 임시 체크</a:t>
            </a:r>
          </a:p>
        </p:txBody>
      </p:sp>
      <p:sp>
        <p:nvSpPr>
          <p:cNvPr id="6" name="텍스트 6: 계좌번호 및 입금정보"/>
          <p:cNvSpPr txBox="1"/>
          <p:nvPr/>
        </p:nvSpPr>
        <p:spPr>
          <a:xfrm>
            <a:off x="941832" y="5100863"/>
            <a:ext cx="172497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4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계좌번호 및 입금정보</a:t>
            </a:r>
          </a:p>
        </p:txBody>
      </p:sp>
      <p:sp>
        <p:nvSpPr>
          <p:cNvPr id="7" name="텍스트 7: 신분증"/>
          <p:cNvSpPr txBox="1"/>
          <p:nvPr/>
        </p:nvSpPr>
        <p:spPr>
          <a:xfrm>
            <a:off x="5918961" y="3491740"/>
            <a:ext cx="6289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신분증</a:t>
            </a:r>
          </a:p>
        </p:txBody>
      </p:sp>
      <p:sp>
        <p:nvSpPr>
          <p:cNvPr id="8" name="텍스트 8: 등본"/>
          <p:cNvSpPr txBox="1"/>
          <p:nvPr/>
        </p:nvSpPr>
        <p:spPr>
          <a:xfrm>
            <a:off x="7346950" y="3491740"/>
            <a:ext cx="42773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등본</a:t>
            </a:r>
          </a:p>
        </p:txBody>
      </p:sp>
      <p:sp>
        <p:nvSpPr>
          <p:cNvPr id="9" name="텍스트 9: 통장사본"/>
          <p:cNvSpPr txBox="1"/>
          <p:nvPr/>
        </p:nvSpPr>
        <p:spPr>
          <a:xfrm>
            <a:off x="8473185" y="3491740"/>
            <a:ext cx="830073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통장사본</a:t>
            </a:r>
          </a:p>
        </p:txBody>
      </p:sp>
      <p:sp>
        <p:nvSpPr>
          <p:cNvPr id="10" name="텍스트 10: 선착순 480명에 한하여, 추첨 없이,"/>
          <p:cNvSpPr txBox="1"/>
          <p:nvPr/>
        </p:nvSpPr>
        <p:spPr>
          <a:xfrm>
            <a:off x="5753353" y="4681686"/>
            <a:ext cx="2978836" cy="57607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2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선착순 </a:t>
            </a:r>
            <a:r>
              <a:rPr lang="ko-KR" altLang="en-US" sz="1652" b="1" spc="-180" dirty="0">
                <a:solidFill>
                  <a:srgbClr val="E8CF8E"/>
                </a:solidFill>
                <a:latin typeface="맑은 고딕"/>
                <a:ea typeface="맑은 고딕"/>
                <a:cs typeface="맑은 고딕"/>
              </a:rPr>
              <a:t>480명</a:t>
            </a:r>
            <a:r>
              <a:rPr lang="ko-KR" altLang="en-US" sz="1652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 한하여, 추첨 없이,</a:t>
            </a:r>
          </a:p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헬로우시티 </a:t>
            </a:r>
            <a:r>
              <a:rPr lang="ko-KR" altLang="en-US" sz="1654" b="1" spc="-180" dirty="0">
                <a:solidFill>
                  <a:srgbClr val="E8CF8E"/>
                </a:solidFill>
                <a:latin typeface="맑은 고딕"/>
                <a:ea typeface="맑은 고딕"/>
                <a:cs typeface="맑은 고딕"/>
              </a:rPr>
              <a:t>조합원 지위 획득 </a:t>
            </a: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가능!</a:t>
            </a:r>
          </a:p>
        </p:txBody>
      </p:sp>
      <p:sp>
        <p:nvSpPr>
          <p:cNvPr id="11" name="텍스트 11: 구비 사항"/>
          <p:cNvSpPr txBox="1"/>
          <p:nvPr/>
        </p:nvSpPr>
        <p:spPr>
          <a:xfrm>
            <a:off x="4318761" y="1959264"/>
            <a:ext cx="785936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6" b="0" spc="-16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구비 사항</a:t>
            </a:r>
          </a:p>
        </p:txBody>
      </p:sp>
      <p:sp>
        <p:nvSpPr>
          <p:cNvPr id="12" name="텍스트 12: 조합원"/>
          <p:cNvSpPr txBox="1"/>
          <p:nvPr/>
        </p:nvSpPr>
        <p:spPr>
          <a:xfrm>
            <a:off x="4430014" y="4704845"/>
            <a:ext cx="1020571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67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67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선착순 확정</a:t>
            </a:r>
          </a:p>
        </p:txBody>
      </p:sp>
      <p:sp>
        <p:nvSpPr>
          <p:cNvPr id="13" name="텍스트 13: 이 후 200명(예정)에 한하여,"/>
          <p:cNvSpPr txBox="1"/>
          <p:nvPr/>
        </p:nvSpPr>
        <p:spPr>
          <a:xfrm>
            <a:off x="5753353" y="5482116"/>
            <a:ext cx="2895396" cy="57607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후 </a:t>
            </a:r>
            <a:r>
              <a:rPr lang="ko-KR" altLang="en-US" sz="1654" b="1" spc="-180" dirty="0">
                <a:solidFill>
                  <a:srgbClr val="E8CF8E"/>
                </a:solidFill>
                <a:latin typeface="맑은 고딕"/>
                <a:ea typeface="맑은 고딕"/>
                <a:cs typeface="맑은 고딕"/>
              </a:rPr>
              <a:t>200명(예정)</a:t>
            </a: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 한하여,</a:t>
            </a:r>
          </a:p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헬로우시티 </a:t>
            </a:r>
            <a:r>
              <a:rPr lang="ko-KR" altLang="en-US" sz="1654" b="1" spc="-180" dirty="0">
                <a:solidFill>
                  <a:srgbClr val="E8CF8E"/>
                </a:solidFill>
                <a:latin typeface="맑은 고딕"/>
                <a:ea typeface="맑은 고딕"/>
                <a:cs typeface="맑은 고딕"/>
              </a:rPr>
              <a:t>예비자 지위 획득 </a:t>
            </a: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가능!</a:t>
            </a:r>
          </a:p>
        </p:txBody>
      </p:sp>
      <p:sp>
        <p:nvSpPr>
          <p:cNvPr id="14" name="텍스트 14: 예비자"/>
          <p:cNvSpPr txBox="1"/>
          <p:nvPr/>
        </p:nvSpPr>
        <p:spPr>
          <a:xfrm>
            <a:off x="4430014" y="5504919"/>
            <a:ext cx="1020841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65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예비자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68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선착순 확정</a:t>
            </a:r>
          </a:p>
        </p:txBody>
      </p:sp>
      <p:sp>
        <p:nvSpPr>
          <p:cNvPr id="15" name="텍스트 15: 신청금"/>
          <p:cNvSpPr txBox="1"/>
          <p:nvPr/>
        </p:nvSpPr>
        <p:spPr>
          <a:xfrm>
            <a:off x="4450841" y="3491740"/>
            <a:ext cx="885240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신청금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500만원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99.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5  ·  미래가치와 결정  │  99.9% 안정적인 사업성 확보</a:t>
            </a:r>
          </a:p>
        </p:txBody>
      </p:sp>
      <p:sp>
        <p:nvSpPr>
          <p:cNvPr id="3" name="텍스트 3: 10/23(금) ~ 10/25(일) 3일간, 선착순 4"/>
          <p:cNvSpPr txBox="1"/>
          <p:nvPr/>
        </p:nvSpPr>
        <p:spPr>
          <a:xfrm>
            <a:off x="304800" y="664811"/>
            <a:ext cx="8907599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1" b="1" spc="-20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10/23(금) ~ 10/25(일) 3일간, 선착순 480명 - 정계약 체결 가능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정계약 기간 내에는 “단 1회”에 한하여 “계약 권한” 양도 가능</a:t>
            </a:r>
          </a:p>
        </p:txBody>
      </p:sp>
      <p:sp>
        <p:nvSpPr>
          <p:cNvPr id="4" name="텍스트 4: 25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sp>
        <p:nvSpPr>
          <p:cNvPr id="5" name="텍스트 5: 10/23(금) ~ 10/25(일)"/>
          <p:cNvSpPr txBox="1"/>
          <p:nvPr/>
        </p:nvSpPr>
        <p:spPr>
          <a:xfrm>
            <a:off x="1818894" y="2062694"/>
            <a:ext cx="1849466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1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10/23(금) ~ 10/25(일)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6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[3일간]</a:t>
            </a:r>
          </a:p>
        </p:txBody>
      </p:sp>
      <p:sp>
        <p:nvSpPr>
          <p:cNvPr id="6" name="텍스트 6: 우선 신청자 중"/>
          <p:cNvSpPr txBox="1"/>
          <p:nvPr/>
        </p:nvSpPr>
        <p:spPr>
          <a:xfrm>
            <a:off x="2088133" y="2893951"/>
            <a:ext cx="133642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8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우선 신청자 중</a:t>
            </a:r>
          </a:p>
        </p:txBody>
      </p:sp>
      <p:sp>
        <p:nvSpPr>
          <p:cNvPr id="7" name="텍스트 7: 계약 권한자"/>
          <p:cNvSpPr txBox="1"/>
          <p:nvPr/>
        </p:nvSpPr>
        <p:spPr>
          <a:xfrm>
            <a:off x="2214626" y="3168272"/>
            <a:ext cx="1083665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3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계약 권한자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3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정계약 체결</a:t>
            </a:r>
          </a:p>
        </p:txBody>
      </p:sp>
      <p:sp>
        <p:nvSpPr>
          <p:cNvPr id="8" name="텍스트 8: 10/26(월) ~ 10/30(금)"/>
          <p:cNvSpPr txBox="1"/>
          <p:nvPr/>
        </p:nvSpPr>
        <p:spPr>
          <a:xfrm>
            <a:off x="4664202" y="2062694"/>
            <a:ext cx="1849465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1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10/26(월) ~ 10/30(금)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9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[5일간] 예정</a:t>
            </a:r>
          </a:p>
        </p:txBody>
      </p:sp>
      <p:sp>
        <p:nvSpPr>
          <p:cNvPr id="9" name="텍스트 9: 우선 신청자 중"/>
          <p:cNvSpPr txBox="1"/>
          <p:nvPr/>
        </p:nvSpPr>
        <p:spPr>
          <a:xfrm>
            <a:off x="4933441" y="2893951"/>
            <a:ext cx="1336421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8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우선 신청자 중</a:t>
            </a:r>
          </a:p>
        </p:txBody>
      </p:sp>
      <p:sp>
        <p:nvSpPr>
          <p:cNvPr id="10" name="텍스트 10: 예비자"/>
          <p:cNvSpPr txBox="1"/>
          <p:nvPr/>
        </p:nvSpPr>
        <p:spPr>
          <a:xfrm>
            <a:off x="5047234" y="3168272"/>
            <a:ext cx="1083436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예비자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정계약 체결</a:t>
            </a:r>
          </a:p>
        </p:txBody>
      </p:sp>
      <p:sp>
        <p:nvSpPr>
          <p:cNvPr id="11" name="텍스트 11: 10/31(토) 부터"/>
          <p:cNvSpPr txBox="1"/>
          <p:nvPr/>
        </p:nvSpPr>
        <p:spPr>
          <a:xfrm>
            <a:off x="7849869" y="2168875"/>
            <a:ext cx="119297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2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10/31(토) 부터</a:t>
            </a:r>
          </a:p>
        </p:txBody>
      </p:sp>
      <p:sp>
        <p:nvSpPr>
          <p:cNvPr id="12" name="텍스트 12: 잔여 지위"/>
          <p:cNvSpPr txBox="1"/>
          <p:nvPr/>
        </p:nvSpPr>
        <p:spPr>
          <a:xfrm>
            <a:off x="8005826" y="2893951"/>
            <a:ext cx="88188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5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잔여 지위</a:t>
            </a:r>
          </a:p>
        </p:txBody>
      </p:sp>
      <p:sp>
        <p:nvSpPr>
          <p:cNvPr id="13" name="텍스트 13: 선착순"/>
          <p:cNvSpPr txBox="1"/>
          <p:nvPr/>
        </p:nvSpPr>
        <p:spPr>
          <a:xfrm>
            <a:off x="8019033" y="3168272"/>
            <a:ext cx="830073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선착순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계약체결</a:t>
            </a:r>
          </a:p>
        </p:txBody>
      </p:sp>
      <p:sp>
        <p:nvSpPr>
          <p:cNvPr id="14" name="텍스트 14: 잔여 시"/>
          <p:cNvSpPr txBox="1"/>
          <p:nvPr/>
        </p:nvSpPr>
        <p:spPr>
          <a:xfrm>
            <a:off x="3874261" y="2854929"/>
            <a:ext cx="53587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잔여 시</a:t>
            </a:r>
          </a:p>
        </p:txBody>
      </p:sp>
      <p:sp>
        <p:nvSpPr>
          <p:cNvPr id="15" name="텍스트 15: 잔여 시"/>
          <p:cNvSpPr txBox="1"/>
          <p:nvPr/>
        </p:nvSpPr>
        <p:spPr>
          <a:xfrm>
            <a:off x="6719569" y="2854929"/>
            <a:ext cx="53587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잔여 시</a:t>
            </a:r>
          </a:p>
        </p:txBody>
      </p:sp>
      <p:sp>
        <p:nvSpPr>
          <p:cNvPr id="16" name="텍스트 16: 정계약 및"/>
          <p:cNvSpPr txBox="1"/>
          <p:nvPr/>
        </p:nvSpPr>
        <p:spPr>
          <a:xfrm>
            <a:off x="559308" y="2597267"/>
            <a:ext cx="786509" cy="2435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7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정계약 및</a:t>
            </a:r>
          </a:p>
        </p:txBody>
      </p:sp>
      <p:sp>
        <p:nvSpPr>
          <p:cNvPr id="17" name="텍스트 17: 예비자"/>
          <p:cNvSpPr txBox="1"/>
          <p:nvPr/>
        </p:nvSpPr>
        <p:spPr>
          <a:xfrm>
            <a:off x="546608" y="2841162"/>
            <a:ext cx="786241" cy="4876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2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예비자</a:t>
            </a:r>
          </a:p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2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계약 체결</a:t>
            </a:r>
          </a:p>
        </p:txBody>
      </p:sp>
      <p:sp>
        <p:nvSpPr>
          <p:cNvPr id="18" name="텍스트 18: “계약권한”"/>
          <p:cNvSpPr txBox="1"/>
          <p:nvPr/>
        </p:nvSpPr>
        <p:spPr>
          <a:xfrm>
            <a:off x="1999233" y="5205818"/>
            <a:ext cx="1488820" cy="5487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5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“계약권한”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단 1회에 한하여</a:t>
            </a:r>
          </a:p>
        </p:txBody>
      </p:sp>
      <p:sp>
        <p:nvSpPr>
          <p:cNvPr id="19" name="텍스트 19: 양도 가능"/>
          <p:cNvSpPr txBox="1"/>
          <p:nvPr/>
        </p:nvSpPr>
        <p:spPr>
          <a:xfrm>
            <a:off x="2315210" y="5754550"/>
            <a:ext cx="88226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6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양도 가능</a:t>
            </a:r>
          </a:p>
        </p:txBody>
      </p:sp>
      <p:sp>
        <p:nvSpPr>
          <p:cNvPr id="20" name="텍스트 20: 착공 후 3개월 경"/>
          <p:cNvSpPr txBox="1"/>
          <p:nvPr/>
        </p:nvSpPr>
        <p:spPr>
          <a:xfrm>
            <a:off x="4998465" y="4480783"/>
            <a:ext cx="120669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착공 후 3개월 경</a:t>
            </a:r>
          </a:p>
        </p:txBody>
      </p:sp>
      <p:sp>
        <p:nvSpPr>
          <p:cNvPr id="21" name="텍스트 21: “조합원 지위”"/>
          <p:cNvSpPr txBox="1"/>
          <p:nvPr/>
        </p:nvSpPr>
        <p:spPr>
          <a:xfrm>
            <a:off x="4941061" y="5343019"/>
            <a:ext cx="132163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“조합원 지위”</a:t>
            </a:r>
          </a:p>
        </p:txBody>
      </p:sp>
      <p:sp>
        <p:nvSpPr>
          <p:cNvPr id="22" name="텍스트 22: 양도 가능"/>
          <p:cNvSpPr txBox="1"/>
          <p:nvPr/>
        </p:nvSpPr>
        <p:spPr>
          <a:xfrm>
            <a:off x="5160517" y="5617390"/>
            <a:ext cx="882269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6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양도 가능</a:t>
            </a:r>
          </a:p>
        </p:txBody>
      </p:sp>
      <p:sp>
        <p:nvSpPr>
          <p:cNvPr id="23" name="텍스트 23: 이후 매월 1회"/>
          <p:cNvSpPr txBox="1"/>
          <p:nvPr/>
        </p:nvSpPr>
        <p:spPr>
          <a:xfrm>
            <a:off x="7941309" y="4480783"/>
            <a:ext cx="101009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1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이후 매월 1회</a:t>
            </a:r>
          </a:p>
        </p:txBody>
      </p:sp>
      <p:sp>
        <p:nvSpPr>
          <p:cNvPr id="24" name="텍스트 24: “조합원 지위”"/>
          <p:cNvSpPr txBox="1"/>
          <p:nvPr/>
        </p:nvSpPr>
        <p:spPr>
          <a:xfrm>
            <a:off x="7786369" y="5343019"/>
            <a:ext cx="132163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“조합원 지위”</a:t>
            </a:r>
          </a:p>
        </p:txBody>
      </p:sp>
      <p:sp>
        <p:nvSpPr>
          <p:cNvPr id="25" name="텍스트 25: 양도 가능"/>
          <p:cNvSpPr txBox="1"/>
          <p:nvPr/>
        </p:nvSpPr>
        <p:spPr>
          <a:xfrm>
            <a:off x="8005826" y="5617390"/>
            <a:ext cx="882193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5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양도 가능</a:t>
            </a:r>
          </a:p>
        </p:txBody>
      </p:sp>
      <p:sp>
        <p:nvSpPr>
          <p:cNvPr id="26" name="텍스트 26: 계약 권한 및"/>
          <p:cNvSpPr txBox="1"/>
          <p:nvPr/>
        </p:nvSpPr>
        <p:spPr>
          <a:xfrm>
            <a:off x="446531" y="4909175"/>
            <a:ext cx="1010537" cy="2435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83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계약 권한 및</a:t>
            </a:r>
          </a:p>
        </p:txBody>
      </p:sp>
      <p:sp>
        <p:nvSpPr>
          <p:cNvPr id="27" name="텍스트 27: 조합원 지위"/>
          <p:cNvSpPr txBox="1"/>
          <p:nvPr/>
        </p:nvSpPr>
        <p:spPr>
          <a:xfrm>
            <a:off x="469391" y="5153568"/>
            <a:ext cx="964549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3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조합원 지위</a:t>
            </a:r>
          </a:p>
        </p:txBody>
      </p:sp>
      <p:sp>
        <p:nvSpPr>
          <p:cNvPr id="28" name="텍스트 28: 양도 일정"/>
          <p:cNvSpPr txBox="1"/>
          <p:nvPr/>
        </p:nvSpPr>
        <p:spPr>
          <a:xfrm>
            <a:off x="559308" y="5397459"/>
            <a:ext cx="78624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7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양도 일정</a:t>
            </a:r>
          </a:p>
        </p:txBody>
      </p:sp>
      <p:sp>
        <p:nvSpPr>
          <p:cNvPr id="29" name="텍스트 29: 정계약 기간"/>
          <p:cNvSpPr txBox="1"/>
          <p:nvPr/>
        </p:nvSpPr>
        <p:spPr>
          <a:xfrm>
            <a:off x="2331720" y="4480783"/>
            <a:ext cx="84982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정계약 기간</a:t>
            </a:r>
          </a:p>
        </p:txBody>
      </p:sp>
      <p:sp>
        <p:nvSpPr>
          <p:cNvPr id="30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31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32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33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34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99.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5  ·  미래가치와 결정  │  99.9% 안정적인 사업성 확보</a:t>
            </a:r>
          </a:p>
        </p:txBody>
      </p:sp>
      <p:sp>
        <p:nvSpPr>
          <p:cNvPr id="3" name="텍스트 3: 총분담금은 평균금액으로, 동·호수(층)별 분담금은 총회"/>
          <p:cNvSpPr txBox="1"/>
          <p:nvPr/>
        </p:nvSpPr>
        <p:spPr>
          <a:xfrm>
            <a:off x="292303" y="664811"/>
            <a:ext cx="9445276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총분담금은 평균금액으로, 동·호수(층)별 분담금은 총회를 통해 결정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사업계획승인 전 주택형 및 세대수는 변동 가능 → 승인 후 추첨 배정 예정</a:t>
            </a:r>
          </a:p>
        </p:txBody>
      </p:sp>
      <p:sp>
        <p:nvSpPr>
          <p:cNvPr id="4" name="텍스트 4: 26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5" name="텍스트 5: 배정 시기"/>
          <p:cNvSpPr txBox="1"/>
          <p:nvPr/>
        </p:nvSpPr>
        <p:spPr>
          <a:xfrm>
            <a:off x="702563" y="3471198"/>
            <a:ext cx="49972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3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배정 시기</a:t>
            </a:r>
          </a:p>
        </p:txBody>
      </p:sp>
      <p:sp>
        <p:nvSpPr>
          <p:cNvPr id="6" name="텍스트 6: 동·호수 배정 시기는 사업계획승인 후 조합 총회에서 결"/>
          <p:cNvSpPr txBox="1"/>
          <p:nvPr/>
        </p:nvSpPr>
        <p:spPr>
          <a:xfrm>
            <a:off x="1647189" y="3471198"/>
            <a:ext cx="321117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8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동·호수 배정 시기는 사업계획승인 후 조합 총회에서 결의 후 안내</a:t>
            </a:r>
          </a:p>
        </p:txBody>
      </p:sp>
      <p:sp>
        <p:nvSpPr>
          <p:cNvPr id="7" name="텍스트 7: 배정 방법"/>
          <p:cNvSpPr txBox="1"/>
          <p:nvPr/>
        </p:nvSpPr>
        <p:spPr>
          <a:xfrm>
            <a:off x="702563" y="3839498"/>
            <a:ext cx="49972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3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배정 방법</a:t>
            </a:r>
          </a:p>
        </p:txBody>
      </p:sp>
      <p:sp>
        <p:nvSpPr>
          <p:cNvPr id="8" name="텍스트 8: 조합가입 계약체결이 완료되고 납부일정에 따른 조합원 분"/>
          <p:cNvSpPr txBox="1"/>
          <p:nvPr/>
        </p:nvSpPr>
        <p:spPr>
          <a:xfrm>
            <a:off x="1647189" y="3752883"/>
            <a:ext cx="5371018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1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조합가입 계약체결이 완료되고 납부일정에 따른 조합원 분담금 및 업무대행비 전액을 완납한 조합원에 한하여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1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추후 공지되는 장소에서 조합원의 입회하에 공개추첨으로 동·호수를 배정함</a:t>
            </a:r>
          </a:p>
        </p:txBody>
      </p:sp>
      <p:sp>
        <p:nvSpPr>
          <p:cNvPr id="9" name="텍스트 9: ※ 단. 추후 인·허가 변경에 따라 동·호수 배치는 변"/>
          <p:cNvSpPr txBox="1"/>
          <p:nvPr/>
        </p:nvSpPr>
        <p:spPr>
          <a:xfrm>
            <a:off x="304800" y="4193161"/>
            <a:ext cx="760872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4" b="0" spc="-120" dirty="0">
                <a:solidFill>
                  <a:srgbClr val="5E6B63"/>
                </a:solidFill>
                <a:latin typeface="맑은 고딕"/>
                <a:ea typeface="맑은 고딕"/>
                <a:cs typeface="맑은 고딕"/>
              </a:rPr>
              <a:t>※ 단. 추후 인·허가 변경에 따라 동·호수 배치는 변경될 수 있으며, 동·호수 및 배치는 사업계획 승인 이후 확정됨을 알려 드립니다.</a:t>
            </a:r>
          </a:p>
        </p:txBody>
      </p:sp>
      <p:sp>
        <p:nvSpPr>
          <p:cNvPr id="10" name="텍스트 10: 주택형 계획"/>
          <p:cNvSpPr txBox="1"/>
          <p:nvPr/>
        </p:nvSpPr>
        <p:spPr>
          <a:xfrm>
            <a:off x="593445" y="2085628"/>
            <a:ext cx="60915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주택형 계획</a:t>
            </a:r>
          </a:p>
        </p:txBody>
      </p:sp>
      <p:sp>
        <p:nvSpPr>
          <p:cNvPr id="11" name="텍스트 11: 세대수 계획"/>
          <p:cNvSpPr txBox="1"/>
          <p:nvPr/>
        </p:nvSpPr>
        <p:spPr>
          <a:xfrm>
            <a:off x="1755648" y="2085628"/>
            <a:ext cx="60915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세대수 계획</a:t>
            </a:r>
          </a:p>
        </p:txBody>
      </p:sp>
      <p:sp>
        <p:nvSpPr>
          <p:cNvPr id="12" name="텍스트 12: 전용면적(㎡)"/>
          <p:cNvSpPr txBox="1"/>
          <p:nvPr/>
        </p:nvSpPr>
        <p:spPr>
          <a:xfrm>
            <a:off x="2885820" y="2085628"/>
            <a:ext cx="6742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8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전용면적(㎡)</a:t>
            </a:r>
          </a:p>
        </p:txBody>
      </p:sp>
      <p:sp>
        <p:nvSpPr>
          <p:cNvPr id="13" name="텍스트 13: 공용면적(㎡)"/>
          <p:cNvSpPr txBox="1"/>
          <p:nvPr/>
        </p:nvSpPr>
        <p:spPr>
          <a:xfrm>
            <a:off x="4047997" y="2085628"/>
            <a:ext cx="6742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8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공용면적(㎡)</a:t>
            </a:r>
          </a:p>
        </p:txBody>
      </p:sp>
      <p:sp>
        <p:nvSpPr>
          <p:cNvPr id="14" name="텍스트 14: 공급면적(㎡)"/>
          <p:cNvSpPr txBox="1"/>
          <p:nvPr/>
        </p:nvSpPr>
        <p:spPr>
          <a:xfrm>
            <a:off x="5210555" y="2085628"/>
            <a:ext cx="67382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8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공급면적(㎡)</a:t>
            </a:r>
          </a:p>
        </p:txBody>
      </p:sp>
      <p:sp>
        <p:nvSpPr>
          <p:cNvPr id="15" name="텍스트 15: 기타공용면적(㎡)"/>
          <p:cNvSpPr txBox="1"/>
          <p:nvPr/>
        </p:nvSpPr>
        <p:spPr>
          <a:xfrm>
            <a:off x="6261480" y="2085628"/>
            <a:ext cx="89632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9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기타공용면적(㎡)</a:t>
            </a:r>
          </a:p>
        </p:txBody>
      </p:sp>
      <p:sp>
        <p:nvSpPr>
          <p:cNvPr id="16" name="텍스트 16: 계약면적(㎡)"/>
          <p:cNvSpPr txBox="1"/>
          <p:nvPr/>
        </p:nvSpPr>
        <p:spPr>
          <a:xfrm>
            <a:off x="7534909" y="2085628"/>
            <a:ext cx="67382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8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계약면적(㎡)</a:t>
            </a:r>
          </a:p>
        </p:txBody>
      </p:sp>
      <p:sp>
        <p:nvSpPr>
          <p:cNvPr id="17" name="텍스트 17: 대지지분(㎡)"/>
          <p:cNvSpPr txBox="1"/>
          <p:nvPr/>
        </p:nvSpPr>
        <p:spPr>
          <a:xfrm>
            <a:off x="8697214" y="2085628"/>
            <a:ext cx="67382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8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대지지분(㎡)</a:t>
            </a:r>
          </a:p>
        </p:txBody>
      </p:sp>
      <p:sp>
        <p:nvSpPr>
          <p:cNvPr id="18" name="텍스트 18: 84A"/>
          <p:cNvSpPr txBox="1"/>
          <p:nvPr/>
        </p:nvSpPr>
        <p:spPr>
          <a:xfrm>
            <a:off x="753465" y="2327055"/>
            <a:ext cx="28955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84A</a:t>
            </a:r>
          </a:p>
        </p:txBody>
      </p:sp>
      <p:sp>
        <p:nvSpPr>
          <p:cNvPr id="19" name="텍스트 19: 203"/>
          <p:cNvSpPr txBox="1"/>
          <p:nvPr/>
        </p:nvSpPr>
        <p:spPr>
          <a:xfrm>
            <a:off x="1921764" y="2327055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6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203</a:t>
            </a:r>
          </a:p>
        </p:txBody>
      </p:sp>
      <p:sp>
        <p:nvSpPr>
          <p:cNvPr id="20" name="텍스트 20: 84.51"/>
          <p:cNvSpPr txBox="1"/>
          <p:nvPr/>
        </p:nvSpPr>
        <p:spPr>
          <a:xfrm>
            <a:off x="3027298" y="23270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84.51</a:t>
            </a:r>
          </a:p>
        </p:txBody>
      </p:sp>
      <p:sp>
        <p:nvSpPr>
          <p:cNvPr id="21" name="텍스트 21: 31.70"/>
          <p:cNvSpPr txBox="1"/>
          <p:nvPr/>
        </p:nvSpPr>
        <p:spPr>
          <a:xfrm>
            <a:off x="4189476" y="23270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31.70</a:t>
            </a:r>
          </a:p>
        </p:txBody>
      </p:sp>
      <p:sp>
        <p:nvSpPr>
          <p:cNvPr id="22" name="텍스트 22: 116.21"/>
          <p:cNvSpPr txBox="1"/>
          <p:nvPr/>
        </p:nvSpPr>
        <p:spPr>
          <a:xfrm>
            <a:off x="5308980" y="2327055"/>
            <a:ext cx="47748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116.21</a:t>
            </a:r>
          </a:p>
        </p:txBody>
      </p:sp>
      <p:sp>
        <p:nvSpPr>
          <p:cNvPr id="23" name="텍스트 23: 70.14"/>
          <p:cNvSpPr txBox="1"/>
          <p:nvPr/>
        </p:nvSpPr>
        <p:spPr>
          <a:xfrm>
            <a:off x="6513830" y="2327055"/>
            <a:ext cx="3936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70.14</a:t>
            </a:r>
          </a:p>
        </p:txBody>
      </p:sp>
      <p:sp>
        <p:nvSpPr>
          <p:cNvPr id="24" name="텍스트 24: 186.35"/>
          <p:cNvSpPr txBox="1"/>
          <p:nvPr/>
        </p:nvSpPr>
        <p:spPr>
          <a:xfrm>
            <a:off x="7633461" y="2327055"/>
            <a:ext cx="47748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186.35</a:t>
            </a:r>
          </a:p>
        </p:txBody>
      </p:sp>
      <p:sp>
        <p:nvSpPr>
          <p:cNvPr id="25" name="텍스트 25: 14.6131"/>
          <p:cNvSpPr txBox="1"/>
          <p:nvPr/>
        </p:nvSpPr>
        <p:spPr>
          <a:xfrm>
            <a:off x="8754491" y="2327055"/>
            <a:ext cx="560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14.6131</a:t>
            </a:r>
          </a:p>
        </p:txBody>
      </p:sp>
      <p:sp>
        <p:nvSpPr>
          <p:cNvPr id="26" name="텍스트 26: 84B"/>
          <p:cNvSpPr txBox="1"/>
          <p:nvPr/>
        </p:nvSpPr>
        <p:spPr>
          <a:xfrm>
            <a:off x="753465" y="2555655"/>
            <a:ext cx="29005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3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84B</a:t>
            </a:r>
          </a:p>
        </p:txBody>
      </p:sp>
      <p:sp>
        <p:nvSpPr>
          <p:cNvPr id="27" name="텍스트 27: 160"/>
          <p:cNvSpPr txBox="1"/>
          <p:nvPr/>
        </p:nvSpPr>
        <p:spPr>
          <a:xfrm>
            <a:off x="1921764" y="2555655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6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160</a:t>
            </a:r>
          </a:p>
        </p:txBody>
      </p:sp>
      <p:sp>
        <p:nvSpPr>
          <p:cNvPr id="28" name="텍스트 28: 84.52"/>
          <p:cNvSpPr txBox="1"/>
          <p:nvPr/>
        </p:nvSpPr>
        <p:spPr>
          <a:xfrm>
            <a:off x="3027298" y="25556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84.52</a:t>
            </a:r>
          </a:p>
        </p:txBody>
      </p:sp>
      <p:sp>
        <p:nvSpPr>
          <p:cNvPr id="29" name="텍스트 29: 32.14"/>
          <p:cNvSpPr txBox="1"/>
          <p:nvPr/>
        </p:nvSpPr>
        <p:spPr>
          <a:xfrm>
            <a:off x="4189476" y="25556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32.14</a:t>
            </a:r>
          </a:p>
        </p:txBody>
      </p:sp>
      <p:sp>
        <p:nvSpPr>
          <p:cNvPr id="30" name="텍스트 30: 116.66"/>
          <p:cNvSpPr txBox="1"/>
          <p:nvPr/>
        </p:nvSpPr>
        <p:spPr>
          <a:xfrm>
            <a:off x="5308980" y="2555655"/>
            <a:ext cx="47748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116.66</a:t>
            </a:r>
          </a:p>
        </p:txBody>
      </p:sp>
      <p:sp>
        <p:nvSpPr>
          <p:cNvPr id="31" name="텍스트 31: 70.15"/>
          <p:cNvSpPr txBox="1"/>
          <p:nvPr/>
        </p:nvSpPr>
        <p:spPr>
          <a:xfrm>
            <a:off x="6513830" y="2555655"/>
            <a:ext cx="3936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70.15</a:t>
            </a:r>
          </a:p>
        </p:txBody>
      </p:sp>
      <p:sp>
        <p:nvSpPr>
          <p:cNvPr id="32" name="텍스트 32: 186.81"/>
          <p:cNvSpPr txBox="1"/>
          <p:nvPr/>
        </p:nvSpPr>
        <p:spPr>
          <a:xfrm>
            <a:off x="7633461" y="2555655"/>
            <a:ext cx="47748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186.81</a:t>
            </a:r>
          </a:p>
        </p:txBody>
      </p:sp>
      <p:sp>
        <p:nvSpPr>
          <p:cNvPr id="33" name="텍스트 33: 14.6149"/>
          <p:cNvSpPr txBox="1"/>
          <p:nvPr/>
        </p:nvSpPr>
        <p:spPr>
          <a:xfrm>
            <a:off x="8754491" y="2555655"/>
            <a:ext cx="560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14.6149</a:t>
            </a:r>
          </a:p>
        </p:txBody>
      </p:sp>
      <p:sp>
        <p:nvSpPr>
          <p:cNvPr id="34" name="텍스트 34: 84C"/>
          <p:cNvSpPr txBox="1"/>
          <p:nvPr/>
        </p:nvSpPr>
        <p:spPr>
          <a:xfrm>
            <a:off x="754989" y="2784255"/>
            <a:ext cx="2862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2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84C</a:t>
            </a:r>
          </a:p>
        </p:txBody>
      </p:sp>
      <p:sp>
        <p:nvSpPr>
          <p:cNvPr id="35" name="텍스트 35: 117"/>
          <p:cNvSpPr txBox="1"/>
          <p:nvPr/>
        </p:nvSpPr>
        <p:spPr>
          <a:xfrm>
            <a:off x="1921764" y="2784255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6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117</a:t>
            </a:r>
          </a:p>
        </p:txBody>
      </p:sp>
      <p:sp>
        <p:nvSpPr>
          <p:cNvPr id="36" name="텍스트 36: 84.49"/>
          <p:cNvSpPr txBox="1"/>
          <p:nvPr/>
        </p:nvSpPr>
        <p:spPr>
          <a:xfrm>
            <a:off x="3027298" y="27842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84.49</a:t>
            </a:r>
          </a:p>
        </p:txBody>
      </p:sp>
      <p:sp>
        <p:nvSpPr>
          <p:cNvPr id="37" name="텍스트 37: 31.63"/>
          <p:cNvSpPr txBox="1"/>
          <p:nvPr/>
        </p:nvSpPr>
        <p:spPr>
          <a:xfrm>
            <a:off x="4189476" y="27842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31.63</a:t>
            </a:r>
          </a:p>
        </p:txBody>
      </p:sp>
      <p:sp>
        <p:nvSpPr>
          <p:cNvPr id="38" name="텍스트 38: 116.12"/>
          <p:cNvSpPr txBox="1"/>
          <p:nvPr/>
        </p:nvSpPr>
        <p:spPr>
          <a:xfrm>
            <a:off x="5308980" y="2784255"/>
            <a:ext cx="47748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116.12</a:t>
            </a:r>
          </a:p>
        </p:txBody>
      </p:sp>
      <p:sp>
        <p:nvSpPr>
          <p:cNvPr id="39" name="텍스트 39: 70.13"/>
          <p:cNvSpPr txBox="1"/>
          <p:nvPr/>
        </p:nvSpPr>
        <p:spPr>
          <a:xfrm>
            <a:off x="6513830" y="2784255"/>
            <a:ext cx="3936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70.13</a:t>
            </a:r>
          </a:p>
        </p:txBody>
      </p:sp>
      <p:sp>
        <p:nvSpPr>
          <p:cNvPr id="40" name="텍스트 40: 186.25"/>
          <p:cNvSpPr txBox="1"/>
          <p:nvPr/>
        </p:nvSpPr>
        <p:spPr>
          <a:xfrm>
            <a:off x="7633461" y="2784255"/>
            <a:ext cx="47748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186.25</a:t>
            </a:r>
          </a:p>
        </p:txBody>
      </p:sp>
      <p:sp>
        <p:nvSpPr>
          <p:cNvPr id="41" name="텍스트 41: 14.6097"/>
          <p:cNvSpPr txBox="1"/>
          <p:nvPr/>
        </p:nvSpPr>
        <p:spPr>
          <a:xfrm>
            <a:off x="8754491" y="2784255"/>
            <a:ext cx="560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14.6097</a:t>
            </a:r>
          </a:p>
        </p:txBody>
      </p:sp>
      <p:sp>
        <p:nvSpPr>
          <p:cNvPr id="42" name="텍스트 42: 구분"/>
          <p:cNvSpPr txBox="1"/>
          <p:nvPr/>
        </p:nvSpPr>
        <p:spPr>
          <a:xfrm>
            <a:off x="422148" y="5152170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43" name="텍스트 43: 분담금총액"/>
          <p:cNvSpPr txBox="1"/>
          <p:nvPr/>
        </p:nvSpPr>
        <p:spPr>
          <a:xfrm>
            <a:off x="902512" y="5152170"/>
            <a:ext cx="58172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분담금총액</a:t>
            </a:r>
          </a:p>
        </p:txBody>
      </p:sp>
      <p:sp>
        <p:nvSpPr>
          <p:cNvPr id="44" name="텍스트 44: 계약금"/>
          <p:cNvSpPr txBox="1"/>
          <p:nvPr/>
        </p:nvSpPr>
        <p:spPr>
          <a:xfrm>
            <a:off x="2545969" y="4847370"/>
            <a:ext cx="3592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계약금</a:t>
            </a:r>
          </a:p>
        </p:txBody>
      </p:sp>
      <p:sp>
        <p:nvSpPr>
          <p:cNvPr id="45" name="텍스트 45: 중도금"/>
          <p:cNvSpPr txBox="1"/>
          <p:nvPr/>
        </p:nvSpPr>
        <p:spPr>
          <a:xfrm>
            <a:off x="6192265" y="4847370"/>
            <a:ext cx="3592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중도금</a:t>
            </a:r>
          </a:p>
        </p:txBody>
      </p:sp>
      <p:sp>
        <p:nvSpPr>
          <p:cNvPr id="46" name="텍스트 46: 잔금(10%)"/>
          <p:cNvSpPr txBox="1"/>
          <p:nvPr/>
        </p:nvSpPr>
        <p:spPr>
          <a:xfrm>
            <a:off x="8951721" y="4974497"/>
            <a:ext cx="62497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잔금(10%)</a:t>
            </a:r>
          </a:p>
        </p:txBody>
      </p:sp>
      <p:sp>
        <p:nvSpPr>
          <p:cNvPr id="47" name="텍스트 47: 우선신청금"/>
          <p:cNvSpPr txBox="1"/>
          <p:nvPr/>
        </p:nvSpPr>
        <p:spPr>
          <a:xfrm>
            <a:off x="1704720" y="5101071"/>
            <a:ext cx="581990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우선신청금</a:t>
            </a:r>
          </a:p>
        </p:txBody>
      </p:sp>
      <p:sp>
        <p:nvSpPr>
          <p:cNvPr id="48" name="텍스트 48: 1차(10%)"/>
          <p:cNvSpPr txBox="1"/>
          <p:nvPr/>
        </p:nvSpPr>
        <p:spPr>
          <a:xfrm>
            <a:off x="2461260" y="5101071"/>
            <a:ext cx="598199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1차(10%)</a:t>
            </a:r>
          </a:p>
        </p:txBody>
      </p:sp>
      <p:sp>
        <p:nvSpPr>
          <p:cNvPr id="49" name="텍스트 49: 2차(10%)"/>
          <p:cNvSpPr txBox="1"/>
          <p:nvPr/>
        </p:nvSpPr>
        <p:spPr>
          <a:xfrm>
            <a:off x="3205226" y="5101071"/>
            <a:ext cx="597946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2차(10%)</a:t>
            </a:r>
          </a:p>
        </p:txBody>
      </p:sp>
      <p:sp>
        <p:nvSpPr>
          <p:cNvPr id="50" name="텍스트 50: 1차(10%)"/>
          <p:cNvSpPr txBox="1"/>
          <p:nvPr/>
        </p:nvSpPr>
        <p:spPr>
          <a:xfrm>
            <a:off x="3926459" y="5101071"/>
            <a:ext cx="597946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1차(10%)</a:t>
            </a:r>
          </a:p>
        </p:txBody>
      </p:sp>
      <p:sp>
        <p:nvSpPr>
          <p:cNvPr id="51" name="텍스트 51: 2차(10%)"/>
          <p:cNvSpPr txBox="1"/>
          <p:nvPr/>
        </p:nvSpPr>
        <p:spPr>
          <a:xfrm>
            <a:off x="4646421" y="5101071"/>
            <a:ext cx="597946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2차(10%)</a:t>
            </a:r>
          </a:p>
        </p:txBody>
      </p:sp>
      <p:sp>
        <p:nvSpPr>
          <p:cNvPr id="52" name="텍스트 52: 3차(10%)"/>
          <p:cNvSpPr txBox="1"/>
          <p:nvPr/>
        </p:nvSpPr>
        <p:spPr>
          <a:xfrm>
            <a:off x="5366258" y="5101071"/>
            <a:ext cx="597946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3차(10%)</a:t>
            </a:r>
          </a:p>
        </p:txBody>
      </p:sp>
      <p:sp>
        <p:nvSpPr>
          <p:cNvPr id="53" name="텍스트 53: 4차(10%)"/>
          <p:cNvSpPr txBox="1"/>
          <p:nvPr/>
        </p:nvSpPr>
        <p:spPr>
          <a:xfrm>
            <a:off x="6085966" y="5101071"/>
            <a:ext cx="597946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4차(10%)</a:t>
            </a:r>
          </a:p>
        </p:txBody>
      </p:sp>
      <p:sp>
        <p:nvSpPr>
          <p:cNvPr id="54" name="텍스트 54: 5차(10%)"/>
          <p:cNvSpPr txBox="1"/>
          <p:nvPr/>
        </p:nvSpPr>
        <p:spPr>
          <a:xfrm>
            <a:off x="6805930" y="5101071"/>
            <a:ext cx="597945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5차(10%)</a:t>
            </a:r>
          </a:p>
        </p:txBody>
      </p:sp>
      <p:sp>
        <p:nvSpPr>
          <p:cNvPr id="55" name="텍스트 55: 6차(10%)"/>
          <p:cNvSpPr txBox="1"/>
          <p:nvPr/>
        </p:nvSpPr>
        <p:spPr>
          <a:xfrm>
            <a:off x="7525766" y="5101071"/>
            <a:ext cx="597945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6차(10%)</a:t>
            </a:r>
          </a:p>
        </p:txBody>
      </p:sp>
      <p:sp>
        <p:nvSpPr>
          <p:cNvPr id="56" name="텍스트 56: 7차(10%)"/>
          <p:cNvSpPr txBox="1"/>
          <p:nvPr/>
        </p:nvSpPr>
        <p:spPr>
          <a:xfrm>
            <a:off x="8245475" y="5101071"/>
            <a:ext cx="597945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7차(10%)</a:t>
            </a:r>
          </a:p>
        </p:txBody>
      </p:sp>
      <p:sp>
        <p:nvSpPr>
          <p:cNvPr id="57" name="텍스트 57: 신청 시"/>
          <p:cNvSpPr txBox="1"/>
          <p:nvPr/>
        </p:nvSpPr>
        <p:spPr>
          <a:xfrm>
            <a:off x="1802257" y="5406424"/>
            <a:ext cx="38817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5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신청 시</a:t>
            </a:r>
          </a:p>
        </p:txBody>
      </p:sp>
      <p:sp>
        <p:nvSpPr>
          <p:cNvPr id="58" name="텍스트 58: 계약 시"/>
          <p:cNvSpPr txBox="1"/>
          <p:nvPr/>
        </p:nvSpPr>
        <p:spPr>
          <a:xfrm>
            <a:off x="2545079" y="5329726"/>
            <a:ext cx="431059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계약 시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1" spc="3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26.10.</a:t>
            </a:r>
          </a:p>
        </p:txBody>
      </p:sp>
      <p:sp>
        <p:nvSpPr>
          <p:cNvPr id="59" name="텍스트 59: 설립인가"/>
          <p:cNvSpPr txBox="1"/>
          <p:nvPr/>
        </p:nvSpPr>
        <p:spPr>
          <a:xfrm>
            <a:off x="3267709" y="5337844"/>
            <a:ext cx="47046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1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설립인가</a:t>
            </a:r>
          </a:p>
        </p:txBody>
      </p:sp>
      <p:sp>
        <p:nvSpPr>
          <p:cNvPr id="60" name="텍스트 60: 26.12. 예상"/>
          <p:cNvSpPr txBox="1"/>
          <p:nvPr/>
        </p:nvSpPr>
        <p:spPr>
          <a:xfrm>
            <a:off x="3193033" y="5490020"/>
            <a:ext cx="61976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1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26.12. 예상</a:t>
            </a:r>
          </a:p>
        </p:txBody>
      </p:sp>
      <p:sp>
        <p:nvSpPr>
          <p:cNvPr id="61" name="텍스트 61: 사업승인"/>
          <p:cNvSpPr txBox="1"/>
          <p:nvPr/>
        </p:nvSpPr>
        <p:spPr>
          <a:xfrm>
            <a:off x="3990466" y="5337844"/>
            <a:ext cx="47138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5" b="1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사업승인</a:t>
            </a:r>
          </a:p>
        </p:txBody>
      </p:sp>
      <p:sp>
        <p:nvSpPr>
          <p:cNvPr id="62" name="텍스트 62: 27.06. 예상"/>
          <p:cNvSpPr txBox="1"/>
          <p:nvPr/>
        </p:nvSpPr>
        <p:spPr>
          <a:xfrm>
            <a:off x="3915790" y="5490020"/>
            <a:ext cx="62001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1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27.06. 예상</a:t>
            </a:r>
          </a:p>
        </p:txBody>
      </p:sp>
      <p:sp>
        <p:nvSpPr>
          <p:cNvPr id="63" name="텍스트 63: 별도 지정 예정"/>
          <p:cNvSpPr txBox="1"/>
          <p:nvPr/>
        </p:nvSpPr>
        <p:spPr>
          <a:xfrm>
            <a:off x="6370065" y="5337844"/>
            <a:ext cx="74961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3" b="1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별도 지정 예정</a:t>
            </a:r>
          </a:p>
        </p:txBody>
      </p:sp>
      <p:sp>
        <p:nvSpPr>
          <p:cNvPr id="64" name="텍스트 64: 2027.10. 착공예정"/>
          <p:cNvSpPr txBox="1"/>
          <p:nvPr/>
        </p:nvSpPr>
        <p:spPr>
          <a:xfrm>
            <a:off x="6257290" y="5490020"/>
            <a:ext cx="97358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14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2027.10. 착공예정</a:t>
            </a:r>
          </a:p>
        </p:txBody>
      </p:sp>
      <p:sp>
        <p:nvSpPr>
          <p:cNvPr id="65" name="텍스트 65: 입주 시"/>
          <p:cNvSpPr txBox="1"/>
          <p:nvPr/>
        </p:nvSpPr>
        <p:spPr>
          <a:xfrm>
            <a:off x="9070593" y="5406424"/>
            <a:ext cx="38817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5" b="1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입주 시</a:t>
            </a:r>
          </a:p>
        </p:txBody>
      </p:sp>
      <p:sp>
        <p:nvSpPr>
          <p:cNvPr id="66" name="텍스트 66: 84A"/>
          <p:cNvSpPr txBox="1"/>
          <p:nvPr/>
        </p:nvSpPr>
        <p:spPr>
          <a:xfrm>
            <a:off x="400811" y="5698422"/>
            <a:ext cx="28955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84A</a:t>
            </a:r>
          </a:p>
        </p:txBody>
      </p:sp>
      <p:sp>
        <p:nvSpPr>
          <p:cNvPr id="67" name="텍스트 67: 674,950"/>
          <p:cNvSpPr txBox="1"/>
          <p:nvPr/>
        </p:nvSpPr>
        <p:spPr>
          <a:xfrm>
            <a:off x="911656" y="5927022"/>
            <a:ext cx="56412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5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674,950</a:t>
            </a:r>
          </a:p>
        </p:txBody>
      </p:sp>
      <p:sp>
        <p:nvSpPr>
          <p:cNvPr id="68" name="텍스트 68: 5,000"/>
          <p:cNvSpPr txBox="1"/>
          <p:nvPr/>
        </p:nvSpPr>
        <p:spPr>
          <a:xfrm>
            <a:off x="1799208" y="5927022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5,000</a:t>
            </a:r>
          </a:p>
        </p:txBody>
      </p:sp>
      <p:sp>
        <p:nvSpPr>
          <p:cNvPr id="69" name="텍스트 69: 62,495"/>
          <p:cNvSpPr txBox="1"/>
          <p:nvPr/>
        </p:nvSpPr>
        <p:spPr>
          <a:xfrm>
            <a:off x="2522220" y="5927022"/>
            <a:ext cx="47730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62,495</a:t>
            </a:r>
          </a:p>
        </p:txBody>
      </p:sp>
      <p:sp>
        <p:nvSpPr>
          <p:cNvPr id="70" name="텍스트 70: 67,495"/>
          <p:cNvSpPr txBox="1"/>
          <p:nvPr/>
        </p:nvSpPr>
        <p:spPr>
          <a:xfrm>
            <a:off x="3264661" y="5927022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1" name="텍스트 71: 67,495"/>
          <p:cNvSpPr txBox="1"/>
          <p:nvPr/>
        </p:nvSpPr>
        <p:spPr>
          <a:xfrm>
            <a:off x="3985259" y="5858442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2" name="텍스트 72: [대출 알선 예정]"/>
          <p:cNvSpPr txBox="1"/>
          <p:nvPr/>
        </p:nvSpPr>
        <p:spPr>
          <a:xfrm>
            <a:off x="3850894" y="6010619"/>
            <a:ext cx="750392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[대출 알선 예정]</a:t>
            </a:r>
          </a:p>
        </p:txBody>
      </p:sp>
      <p:sp>
        <p:nvSpPr>
          <p:cNvPr id="73" name="텍스트 73: 67,495"/>
          <p:cNvSpPr txBox="1"/>
          <p:nvPr/>
        </p:nvSpPr>
        <p:spPr>
          <a:xfrm>
            <a:off x="4707382" y="5927022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4" name="텍스트 74: 67,495"/>
          <p:cNvSpPr txBox="1"/>
          <p:nvPr/>
        </p:nvSpPr>
        <p:spPr>
          <a:xfrm>
            <a:off x="5427217" y="5927022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5" name="텍스트 75: 67,495"/>
          <p:cNvSpPr txBox="1"/>
          <p:nvPr/>
        </p:nvSpPr>
        <p:spPr>
          <a:xfrm>
            <a:off x="6146927" y="5927022"/>
            <a:ext cx="47710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6" name="텍스트 76: 67,495"/>
          <p:cNvSpPr txBox="1"/>
          <p:nvPr/>
        </p:nvSpPr>
        <p:spPr>
          <a:xfrm>
            <a:off x="6866890" y="5927022"/>
            <a:ext cx="4771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7" name="텍스트 77: 67,495"/>
          <p:cNvSpPr txBox="1"/>
          <p:nvPr/>
        </p:nvSpPr>
        <p:spPr>
          <a:xfrm>
            <a:off x="7586726" y="5927022"/>
            <a:ext cx="4771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8" name="텍스트 78: 67,495"/>
          <p:cNvSpPr txBox="1"/>
          <p:nvPr/>
        </p:nvSpPr>
        <p:spPr>
          <a:xfrm>
            <a:off x="8306434" y="5927022"/>
            <a:ext cx="4771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9" name="텍스트 79: 67,495"/>
          <p:cNvSpPr txBox="1"/>
          <p:nvPr/>
        </p:nvSpPr>
        <p:spPr>
          <a:xfrm>
            <a:off x="9026397" y="5927022"/>
            <a:ext cx="4771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80" name="텍스트 80: 84B"/>
          <p:cNvSpPr txBox="1"/>
          <p:nvPr/>
        </p:nvSpPr>
        <p:spPr>
          <a:xfrm>
            <a:off x="400811" y="5927022"/>
            <a:ext cx="29005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3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84B</a:t>
            </a:r>
          </a:p>
        </p:txBody>
      </p:sp>
      <p:sp>
        <p:nvSpPr>
          <p:cNvPr id="81" name="텍스트 81: 84C"/>
          <p:cNvSpPr txBox="1"/>
          <p:nvPr/>
        </p:nvSpPr>
        <p:spPr>
          <a:xfrm>
            <a:off x="402336" y="6155927"/>
            <a:ext cx="2862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2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84C</a:t>
            </a:r>
          </a:p>
        </p:txBody>
      </p:sp>
      <p:sp>
        <p:nvSpPr>
          <p:cNvPr id="82" name="텍스트 82: 주택형 설계계획"/>
          <p:cNvSpPr txBox="1"/>
          <p:nvPr/>
        </p:nvSpPr>
        <p:spPr>
          <a:xfrm>
            <a:off x="431901" y="1761922"/>
            <a:ext cx="1164036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9" b="1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주택형 설계계획</a:t>
            </a:r>
          </a:p>
        </p:txBody>
      </p:sp>
      <p:sp>
        <p:nvSpPr>
          <p:cNvPr id="83" name="텍스트 83: 분담금 납부 일정"/>
          <p:cNvSpPr txBox="1"/>
          <p:nvPr/>
        </p:nvSpPr>
        <p:spPr>
          <a:xfrm>
            <a:off x="431901" y="4524090"/>
            <a:ext cx="120494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분담금 납부 일정</a:t>
            </a:r>
          </a:p>
        </p:txBody>
      </p:sp>
      <p:sp>
        <p:nvSpPr>
          <p:cNvPr id="84" name="텍스트 84: 주택형 및 동호수 배정의 시기 및 방법"/>
          <p:cNvSpPr txBox="1"/>
          <p:nvPr/>
        </p:nvSpPr>
        <p:spPr>
          <a:xfrm>
            <a:off x="431901" y="3125312"/>
            <a:ext cx="262099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0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주택형 및 동호수 배정의 시기 및 방법</a:t>
            </a:r>
          </a:p>
        </p:txBody>
      </p:sp>
      <p:sp>
        <p:nvSpPr>
          <p:cNvPr id="85" name="텍스트 85: 계약전 양도가능 [1회]"/>
          <p:cNvSpPr txBox="1"/>
          <p:nvPr/>
        </p:nvSpPr>
        <p:spPr>
          <a:xfrm>
            <a:off x="2116835" y="4533678"/>
            <a:ext cx="1252480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9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계약전 양도가능 [1회]</a:t>
            </a:r>
          </a:p>
        </p:txBody>
      </p:sp>
      <p:sp>
        <p:nvSpPr>
          <p:cNvPr id="86" name="텍스트 86: 양도가능 [착공+3개월]"/>
          <p:cNvSpPr txBox="1"/>
          <p:nvPr/>
        </p:nvSpPr>
        <p:spPr>
          <a:xfrm>
            <a:off x="3550284" y="4533678"/>
            <a:ext cx="131966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양도가능 [착공+3개월]</a:t>
            </a:r>
          </a:p>
        </p:txBody>
      </p:sp>
      <p:sp>
        <p:nvSpPr>
          <p:cNvPr id="87" name="텍스트 87: [단위 : 천원]"/>
          <p:cNvSpPr txBox="1"/>
          <p:nvPr/>
        </p:nvSpPr>
        <p:spPr>
          <a:xfrm>
            <a:off x="9003792" y="4611531"/>
            <a:ext cx="63839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7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[단위 : 천원]</a:t>
            </a:r>
          </a:p>
        </p:txBody>
      </p:sp>
      <p:sp>
        <p:nvSpPr>
          <p:cNvPr id="88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89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90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91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92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5  ·  미래가치와 결정  │  오송역세권 하늘을 누릴 단 480명</a:t>
            </a:r>
          </a:p>
        </p:txBody>
      </p:sp>
      <p:sp>
        <p:nvSpPr>
          <p:cNvPr id="3" name="텍스트 3: 헬로우시티의 입주는 충북 167만, 청주 89만명 중 "/>
          <p:cNvSpPr txBox="1"/>
          <p:nvPr/>
        </p:nvSpPr>
        <p:spPr>
          <a:xfrm>
            <a:off x="304800" y="664811"/>
            <a:ext cx="9102671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헬로우시티의 입주는 충북 167만, 청주 89만명 중 </a:t>
            </a:r>
            <a:r>
              <a:rPr lang="ko-KR" altLang="en-US" sz="2647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단 480</a:t>
            </a:r>
            <a:r>
              <a:rPr lang="ko-KR" altLang="en-US" sz="264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명만 가능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입주 권한을 누릴 수 있는 조합원의 </a:t>
            </a:r>
            <a:r>
              <a:rPr lang="ko-KR" altLang="en-US" sz="264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주요 자격요건은 2가지</a:t>
            </a:r>
          </a:p>
        </p:txBody>
      </p:sp>
      <p:sp>
        <p:nvSpPr>
          <p:cNvPr id="4" name="텍스트 4: 01"/>
          <p:cNvSpPr txBox="1"/>
          <p:nvPr/>
        </p:nvSpPr>
        <p:spPr>
          <a:xfrm>
            <a:off x="680618" y="2524602"/>
            <a:ext cx="2632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9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텍스트 5: 거주 요건"/>
          <p:cNvSpPr txBox="1"/>
          <p:nvPr/>
        </p:nvSpPr>
        <p:spPr>
          <a:xfrm>
            <a:off x="1168603" y="2467011"/>
            <a:ext cx="1070975" cy="334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67" b="1" spc="-2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거주 요건</a:t>
            </a:r>
          </a:p>
        </p:txBody>
      </p:sp>
      <p:sp>
        <p:nvSpPr>
          <p:cNvPr id="6" name="텍스트 6: ※ 조합설립인가 신청 후 변경 가능"/>
          <p:cNvSpPr txBox="1"/>
          <p:nvPr/>
        </p:nvSpPr>
        <p:spPr>
          <a:xfrm>
            <a:off x="755904" y="3112091"/>
            <a:ext cx="209094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6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※ 조합설립인가 신청 후 변경 가능</a:t>
            </a:r>
          </a:p>
        </p:txBody>
      </p:sp>
      <p:sp>
        <p:nvSpPr>
          <p:cNvPr id="7" name="텍스트 7: 조합설립인가 신청일 기준"/>
          <p:cNvSpPr txBox="1"/>
          <p:nvPr/>
        </p:nvSpPr>
        <p:spPr>
          <a:xfrm>
            <a:off x="559003" y="3714848"/>
            <a:ext cx="1701911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2" b="0" spc="-13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조합설립인가 신청일 기준</a:t>
            </a:r>
          </a:p>
        </p:txBody>
      </p:sp>
      <p:sp>
        <p:nvSpPr>
          <p:cNvPr id="8" name="텍스트 8: ‘충청북도(청주 포함)에 6개월 이상 계속하여"/>
          <p:cNvSpPr txBox="1"/>
          <p:nvPr/>
        </p:nvSpPr>
        <p:spPr>
          <a:xfrm>
            <a:off x="559003" y="3943515"/>
            <a:ext cx="3802115" cy="5699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1" spc="-1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‘충청북도(청주 포함)에 6개월 이상 계속하여</a:t>
            </a:r>
          </a:p>
          <a:p>
            <a:pPr algn="l">
              <a:lnSpc>
                <a:spcPts val="22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6" b="1" spc="-16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거주한 분’</a:t>
            </a:r>
          </a:p>
        </p:txBody>
      </p:sp>
      <p:sp>
        <p:nvSpPr>
          <p:cNvPr id="9" name="텍스트 9: 02"/>
          <p:cNvSpPr txBox="1"/>
          <p:nvPr/>
        </p:nvSpPr>
        <p:spPr>
          <a:xfrm>
            <a:off x="5431282" y="2524602"/>
            <a:ext cx="2632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9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텍스트 10: 주택소유 및 세대주 요건"/>
          <p:cNvSpPr txBox="1"/>
          <p:nvPr/>
        </p:nvSpPr>
        <p:spPr>
          <a:xfrm>
            <a:off x="5919215" y="2467011"/>
            <a:ext cx="2671379" cy="334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70" b="1" spc="-2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주택소유 및 세대주 요건</a:t>
            </a:r>
          </a:p>
        </p:txBody>
      </p:sp>
      <p:sp>
        <p:nvSpPr>
          <p:cNvPr id="11" name="텍스트 11: ※ 입주일까지 유지 必"/>
          <p:cNvSpPr txBox="1"/>
          <p:nvPr/>
        </p:nvSpPr>
        <p:spPr>
          <a:xfrm>
            <a:off x="5506465" y="3112091"/>
            <a:ext cx="1356501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-11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※ 입주일까지 유지 必</a:t>
            </a:r>
          </a:p>
        </p:txBody>
      </p:sp>
      <p:sp>
        <p:nvSpPr>
          <p:cNvPr id="12" name="텍스트 12: 조합설립인가 신청일 기준"/>
          <p:cNvSpPr txBox="1"/>
          <p:nvPr/>
        </p:nvSpPr>
        <p:spPr>
          <a:xfrm>
            <a:off x="5309615" y="3714848"/>
            <a:ext cx="1701861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2" b="0" spc="-13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조합설립인가 신청일 기준</a:t>
            </a:r>
          </a:p>
        </p:txBody>
      </p:sp>
      <p:sp>
        <p:nvSpPr>
          <p:cNvPr id="13" name="텍스트 13: ‘85㎡ 이하 주택을 1채만 소유’하거나,"/>
          <p:cNvSpPr txBox="1"/>
          <p:nvPr/>
        </p:nvSpPr>
        <p:spPr>
          <a:xfrm>
            <a:off x="5309615" y="3943515"/>
            <a:ext cx="3240342" cy="5699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1" spc="-12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‘85㎡ 이하 주택을 1채만 소유’</a:t>
            </a:r>
            <a:r>
              <a:rPr lang="ko-KR" altLang="en-US" sz="1500" b="0" spc="-122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하거나,</a:t>
            </a:r>
          </a:p>
          <a:p>
            <a:pPr algn="l">
              <a:lnSpc>
                <a:spcPts val="22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6" b="1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‘무주택’</a:t>
            </a:r>
            <a:r>
              <a:rPr lang="ko-KR" altLang="en-US" sz="1500" b="0" spc="-141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인 </a:t>
            </a:r>
            <a:r>
              <a:rPr lang="ko-KR" altLang="en-US" sz="1706" b="1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‘세대주’</a:t>
            </a:r>
          </a:p>
        </p:txBody>
      </p:sp>
      <p:sp>
        <p:nvSpPr>
          <p:cNvPr id="14" name="텍스트 14: ※ 참고사항"/>
          <p:cNvSpPr txBox="1"/>
          <p:nvPr/>
        </p:nvSpPr>
        <p:spPr>
          <a:xfrm>
            <a:off x="508101" y="5433587"/>
            <a:ext cx="88335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1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※ 참고사항</a:t>
            </a:r>
          </a:p>
        </p:txBody>
      </p:sp>
      <p:sp>
        <p:nvSpPr>
          <p:cNvPr id="15" name="텍스트 15: ① 조합설립인가 신청 예정일 : 2026년 12월"/>
          <p:cNvSpPr txBox="1"/>
          <p:nvPr/>
        </p:nvSpPr>
        <p:spPr>
          <a:xfrm>
            <a:off x="2083307" y="5196861"/>
            <a:ext cx="7196872" cy="672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5" b="1" spc="-7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lang="ko-KR" altLang="en-US" sz="1295" b="1" spc="-78" dirty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조합설립인가 신청 예정일 : </a:t>
            </a:r>
            <a:r>
              <a:rPr lang="ko-KR" altLang="en-US" sz="1295" b="1" spc="-7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2026년 12월</a:t>
            </a:r>
          </a:p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5" b="1" spc="-13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lang="ko-KR" altLang="en-US" sz="1295" b="0" spc="-13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주택소유 판단 시 주민등록표상 세대원 전원을 대상(배우자 분리세대 포함)으로 하오니 유의하시기 바랍니다.</a:t>
            </a:r>
          </a:p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5" b="1" spc="-12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lang="ko-KR" altLang="en-US" sz="1295" b="0" spc="-128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 포함 세대원 전원(배우자 분리세대 포함)이 다른 조합의 조합원이 아니어야 합니다.</a:t>
            </a:r>
          </a:p>
        </p:txBody>
      </p:sp>
      <p:sp>
        <p:nvSpPr>
          <p:cNvPr id="16" name="텍스트 16: 27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17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18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19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20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21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오송역세권 하늘을 누릴 단 480명</a:t>
            </a:r>
          </a:p>
        </p:txBody>
      </p:sp>
      <p:sp>
        <p:nvSpPr>
          <p:cNvPr id="3" name="텍스트 3: 28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  <p:sp>
        <p:nvSpPr>
          <p:cNvPr id="4" name="텍스트 4: 세대원 판단은 3단계면 끝"/>
          <p:cNvSpPr txBox="1"/>
          <p:nvPr/>
        </p:nvSpPr>
        <p:spPr>
          <a:xfrm>
            <a:off x="304800" y="664811"/>
            <a:ext cx="5067739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세대원 판단은 </a:t>
            </a:r>
            <a:r>
              <a:rPr lang="ko-KR" altLang="en-US" sz="2632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3단계</a:t>
            </a:r>
            <a:r>
              <a:rPr lang="ko-KR" altLang="en-US" sz="263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면 끝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등본 → 관계 → 주택 수, </a:t>
            </a:r>
            <a:r>
              <a:rPr lang="ko-KR" altLang="en-US" sz="262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순서대로 확인</a:t>
            </a:r>
          </a:p>
        </p:txBody>
      </p:sp>
      <p:sp>
        <p:nvSpPr>
          <p:cNvPr id="5" name="텍스트 5: 01"/>
          <p:cNvSpPr txBox="1"/>
          <p:nvPr/>
        </p:nvSpPr>
        <p:spPr>
          <a:xfrm>
            <a:off x="648309" y="2334102"/>
            <a:ext cx="2571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텍스트 6: 등본 확인"/>
          <p:cNvSpPr txBox="1"/>
          <p:nvPr/>
        </p:nvSpPr>
        <p:spPr>
          <a:xfrm>
            <a:off x="1117701" y="2289780"/>
            <a:ext cx="952213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20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등본 확인</a:t>
            </a:r>
          </a:p>
        </p:txBody>
      </p:sp>
      <p:sp>
        <p:nvSpPr>
          <p:cNvPr id="7" name="텍스트 7: 같은 주민등록표에 있나?"/>
          <p:cNvSpPr txBox="1"/>
          <p:nvPr/>
        </p:nvSpPr>
        <p:spPr>
          <a:xfrm>
            <a:off x="533400" y="2880329"/>
            <a:ext cx="171566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6" b="1" spc="-14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같은 주민등록표에 있나?</a:t>
            </a:r>
          </a:p>
        </p:txBody>
      </p:sp>
      <p:sp>
        <p:nvSpPr>
          <p:cNvPr id="8" name="텍스트 8: • 본인 세대 등본 발급"/>
          <p:cNvSpPr txBox="1"/>
          <p:nvPr/>
        </p:nvSpPr>
        <p:spPr>
          <a:xfrm>
            <a:off x="533400" y="3406109"/>
            <a:ext cx="151606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32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404" b="0" spc="-132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 본인 세대 등본 발급</a:t>
            </a:r>
          </a:p>
        </p:txBody>
      </p:sp>
      <p:sp>
        <p:nvSpPr>
          <p:cNvPr id="9" name="텍스트 9: • 배우자가 따로 살면 배우자"/>
          <p:cNvSpPr txBox="1"/>
          <p:nvPr/>
        </p:nvSpPr>
        <p:spPr>
          <a:xfrm>
            <a:off x="533400" y="3695923"/>
            <a:ext cx="196869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4" b="0" spc="-140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394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 배우자가 따로 살면 배우자</a:t>
            </a:r>
          </a:p>
        </p:txBody>
      </p:sp>
      <p:sp>
        <p:nvSpPr>
          <p:cNvPr id="10" name="텍스트 10: 등본도 발급"/>
          <p:cNvSpPr txBox="1"/>
          <p:nvPr/>
        </p:nvSpPr>
        <p:spPr>
          <a:xfrm>
            <a:off x="711708" y="3909283"/>
            <a:ext cx="81965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1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등본도 발급</a:t>
            </a:r>
          </a:p>
        </p:txBody>
      </p:sp>
      <p:sp>
        <p:nvSpPr>
          <p:cNvPr id="11" name="텍스트 11: ※ 등본에 없는 부모·자녀는 제외"/>
          <p:cNvSpPr txBox="1"/>
          <p:nvPr/>
        </p:nvSpPr>
        <p:spPr>
          <a:xfrm>
            <a:off x="810463" y="4445845"/>
            <a:ext cx="186544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1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※ 등본에 없는 부모·자녀는 제외</a:t>
            </a:r>
          </a:p>
        </p:txBody>
      </p:sp>
      <p:sp>
        <p:nvSpPr>
          <p:cNvPr id="12" name="텍스트 12: 02"/>
          <p:cNvSpPr txBox="1"/>
          <p:nvPr/>
        </p:nvSpPr>
        <p:spPr>
          <a:xfrm>
            <a:off x="3874642" y="2334102"/>
            <a:ext cx="2571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텍스트 13: 관계 확인"/>
          <p:cNvSpPr txBox="1"/>
          <p:nvPr/>
        </p:nvSpPr>
        <p:spPr>
          <a:xfrm>
            <a:off x="4344034" y="2289780"/>
            <a:ext cx="952187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20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관계 확인</a:t>
            </a:r>
          </a:p>
        </p:txBody>
      </p:sp>
      <p:sp>
        <p:nvSpPr>
          <p:cNvPr id="14" name="텍스트 14: 직계가족 또는 배우자인가?"/>
          <p:cNvSpPr txBox="1"/>
          <p:nvPr/>
        </p:nvSpPr>
        <p:spPr>
          <a:xfrm>
            <a:off x="3759708" y="2880329"/>
            <a:ext cx="186654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5" b="1" spc="-14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직계가족 또는 배우자인가?</a:t>
            </a:r>
          </a:p>
        </p:txBody>
      </p:sp>
      <p:sp>
        <p:nvSpPr>
          <p:cNvPr id="15" name="텍스트 15: • 포함: 배우자, 부모·조부모,"/>
          <p:cNvSpPr txBox="1"/>
          <p:nvPr/>
        </p:nvSpPr>
        <p:spPr>
          <a:xfrm>
            <a:off x="3759708" y="3406109"/>
            <a:ext cx="195254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35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404" b="1" spc="-13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 포함: </a:t>
            </a:r>
            <a:r>
              <a:rPr lang="ko-KR" altLang="en-US" sz="1404" b="0" spc="-135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배우자, 부모·조부모,</a:t>
            </a:r>
          </a:p>
        </p:txBody>
      </p:sp>
      <p:sp>
        <p:nvSpPr>
          <p:cNvPr id="16" name="텍스트 16: 자녀·손자녀"/>
          <p:cNvSpPr txBox="1"/>
          <p:nvPr/>
        </p:nvSpPr>
        <p:spPr>
          <a:xfrm>
            <a:off x="3938270" y="3619723"/>
            <a:ext cx="83306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3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자녀·손자녀</a:t>
            </a:r>
          </a:p>
        </p:txBody>
      </p:sp>
      <p:sp>
        <p:nvSpPr>
          <p:cNvPr id="17" name="텍스트 17: • 제외: 형제자매, 동거인, 친척"/>
          <p:cNvSpPr txBox="1"/>
          <p:nvPr/>
        </p:nvSpPr>
        <p:spPr>
          <a:xfrm>
            <a:off x="3759708" y="3909283"/>
            <a:ext cx="208756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5" b="0" spc="-140" dirty="0">
                <a:solidFill>
                  <a:srgbClr val="A9AEB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395" b="1" spc="-140" dirty="0">
                <a:solidFill>
                  <a:srgbClr val="A33A2B"/>
                </a:solidFill>
                <a:latin typeface="맑은 고딕"/>
                <a:ea typeface="맑은 고딕"/>
                <a:cs typeface="맑은 고딕"/>
              </a:rPr>
              <a:t> 제외: </a:t>
            </a:r>
            <a:r>
              <a:rPr lang="ko-KR" altLang="en-US" sz="1395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형제자매, 동거인, 친척</a:t>
            </a:r>
          </a:p>
        </p:txBody>
      </p:sp>
      <p:sp>
        <p:nvSpPr>
          <p:cNvPr id="18" name="텍스트 18: ※ 직계가 아니면 집이 있어도 무관"/>
          <p:cNvSpPr txBox="1"/>
          <p:nvPr/>
        </p:nvSpPr>
        <p:spPr>
          <a:xfrm>
            <a:off x="3980434" y="4445845"/>
            <a:ext cx="197664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※ 직계가 아니면 집이 있어도 무관</a:t>
            </a:r>
          </a:p>
        </p:txBody>
      </p:sp>
      <p:sp>
        <p:nvSpPr>
          <p:cNvPr id="19" name="텍스트 19: 03"/>
          <p:cNvSpPr txBox="1"/>
          <p:nvPr/>
        </p:nvSpPr>
        <p:spPr>
          <a:xfrm>
            <a:off x="7100951" y="2334102"/>
            <a:ext cx="2571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0" name="텍스트 20: 주택 수 합산"/>
          <p:cNvSpPr txBox="1"/>
          <p:nvPr/>
        </p:nvSpPr>
        <p:spPr>
          <a:xfrm>
            <a:off x="7570596" y="2289780"/>
            <a:ext cx="1218634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17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 수 합산</a:t>
            </a:r>
          </a:p>
        </p:txBody>
      </p:sp>
      <p:sp>
        <p:nvSpPr>
          <p:cNvPr id="21" name="텍스트 21: 세대 전체 몇 채, 몇 ㎡인가?"/>
          <p:cNvSpPr txBox="1"/>
          <p:nvPr/>
        </p:nvSpPr>
        <p:spPr>
          <a:xfrm>
            <a:off x="6986269" y="2880329"/>
            <a:ext cx="187238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2" b="1" spc="-14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세대 전체 몇 채, 몇 ㎡인가?</a:t>
            </a:r>
          </a:p>
        </p:txBody>
      </p:sp>
      <p:sp>
        <p:nvSpPr>
          <p:cNvPr id="22" name="텍스트 22: • 무주택 → 가능"/>
          <p:cNvSpPr txBox="1"/>
          <p:nvPr/>
        </p:nvSpPr>
        <p:spPr>
          <a:xfrm>
            <a:off x="6986269" y="3406109"/>
            <a:ext cx="114395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3" b="0" spc="-140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403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 무주택 → 가능</a:t>
            </a:r>
          </a:p>
        </p:txBody>
      </p:sp>
      <p:sp>
        <p:nvSpPr>
          <p:cNvPr id="23" name="텍스트 23: • 1명만 85㎡ 이하 1채 → 가능"/>
          <p:cNvSpPr txBox="1"/>
          <p:nvPr/>
        </p:nvSpPr>
        <p:spPr>
          <a:xfrm>
            <a:off x="6986269" y="3695923"/>
            <a:ext cx="215932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13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404" b="0" spc="-113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 1명만 85㎡ 이하 1채 → 가능</a:t>
            </a:r>
          </a:p>
        </p:txBody>
      </p:sp>
      <p:sp>
        <p:nvSpPr>
          <p:cNvPr id="24" name="텍스트 24: • 85㎡ 초과 또는 2채 이상 → 불가"/>
          <p:cNvSpPr txBox="1"/>
          <p:nvPr/>
        </p:nvSpPr>
        <p:spPr>
          <a:xfrm>
            <a:off x="6986269" y="3985483"/>
            <a:ext cx="238182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32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404" b="0" spc="-132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 85㎡ 초과 또는 2채 이상 → 불가</a:t>
            </a:r>
          </a:p>
        </p:txBody>
      </p:sp>
      <p:sp>
        <p:nvSpPr>
          <p:cNvPr id="25" name="텍스트 25: ※ 입주 가능일까지 유지해야 함"/>
          <p:cNvSpPr txBox="1"/>
          <p:nvPr/>
        </p:nvSpPr>
        <p:spPr>
          <a:xfrm>
            <a:off x="7284466" y="4445845"/>
            <a:ext cx="1822718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※ 입주 가능일까지 유지해야 함</a:t>
            </a:r>
          </a:p>
        </p:txBody>
      </p:sp>
      <p:sp>
        <p:nvSpPr>
          <p:cNvPr id="26" name="텍스트 26: 근거: 주택법 시행령 제21조 제1항 제1호 (지역주택"/>
          <p:cNvSpPr txBox="1"/>
          <p:nvPr/>
        </p:nvSpPr>
        <p:spPr>
          <a:xfrm>
            <a:off x="304800" y="6074241"/>
            <a:ext cx="323478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2" b="0" spc="-1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근거: 주택법 시행령 제21조 제1항 제1호 (지역주택조합 조합원 자격)</a:t>
            </a:r>
          </a:p>
        </p:txBody>
      </p:sp>
      <p:sp>
        <p:nvSpPr>
          <p:cNvPr id="27" name="텍스트 27: 집이 2채 이상?"/>
          <p:cNvSpPr txBox="1"/>
          <p:nvPr/>
        </p:nvSpPr>
        <p:spPr>
          <a:xfrm>
            <a:off x="508101" y="5325526"/>
            <a:ext cx="1275842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2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집이 2채 이상?</a:t>
            </a:r>
          </a:p>
        </p:txBody>
      </p:sp>
      <p:sp>
        <p:nvSpPr>
          <p:cNvPr id="28" name="텍스트 28: 이렇게 정리하면 가능"/>
          <p:cNvSpPr txBox="1"/>
          <p:nvPr/>
        </p:nvSpPr>
        <p:spPr>
          <a:xfrm>
            <a:off x="508101" y="5582635"/>
            <a:ext cx="151913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140" dirty="0">
                <a:solidFill>
                  <a:srgbClr val="E9D8A6"/>
                </a:solidFill>
                <a:latin typeface="맑은 고딕"/>
                <a:ea typeface="맑은 고딕"/>
                <a:cs typeface="맑은 고딕"/>
              </a:rPr>
              <a:t>이렇게 정리하면 가능</a:t>
            </a:r>
          </a:p>
        </p:txBody>
      </p:sp>
      <p:sp>
        <p:nvSpPr>
          <p:cNvPr id="29" name="텍스트 29: ① 매도"/>
          <p:cNvSpPr txBox="1"/>
          <p:nvPr/>
        </p:nvSpPr>
        <p:spPr>
          <a:xfrm>
            <a:off x="2514854" y="5343764"/>
            <a:ext cx="2126060" cy="43286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11" dirty="0">
                <a:solidFill>
                  <a:srgbClr val="E9D8A6"/>
                </a:solidFill>
                <a:latin typeface="맑은 고딕"/>
                <a:ea typeface="맑은 고딕"/>
                <a:cs typeface="맑은 고딕"/>
              </a:rPr>
              <a:t>① 매도</a:t>
            </a:r>
          </a:p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6" b="0" spc="-10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팔아서 85㎡ 이하 1채 이하로</a:t>
            </a:r>
          </a:p>
        </p:txBody>
      </p:sp>
      <p:sp>
        <p:nvSpPr>
          <p:cNvPr id="30" name="텍스트 30: ② 세대분리"/>
          <p:cNvSpPr txBox="1"/>
          <p:nvPr/>
        </p:nvSpPr>
        <p:spPr>
          <a:xfrm>
            <a:off x="5106289" y="5343764"/>
            <a:ext cx="1966041" cy="43286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9" b="1" spc="-130" dirty="0">
                <a:solidFill>
                  <a:srgbClr val="E9D8A6"/>
                </a:solidFill>
                <a:latin typeface="맑은 고딕"/>
                <a:ea typeface="맑은 고딕"/>
                <a:cs typeface="맑은 고딕"/>
              </a:rPr>
              <a:t>② 세대분리</a:t>
            </a:r>
          </a:p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2" b="0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집 있는 부모·자녀 등본 분리</a:t>
            </a:r>
          </a:p>
        </p:txBody>
      </p:sp>
      <p:sp>
        <p:nvSpPr>
          <p:cNvPr id="31" name="텍스트 31: ※ 신청일 전 완료"/>
          <p:cNvSpPr txBox="1"/>
          <p:nvPr/>
        </p:nvSpPr>
        <p:spPr>
          <a:xfrm>
            <a:off x="7799196" y="5343764"/>
            <a:ext cx="1676100" cy="43286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1" spc="-123" dirty="0">
                <a:solidFill>
                  <a:srgbClr val="E9D8A6"/>
                </a:solidFill>
                <a:latin typeface="맑은 고딕"/>
                <a:ea typeface="맑은 고딕"/>
                <a:cs typeface="맑은 고딕"/>
              </a:rPr>
              <a:t>※ 신청일 전 완료</a:t>
            </a:r>
          </a:p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3" b="0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배우자는 분리해도 합산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오송역세권 하늘을 누릴 단 480명</a:t>
            </a:r>
          </a:p>
        </p:txBody>
      </p:sp>
      <p:sp>
        <p:nvSpPr>
          <p:cNvPr id="3" name="텍스트 3: 29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  <p:sp>
        <p:nvSpPr>
          <p:cNvPr id="4" name="텍스트 4: 주택소유는 ‘등본상의 한 세대’ 전체로 판단"/>
          <p:cNvSpPr txBox="1"/>
          <p:nvPr/>
        </p:nvSpPr>
        <p:spPr>
          <a:xfrm>
            <a:off x="304800" y="664811"/>
            <a:ext cx="8783886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주택소유는 </a:t>
            </a:r>
            <a:r>
              <a:rPr lang="ko-KR" altLang="en-US" sz="271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‘등본상의 한 세대’</a:t>
            </a:r>
            <a:r>
              <a:rPr lang="ko-KR" altLang="en-US" sz="271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 전체로 판단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본인·배우자는 무조건 ‘한 몸’, </a:t>
            </a:r>
            <a:r>
              <a:rPr lang="ko-KR" altLang="en-US" sz="2712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분리 시 두 개의 등본 직계가족 합산</a:t>
            </a:r>
          </a:p>
        </p:txBody>
      </p:sp>
      <p:sp>
        <p:nvSpPr>
          <p:cNvPr id="5" name="텍스트 5: 주민등록표(등본) 기준"/>
          <p:cNvSpPr txBox="1"/>
          <p:nvPr/>
        </p:nvSpPr>
        <p:spPr>
          <a:xfrm>
            <a:off x="830884" y="2274190"/>
            <a:ext cx="129179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1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주민등록표(등본) 기준</a:t>
            </a:r>
          </a:p>
        </p:txBody>
      </p:sp>
      <p:sp>
        <p:nvSpPr>
          <p:cNvPr id="6" name="텍스트 6: 직계존속"/>
          <p:cNvSpPr txBox="1"/>
          <p:nvPr/>
        </p:nvSpPr>
        <p:spPr>
          <a:xfrm>
            <a:off x="5343778" y="2177893"/>
            <a:ext cx="903170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20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직계존속</a:t>
            </a:r>
          </a:p>
        </p:txBody>
      </p:sp>
      <p:sp>
        <p:nvSpPr>
          <p:cNvPr id="7" name="텍스트 7: 부모 · 조부모 (본인·배우자 혈연)"/>
          <p:cNvSpPr txBox="1"/>
          <p:nvPr/>
        </p:nvSpPr>
        <p:spPr>
          <a:xfrm>
            <a:off x="4813427" y="2507826"/>
            <a:ext cx="1964126" cy="2746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2" b="0" spc="-179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부모 </a:t>
            </a:r>
            <a:r>
              <a:rPr lang="ko-KR" altLang="en-US" sz="1202" b="0" spc="-179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· 조부모 (본인·배우자 혈연)</a:t>
            </a:r>
          </a:p>
        </p:txBody>
      </p:sp>
      <p:sp>
        <p:nvSpPr>
          <p:cNvPr id="8" name="텍스트 8: 무조건 ‘한 몸’으로 판단"/>
          <p:cNvSpPr txBox="1"/>
          <p:nvPr/>
        </p:nvSpPr>
        <p:spPr>
          <a:xfrm>
            <a:off x="5134990" y="3559258"/>
            <a:ext cx="132132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6" b="0" spc="-120" dirty="0">
                <a:solidFill>
                  <a:srgbClr val="D9CFB5"/>
                </a:solidFill>
                <a:latin typeface="맑은 고딕"/>
                <a:ea typeface="맑은 고딕"/>
                <a:cs typeface="맑은 고딕"/>
              </a:rPr>
              <a:t>무조건 ‘한 몸’으로 판단</a:t>
            </a:r>
          </a:p>
        </p:txBody>
      </p:sp>
      <p:sp>
        <p:nvSpPr>
          <p:cNvPr id="9" name="텍스트 9: 본인 + 배우자"/>
          <p:cNvSpPr txBox="1"/>
          <p:nvPr/>
        </p:nvSpPr>
        <p:spPr>
          <a:xfrm>
            <a:off x="4991734" y="3770794"/>
            <a:ext cx="1605986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6" b="1" spc="-23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본인 </a:t>
            </a:r>
            <a:r>
              <a:rPr lang="ko-KR" altLang="en-US" sz="2004" b="1" spc="-23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배우자</a:t>
            </a:r>
          </a:p>
        </p:txBody>
      </p:sp>
      <p:sp>
        <p:nvSpPr>
          <p:cNvPr id="10" name="텍스트 10: 직계비속"/>
          <p:cNvSpPr txBox="1"/>
          <p:nvPr/>
        </p:nvSpPr>
        <p:spPr>
          <a:xfrm>
            <a:off x="5343778" y="4972655"/>
            <a:ext cx="903170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20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직계비속</a:t>
            </a:r>
          </a:p>
        </p:txBody>
      </p:sp>
      <p:sp>
        <p:nvSpPr>
          <p:cNvPr id="11" name="텍스트 11: 자녀 · 손자녀 (본인·배우자 혈연)"/>
          <p:cNvSpPr txBox="1"/>
          <p:nvPr/>
        </p:nvSpPr>
        <p:spPr>
          <a:xfrm>
            <a:off x="4813427" y="5302887"/>
            <a:ext cx="1964029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spc="-17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자녀 </a:t>
            </a:r>
            <a:r>
              <a:rPr lang="ko-KR" altLang="en-US" sz="1200" b="0" spc="-177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· 손자녀 (본인·배우자 혈연)</a:t>
            </a:r>
          </a:p>
        </p:txBody>
      </p:sp>
      <p:sp>
        <p:nvSpPr>
          <p:cNvPr id="12" name="텍스트 12: 형제자매"/>
          <p:cNvSpPr txBox="1"/>
          <p:nvPr/>
        </p:nvSpPr>
        <p:spPr>
          <a:xfrm>
            <a:off x="8322818" y="3620645"/>
            <a:ext cx="811783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20" b="1" spc="-18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형제자매</a:t>
            </a:r>
          </a:p>
        </p:txBody>
      </p:sp>
      <p:sp>
        <p:nvSpPr>
          <p:cNvPr id="13" name="텍스트 13: 동거인 · 친척"/>
          <p:cNvSpPr txBox="1"/>
          <p:nvPr/>
        </p:nvSpPr>
        <p:spPr>
          <a:xfrm>
            <a:off x="8280145" y="3919951"/>
            <a:ext cx="89859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8" b="0" spc="-14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동거인 · 친척</a:t>
            </a:r>
          </a:p>
        </p:txBody>
      </p:sp>
      <p:sp>
        <p:nvSpPr>
          <p:cNvPr id="14" name="텍스트 14: 판단 제외"/>
          <p:cNvSpPr txBox="1"/>
          <p:nvPr/>
        </p:nvSpPr>
        <p:spPr>
          <a:xfrm>
            <a:off x="8467343" y="3156063"/>
            <a:ext cx="522435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1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제외</a:t>
            </a:r>
          </a:p>
        </p:txBody>
      </p:sp>
      <p:sp>
        <p:nvSpPr>
          <p:cNvPr id="15" name="텍스트 15: 나의 세대원"/>
          <p:cNvSpPr txBox="1"/>
          <p:nvPr/>
        </p:nvSpPr>
        <p:spPr>
          <a:xfrm>
            <a:off x="5474842" y="1924336"/>
            <a:ext cx="63951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나의 세대원</a:t>
            </a:r>
          </a:p>
        </p:txBody>
      </p:sp>
      <p:sp>
        <p:nvSpPr>
          <p:cNvPr id="16" name="텍스트 16: ※ 배우자는 등본이 달라도 포함 (배우자 분리세대 → "/>
          <p:cNvSpPr txBox="1"/>
          <p:nvPr/>
        </p:nvSpPr>
        <p:spPr>
          <a:xfrm>
            <a:off x="4369561" y="6072278"/>
            <a:ext cx="4325086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13" b="0" spc="-12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※ 배우자는 </a:t>
            </a:r>
            <a:r>
              <a:rPr lang="ko-KR" altLang="en-US" sz="1113" b="1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등본이 달라도 포함 </a:t>
            </a:r>
            <a:r>
              <a:rPr lang="ko-KR" altLang="en-US" sz="1113" b="0" spc="-12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(배우자 분리세대 → 배우자 세대원까지 합산)</a:t>
            </a:r>
          </a:p>
        </p:txBody>
      </p:sp>
      <p:sp>
        <p:nvSpPr>
          <p:cNvPr id="17" name="텍스트 17: 나의 세대원"/>
          <p:cNvSpPr txBox="1"/>
          <p:nvPr/>
        </p:nvSpPr>
        <p:spPr>
          <a:xfrm>
            <a:off x="5474842" y="4731544"/>
            <a:ext cx="63951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나의 세대원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오송역세권 하늘을 누릴 단 480명</a:t>
            </a:r>
          </a:p>
        </p:txBody>
      </p:sp>
      <p:sp>
        <p:nvSpPr>
          <p:cNvPr id="3" name="텍스트 3: 3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  <p:sp>
        <p:nvSpPr>
          <p:cNvPr id="4" name="텍스트 4: 배우자가 따로 살아도"/>
          <p:cNvSpPr txBox="1"/>
          <p:nvPr/>
        </p:nvSpPr>
        <p:spPr>
          <a:xfrm>
            <a:off x="304800" y="664811"/>
            <a:ext cx="4485622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배우자가 따로 살아도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배우자 세대까지 </a:t>
            </a:r>
            <a:r>
              <a:rPr lang="ko-KR" altLang="en-US" sz="2690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‘한 세대’로 합산</a:t>
            </a:r>
          </a:p>
        </p:txBody>
      </p:sp>
      <p:sp>
        <p:nvSpPr>
          <p:cNvPr id="5" name="텍스트 5: 본인 세대 · 등본 A"/>
          <p:cNvSpPr txBox="1"/>
          <p:nvPr/>
        </p:nvSpPr>
        <p:spPr>
          <a:xfrm>
            <a:off x="1637029" y="2168433"/>
            <a:ext cx="143011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2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본인 세대 · 등본 A</a:t>
            </a:r>
          </a:p>
        </p:txBody>
      </p:sp>
      <p:sp>
        <p:nvSpPr>
          <p:cNvPr id="6" name="텍스트 6: 본인 (세대주)"/>
          <p:cNvSpPr txBox="1"/>
          <p:nvPr/>
        </p:nvSpPr>
        <p:spPr>
          <a:xfrm>
            <a:off x="712622" y="2842229"/>
            <a:ext cx="92602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9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 (세대주)</a:t>
            </a:r>
          </a:p>
        </p:txBody>
      </p:sp>
      <p:sp>
        <p:nvSpPr>
          <p:cNvPr id="7" name="텍스트 7: 포함"/>
          <p:cNvSpPr txBox="1"/>
          <p:nvPr/>
        </p:nvSpPr>
        <p:spPr>
          <a:xfrm>
            <a:off x="3527171" y="2864390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포함</a:t>
            </a:r>
          </a:p>
        </p:txBody>
      </p:sp>
      <p:sp>
        <p:nvSpPr>
          <p:cNvPr id="8" name="텍스트 8: 같은 등본의 자녀"/>
          <p:cNvSpPr txBox="1"/>
          <p:nvPr/>
        </p:nvSpPr>
        <p:spPr>
          <a:xfrm>
            <a:off x="712622" y="3426429"/>
            <a:ext cx="115498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같은 등본의 자녀</a:t>
            </a:r>
          </a:p>
        </p:txBody>
      </p:sp>
      <p:sp>
        <p:nvSpPr>
          <p:cNvPr id="9" name="텍스트 9: 포함"/>
          <p:cNvSpPr txBox="1"/>
          <p:nvPr/>
        </p:nvSpPr>
        <p:spPr>
          <a:xfrm>
            <a:off x="3527171" y="3448590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포함</a:t>
            </a:r>
          </a:p>
        </p:txBody>
      </p:sp>
      <p:sp>
        <p:nvSpPr>
          <p:cNvPr id="10" name="텍스트 10: 같은 등본의 형제자매"/>
          <p:cNvSpPr txBox="1"/>
          <p:nvPr/>
        </p:nvSpPr>
        <p:spPr>
          <a:xfrm>
            <a:off x="712622" y="4010756"/>
            <a:ext cx="145673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6" b="0" spc="-14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같은 등본의 형제자매</a:t>
            </a:r>
          </a:p>
        </p:txBody>
      </p:sp>
      <p:sp>
        <p:nvSpPr>
          <p:cNvPr id="11" name="텍스트 11: 제외"/>
          <p:cNvSpPr txBox="1"/>
          <p:nvPr/>
        </p:nvSpPr>
        <p:spPr>
          <a:xfrm>
            <a:off x="3527171" y="4032917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제외</a:t>
            </a:r>
          </a:p>
        </p:txBody>
      </p:sp>
      <p:sp>
        <p:nvSpPr>
          <p:cNvPr id="12" name="텍스트 12: 배우자 세대 · 등본 B"/>
          <p:cNvSpPr txBox="1"/>
          <p:nvPr/>
        </p:nvSpPr>
        <p:spPr>
          <a:xfrm>
            <a:off x="6784847" y="2168433"/>
            <a:ext cx="1603010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7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배우자 세대 · 등본 B</a:t>
            </a:r>
          </a:p>
        </p:txBody>
      </p:sp>
      <p:sp>
        <p:nvSpPr>
          <p:cNvPr id="13" name="텍스트 13: 배우자 (세대주)"/>
          <p:cNvSpPr txBox="1"/>
          <p:nvPr/>
        </p:nvSpPr>
        <p:spPr>
          <a:xfrm>
            <a:off x="5946013" y="2842229"/>
            <a:ext cx="107654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3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배우자 (세대주)</a:t>
            </a:r>
          </a:p>
        </p:txBody>
      </p:sp>
      <p:sp>
        <p:nvSpPr>
          <p:cNvPr id="14" name="텍스트 14: 포함"/>
          <p:cNvSpPr txBox="1"/>
          <p:nvPr/>
        </p:nvSpPr>
        <p:spPr>
          <a:xfrm>
            <a:off x="8760586" y="2864390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포함</a:t>
            </a:r>
          </a:p>
        </p:txBody>
      </p:sp>
      <p:sp>
        <p:nvSpPr>
          <p:cNvPr id="15" name="텍스트 15: 배우자와 같은 세대의 직계혈족"/>
          <p:cNvSpPr txBox="1"/>
          <p:nvPr/>
        </p:nvSpPr>
        <p:spPr>
          <a:xfrm>
            <a:off x="5946013" y="3426429"/>
            <a:ext cx="209227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3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배우자와 같은 세대의 직계혈족</a:t>
            </a:r>
          </a:p>
        </p:txBody>
      </p:sp>
      <p:sp>
        <p:nvSpPr>
          <p:cNvPr id="16" name="텍스트 16: 포함"/>
          <p:cNvSpPr txBox="1"/>
          <p:nvPr/>
        </p:nvSpPr>
        <p:spPr>
          <a:xfrm>
            <a:off x="8760586" y="3448590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포함</a:t>
            </a:r>
          </a:p>
        </p:txBody>
      </p:sp>
      <p:sp>
        <p:nvSpPr>
          <p:cNvPr id="17" name="텍스트 17: 배우자 등본의 동거인"/>
          <p:cNvSpPr txBox="1"/>
          <p:nvPr/>
        </p:nvSpPr>
        <p:spPr>
          <a:xfrm>
            <a:off x="5946013" y="4010756"/>
            <a:ext cx="145485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4" b="0" spc="-14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배우자 등본의 동거인</a:t>
            </a:r>
          </a:p>
        </p:txBody>
      </p:sp>
      <p:sp>
        <p:nvSpPr>
          <p:cNvPr id="18" name="텍스트 18: 제외"/>
          <p:cNvSpPr txBox="1"/>
          <p:nvPr/>
        </p:nvSpPr>
        <p:spPr>
          <a:xfrm>
            <a:off x="8760586" y="4032917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제외</a:t>
            </a:r>
          </a:p>
        </p:txBody>
      </p:sp>
      <p:sp>
        <p:nvSpPr>
          <p:cNvPr id="19" name="텍스트 19: 부부"/>
          <p:cNvSpPr txBox="1"/>
          <p:nvPr/>
        </p:nvSpPr>
        <p:spPr>
          <a:xfrm>
            <a:off x="4802123" y="2905602"/>
            <a:ext cx="33318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6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부부</a:t>
            </a:r>
          </a:p>
        </p:txBody>
      </p:sp>
      <p:sp>
        <p:nvSpPr>
          <p:cNvPr id="20" name="텍스트 20: 등본 A + 등본 B 세대 전체 주택 합산 →  무주택"/>
          <p:cNvSpPr txBox="1"/>
          <p:nvPr/>
        </p:nvSpPr>
        <p:spPr>
          <a:xfrm>
            <a:off x="2097277" y="5026568"/>
            <a:ext cx="5743000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9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등본 A + 등본 B 세대 전체 주택 합산 →  </a:t>
            </a:r>
            <a:r>
              <a:rPr lang="ko-KR" altLang="en-US" sz="1569" b="1" spc="-160" dirty="0">
                <a:solidFill>
                  <a:srgbClr val="D9CFB5"/>
                </a:solidFill>
                <a:latin typeface="맑은 고딕"/>
                <a:ea typeface="맑은 고딕"/>
                <a:cs typeface="맑은 고딕"/>
              </a:rPr>
              <a:t>무주택 또는 1명만 85㎡ 이하 1채</a:t>
            </a:r>
          </a:p>
        </p:txBody>
      </p:sp>
      <p:sp>
        <p:nvSpPr>
          <p:cNvPr id="21" name="텍스트 21: 영업 포인트 주말부부·직장 등으로 배우자 주소가 다르면"/>
          <p:cNvSpPr txBox="1"/>
          <p:nvPr/>
        </p:nvSpPr>
        <p:spPr>
          <a:xfrm>
            <a:off x="533400" y="5674989"/>
            <a:ext cx="590734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1" b="1" spc="-14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영업 포인트 </a:t>
            </a:r>
            <a:r>
              <a:rPr lang="ko-KR" altLang="en-US" sz="1331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주말부부·직장 등으로 배우자 주소가 다르면 </a:t>
            </a:r>
            <a:r>
              <a:rPr lang="ko-KR" altLang="en-US" sz="1331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배우자 등본도 반드시 함께 확인</a:t>
            </a:r>
          </a:p>
        </p:txBody>
      </p:sp>
      <p:sp>
        <p:nvSpPr>
          <p:cNvPr id="22" name="텍스트 22: 근거: 주택법 시행령 제21조 제1항 제1호 가목 (등"/>
          <p:cNvSpPr txBox="1"/>
          <p:nvPr/>
        </p:nvSpPr>
        <p:spPr>
          <a:xfrm>
            <a:off x="304800" y="6150441"/>
            <a:ext cx="576182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29" b="0" spc="-1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근거: 주택법 시행령 제21조 제1항 제1호 가목 (등본이 다른 세대주의 배우자 및 그 배우자와 동일한 세대를 이루는 사람 포함)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오송역세권 하늘을 누릴 단 480명</a:t>
            </a:r>
          </a:p>
        </p:txBody>
      </p:sp>
      <p:sp>
        <p:nvSpPr>
          <p:cNvPr id="3" name="텍스트 3: 3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  <p:sp>
        <p:nvSpPr>
          <p:cNvPr id="4" name="텍스트 4: 세대 전체가 무주택이거나"/>
          <p:cNvSpPr txBox="1"/>
          <p:nvPr/>
        </p:nvSpPr>
        <p:spPr>
          <a:xfrm>
            <a:off x="304800" y="664811"/>
            <a:ext cx="5627047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 전체가 </a:t>
            </a:r>
            <a:r>
              <a:rPr lang="ko-KR" altLang="en-US" sz="2691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무주택</a:t>
            </a:r>
            <a:r>
              <a:rPr lang="ko-KR" altLang="en-US" sz="269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이거나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9" b="1" spc="-25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세대원 1명의 </a:t>
            </a:r>
            <a:r>
              <a:rPr lang="ko-KR" altLang="en-US" sz="2689" b="1" spc="-259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85㎡ 이하 1채</a:t>
            </a:r>
            <a:r>
              <a:rPr lang="ko-KR" altLang="en-US" sz="2689" b="1" spc="-25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까지만 가능</a:t>
            </a:r>
          </a:p>
        </p:txBody>
      </p:sp>
      <p:sp>
        <p:nvSpPr>
          <p:cNvPr id="5" name="텍스트 5: 가능"/>
          <p:cNvSpPr txBox="1"/>
          <p:nvPr/>
        </p:nvSpPr>
        <p:spPr>
          <a:xfrm>
            <a:off x="804672" y="2384206"/>
            <a:ext cx="376283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35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</a:t>
            </a:r>
          </a:p>
        </p:txBody>
      </p:sp>
      <p:sp>
        <p:nvSpPr>
          <p:cNvPr id="6" name="텍스트 6: 세대 전원 무주택"/>
          <p:cNvSpPr txBox="1"/>
          <p:nvPr/>
        </p:nvSpPr>
        <p:spPr>
          <a:xfrm>
            <a:off x="533400" y="2873631"/>
            <a:ext cx="148717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18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 전원 무주택</a:t>
            </a:r>
          </a:p>
        </p:txBody>
      </p:sp>
      <p:sp>
        <p:nvSpPr>
          <p:cNvPr id="7" name="텍스트 7: 본인·배우자·같은 등본의 직계가족"/>
          <p:cNvSpPr txBox="1"/>
          <p:nvPr/>
        </p:nvSpPr>
        <p:spPr>
          <a:xfrm>
            <a:off x="533400" y="3355934"/>
            <a:ext cx="2302456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9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본인·배우자·같은 등본의 직계가족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9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모두 집이 없음</a:t>
            </a:r>
          </a:p>
        </p:txBody>
      </p:sp>
      <p:sp>
        <p:nvSpPr>
          <p:cNvPr id="8" name="텍스트 8: 가능"/>
          <p:cNvSpPr txBox="1"/>
          <p:nvPr/>
        </p:nvSpPr>
        <p:spPr>
          <a:xfrm>
            <a:off x="4005707" y="2384206"/>
            <a:ext cx="375978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34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</a:t>
            </a:r>
          </a:p>
        </p:txBody>
      </p:sp>
      <p:sp>
        <p:nvSpPr>
          <p:cNvPr id="9" name="텍스트 9: 1명만 85㎡ 이하 1채"/>
          <p:cNvSpPr txBox="1"/>
          <p:nvPr/>
        </p:nvSpPr>
        <p:spPr>
          <a:xfrm>
            <a:off x="3734434" y="2873631"/>
            <a:ext cx="193675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3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1명만 85㎡ 이하 1채</a:t>
            </a:r>
          </a:p>
        </p:txBody>
      </p:sp>
      <p:sp>
        <p:nvSpPr>
          <p:cNvPr id="10" name="텍스트 10: 예: 본인 명의 전용 84㎡ 아파트 1채,"/>
          <p:cNvSpPr txBox="1"/>
          <p:nvPr/>
        </p:nvSpPr>
        <p:spPr>
          <a:xfrm>
            <a:off x="3734434" y="3355934"/>
            <a:ext cx="2469185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예: 본인 명의 전용 84㎡ 아파트 1채,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나머지 무주택</a:t>
            </a:r>
          </a:p>
        </p:txBody>
      </p:sp>
      <p:sp>
        <p:nvSpPr>
          <p:cNvPr id="11" name="텍스트 11: 불가"/>
          <p:cNvSpPr txBox="1"/>
          <p:nvPr/>
        </p:nvSpPr>
        <p:spPr>
          <a:xfrm>
            <a:off x="7206742" y="2384206"/>
            <a:ext cx="375978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34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불가</a:t>
            </a:r>
          </a:p>
        </p:txBody>
      </p:sp>
      <p:sp>
        <p:nvSpPr>
          <p:cNvPr id="12" name="텍스트 12: 85㎡ 초과 또는 2채 이상"/>
          <p:cNvSpPr txBox="1"/>
          <p:nvPr/>
        </p:nvSpPr>
        <p:spPr>
          <a:xfrm>
            <a:off x="6935469" y="2873631"/>
            <a:ext cx="222478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66" dirty="0">
                <a:solidFill>
                  <a:srgbClr val="A33A2B"/>
                </a:solidFill>
                <a:latin typeface="맑은 고딕"/>
                <a:ea typeface="맑은 고딕"/>
                <a:cs typeface="맑은 고딕"/>
              </a:rPr>
              <a:t>85㎡ 초과 또는 2채 이상</a:t>
            </a:r>
          </a:p>
        </p:txBody>
      </p:sp>
      <p:sp>
        <p:nvSpPr>
          <p:cNvPr id="13" name="텍스트 13: 예: 본인 1채 + 같은 등본 부모 1채 ="/>
          <p:cNvSpPr txBox="1"/>
          <p:nvPr/>
        </p:nvSpPr>
        <p:spPr>
          <a:xfrm>
            <a:off x="6935469" y="3355934"/>
            <a:ext cx="2437687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예: 본인 1채 + 같은 등본 부모 1채 =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세대 2채</a:t>
            </a:r>
          </a:p>
        </p:txBody>
      </p:sp>
      <p:sp>
        <p:nvSpPr>
          <p:cNvPr id="14" name="텍스트 14: 주택 수에 포함"/>
          <p:cNvSpPr txBox="1"/>
          <p:nvPr/>
        </p:nvSpPr>
        <p:spPr>
          <a:xfrm>
            <a:off x="861364" y="4865625"/>
            <a:ext cx="84983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19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주택 수에 포함</a:t>
            </a:r>
          </a:p>
        </p:txBody>
      </p:sp>
      <p:sp>
        <p:nvSpPr>
          <p:cNvPr id="15" name="텍스트 15: 분양권 등 ‘당첨자 지위’(승계 포함)도 1채로 계산"/>
          <p:cNvSpPr txBox="1"/>
          <p:nvPr/>
        </p:nvSpPr>
        <p:spPr>
          <a:xfrm>
            <a:off x="508101" y="5209890"/>
            <a:ext cx="325078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9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분양권 등 ‘당첨자 지위’(승계 포함)도 1채로 계산</a:t>
            </a:r>
          </a:p>
        </p:txBody>
      </p:sp>
      <p:sp>
        <p:nvSpPr>
          <p:cNvPr id="16" name="텍스트 16: 유지 기간"/>
          <p:cNvSpPr txBox="1"/>
          <p:nvPr/>
        </p:nvSpPr>
        <p:spPr>
          <a:xfrm>
            <a:off x="5726557" y="4865625"/>
            <a:ext cx="56824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5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유지 기간</a:t>
            </a:r>
          </a:p>
        </p:txBody>
      </p:sp>
      <p:sp>
        <p:nvSpPr>
          <p:cNvPr id="17" name="텍스트 17: 조합설립인가 신청일부터 입주 가능일까지 계속 유지"/>
          <p:cNvSpPr txBox="1"/>
          <p:nvPr/>
        </p:nvSpPr>
        <p:spPr>
          <a:xfrm>
            <a:off x="5233415" y="5209890"/>
            <a:ext cx="351708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2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조합설립인가 신청일부터 입주 가능일까지 계속 유지</a:t>
            </a:r>
          </a:p>
        </p:txBody>
      </p:sp>
      <p:sp>
        <p:nvSpPr>
          <p:cNvPr id="18" name="텍스트 18: 근거: 주택법 시행령 제21조 제1항 제1호 가목, 주"/>
          <p:cNvSpPr txBox="1"/>
          <p:nvPr/>
        </p:nvSpPr>
        <p:spPr>
          <a:xfrm>
            <a:off x="304800" y="6048942"/>
            <a:ext cx="535187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2" b="0" spc="-1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근거: 주택법 시행령 제21조 제1항 제1호 가목, 주택법 시행규칙 제8조, 주택공급에 관한 규칙 제2조 제7호 (당첨자)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오송역세권 하늘을 누릴 단 480명</a:t>
            </a:r>
          </a:p>
        </p:txBody>
      </p:sp>
      <p:sp>
        <p:nvSpPr>
          <p:cNvPr id="3" name="텍스트 3: 32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  <p:sp>
        <p:nvSpPr>
          <p:cNvPr id="4" name="텍스트 4: 세대 전체가 무주택이거나 세대원 1명의 85㎡ 이하 1"/>
          <p:cNvSpPr txBox="1"/>
          <p:nvPr/>
        </p:nvSpPr>
        <p:spPr>
          <a:xfrm>
            <a:off x="304800" y="664811"/>
            <a:ext cx="8528478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 전체가 </a:t>
            </a:r>
            <a:r>
              <a:rPr lang="ko-KR" altLang="en-US" sz="269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무주택</a:t>
            </a:r>
            <a:r>
              <a:rPr lang="ko-KR" altLang="en-US" sz="269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이거나 세대원 1명의 </a:t>
            </a:r>
            <a:r>
              <a:rPr lang="ko-KR" altLang="en-US" sz="269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85㎡ 이하 1채</a:t>
            </a:r>
            <a:r>
              <a:rPr lang="ko-KR" altLang="en-US" sz="269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까지만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본인 의지 상관없이 주택 취득될 경우 구제하는 취지</a:t>
            </a:r>
          </a:p>
        </p:txBody>
      </p:sp>
      <p:sp>
        <p:nvSpPr>
          <p:cNvPr id="5" name="텍스트 5: 원칙 분양권 등을 보유해도 주택을 소유한 것으로 봅니다"/>
          <p:cNvSpPr txBox="1"/>
          <p:nvPr/>
        </p:nvSpPr>
        <p:spPr>
          <a:xfrm>
            <a:off x="533400" y="2057245"/>
            <a:ext cx="7035546" cy="2889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55" dirty="0">
                <a:solidFill>
                  <a:srgbClr val="D9C08A"/>
                </a:solidFill>
                <a:latin typeface="맑은 고딕"/>
                <a:ea typeface="맑은 고딕"/>
                <a:cs typeface="맑은 고딕"/>
              </a:rPr>
              <a:t>원칙 </a:t>
            </a:r>
            <a:r>
              <a:rPr lang="ko-KR" altLang="en-US" sz="1896" b="1" spc="-15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분양권 등을 보유해도 </a:t>
            </a:r>
            <a:r>
              <a:rPr lang="ko-KR" altLang="en-US" sz="1896" b="1" spc="-155" dirty="0">
                <a:solidFill>
                  <a:srgbClr val="F2D78E"/>
                </a:solidFill>
                <a:latin typeface="맑은 고딕"/>
                <a:ea typeface="맑은 고딕"/>
                <a:cs typeface="맑은 고딕"/>
              </a:rPr>
              <a:t>주택을 소유한 것</a:t>
            </a:r>
            <a:r>
              <a:rPr lang="ko-KR" altLang="en-US" sz="1896" b="1" spc="-15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으로 봅니다 </a:t>
            </a:r>
            <a:r>
              <a:rPr lang="ko-KR" altLang="en-US" sz="1296" b="0" spc="-155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주택법 시행규칙 제8조 ①</a:t>
            </a:r>
          </a:p>
        </p:txBody>
      </p:sp>
      <p:sp>
        <p:nvSpPr>
          <p:cNvPr id="6" name="텍스트 6: 상속·유증·혼인으로 주택을 취득했다면, 6개월 안에 처"/>
          <p:cNvSpPr txBox="1"/>
          <p:nvPr/>
        </p:nvSpPr>
        <p:spPr>
          <a:xfrm>
            <a:off x="304800" y="2692941"/>
            <a:ext cx="6610288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1" spc="-16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상속·유증·혼인으로 주택을 취득했다면, </a:t>
            </a:r>
            <a:r>
              <a:rPr lang="ko-KR" altLang="en-US" sz="1704" b="1" spc="-16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6개월 안에 처분</a:t>
            </a:r>
            <a:r>
              <a:rPr lang="ko-KR" altLang="en-US" sz="1704" b="1" spc="-16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하면 무주택으로 인정</a:t>
            </a:r>
          </a:p>
        </p:txBody>
      </p:sp>
      <p:sp>
        <p:nvSpPr>
          <p:cNvPr id="7" name="텍스트 7: 1"/>
          <p:cNvSpPr txBox="1"/>
          <p:nvPr/>
        </p:nvSpPr>
        <p:spPr>
          <a:xfrm>
            <a:off x="623011" y="3369756"/>
            <a:ext cx="15246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텍스트 8: 무주택 세대가 주택 취득"/>
          <p:cNvSpPr txBox="1"/>
          <p:nvPr/>
        </p:nvSpPr>
        <p:spPr>
          <a:xfrm>
            <a:off x="990904" y="3353168"/>
            <a:ext cx="2074117" cy="2600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80" b="1" spc="-1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무주택 세대가 주택 취득</a:t>
            </a:r>
          </a:p>
        </p:txBody>
      </p:sp>
      <p:sp>
        <p:nvSpPr>
          <p:cNvPr id="9" name="텍스트 9: 상속·유증·혼인으로 주택을 취득한"/>
          <p:cNvSpPr txBox="1"/>
          <p:nvPr/>
        </p:nvSpPr>
        <p:spPr>
          <a:xfrm>
            <a:off x="508101" y="3820642"/>
            <a:ext cx="2409154" cy="4701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상속·유증·혼인으로 주택을 취득한</a:t>
            </a:r>
          </a:p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경우</a:t>
            </a:r>
          </a:p>
        </p:txBody>
      </p:sp>
      <p:sp>
        <p:nvSpPr>
          <p:cNvPr id="10" name="텍스트 10: 6개월 내 취득 주택 처분 →"/>
          <p:cNvSpPr txBox="1"/>
          <p:nvPr/>
        </p:nvSpPr>
        <p:spPr>
          <a:xfrm>
            <a:off x="609600" y="4991129"/>
            <a:ext cx="2001329" cy="4358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6" b="1" spc="-15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6개월 내 취득 주택 처분 →</a:t>
            </a:r>
          </a:p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6" b="1" spc="-15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무주택 인정</a:t>
            </a:r>
          </a:p>
        </p:txBody>
      </p:sp>
      <p:sp>
        <p:nvSpPr>
          <p:cNvPr id="11" name="텍스트 11: 2"/>
          <p:cNvSpPr txBox="1"/>
          <p:nvPr/>
        </p:nvSpPr>
        <p:spPr>
          <a:xfrm>
            <a:off x="3773170" y="3369756"/>
            <a:ext cx="15246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텍스트 12: 1주택 세대가 추가 취득"/>
          <p:cNvSpPr txBox="1"/>
          <p:nvPr/>
        </p:nvSpPr>
        <p:spPr>
          <a:xfrm>
            <a:off x="4140961" y="3353168"/>
            <a:ext cx="2028524" cy="2600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6" b="1" spc="-16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1주택 세대가 추가 취득</a:t>
            </a:r>
          </a:p>
        </p:txBody>
      </p:sp>
      <p:sp>
        <p:nvSpPr>
          <p:cNvPr id="13" name="텍스트 13: 세대원 1명이 85㎡ 이하 1채 보유"/>
          <p:cNvSpPr txBox="1"/>
          <p:nvPr/>
        </p:nvSpPr>
        <p:spPr>
          <a:xfrm>
            <a:off x="3658234" y="3820642"/>
            <a:ext cx="2441132" cy="7052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95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세대원 1명이 85㎡ 이하 1채 보유</a:t>
            </a:r>
          </a:p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106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중, 상속·유증·혼인으로 85㎡ 이하</a:t>
            </a:r>
          </a:p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전매제한 주택을 취득한 경우</a:t>
            </a:r>
          </a:p>
        </p:txBody>
      </p:sp>
      <p:sp>
        <p:nvSpPr>
          <p:cNvPr id="14" name="텍스트 14: 6개월 내 기존주택 처분 →"/>
          <p:cNvSpPr txBox="1"/>
          <p:nvPr/>
        </p:nvSpPr>
        <p:spPr>
          <a:xfrm>
            <a:off x="3759708" y="4991129"/>
            <a:ext cx="1958657" cy="4358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8" b="1" spc="-15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6개월 내 기존주택 처분 →</a:t>
            </a:r>
          </a:p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8" b="1" spc="-14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기존주택 미소유</a:t>
            </a:r>
            <a:r>
              <a:rPr lang="ko-KR" altLang="en-US" sz="981" b="1" spc="-14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" name="텍스트 15: 3"/>
          <p:cNvSpPr txBox="1"/>
          <p:nvPr/>
        </p:nvSpPr>
        <p:spPr>
          <a:xfrm>
            <a:off x="6923278" y="3369756"/>
            <a:ext cx="15246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텍스트 16: 그 밖의 경우"/>
          <p:cNvSpPr txBox="1"/>
          <p:nvPr/>
        </p:nvSpPr>
        <p:spPr>
          <a:xfrm>
            <a:off x="7291069" y="3353168"/>
            <a:ext cx="1072594" cy="2600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83" b="1" spc="-1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그 밖의 경우</a:t>
            </a:r>
          </a:p>
        </p:txBody>
      </p:sp>
      <p:sp>
        <p:nvSpPr>
          <p:cNvPr id="17" name="텍스트 17: 「주택공급에 관한 규칙」 제53조 준용"/>
          <p:cNvSpPr txBox="1"/>
          <p:nvPr/>
        </p:nvSpPr>
        <p:spPr>
          <a:xfrm>
            <a:off x="6808343" y="3837908"/>
            <a:ext cx="26087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9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「주택공급에 관한 규칙」 제53조 준용</a:t>
            </a:r>
          </a:p>
        </p:txBody>
      </p:sp>
      <p:sp>
        <p:nvSpPr>
          <p:cNvPr id="18" name="텍스트 18: 다음 장 12가지 예외 확인"/>
          <p:cNvSpPr txBox="1"/>
          <p:nvPr/>
        </p:nvSpPr>
        <p:spPr>
          <a:xfrm>
            <a:off x="6910069" y="5090861"/>
            <a:ext cx="195783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2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다음 장 12가지 예외 확인</a:t>
            </a:r>
          </a:p>
        </p:txBody>
      </p:sp>
      <p:sp>
        <p:nvSpPr>
          <p:cNvPr id="19" name="텍스트 19: 1. 기존주택도 전매제한 대상이면, 두 주택 중 전매제"/>
          <p:cNvSpPr txBox="1"/>
          <p:nvPr/>
        </p:nvSpPr>
        <p:spPr>
          <a:xfrm>
            <a:off x="304800" y="5894579"/>
            <a:ext cx="879900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14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1. 기존주택도 전매제한 대상이면, </a:t>
            </a:r>
            <a:r>
              <a:rPr lang="ko-KR" altLang="en-US" sz="1200" b="0" spc="-114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두 주택 중 전매제한이 먼저 끝나는 날부터 6개월 이내 처분. 6개월은 부적격 통보일 기준. </a:t>
            </a:r>
            <a:r>
              <a:rPr lang="ko-KR" altLang="en-US" sz="1104" b="0" spc="-114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근거: 주택법 시행규칙 제8조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오송역세권 하늘을 누릴 단 480명</a:t>
            </a:r>
          </a:p>
        </p:txBody>
      </p:sp>
      <p:sp>
        <p:nvSpPr>
          <p:cNvPr id="3" name="텍스트 3: 33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59</a:t>
            </a:r>
          </a:p>
        </p:txBody>
      </p:sp>
      <p:sp>
        <p:nvSpPr>
          <p:cNvPr id="4" name="텍스트 4: 주택이 있어도 무주택으로"/>
          <p:cNvSpPr txBox="1"/>
          <p:nvPr/>
        </p:nvSpPr>
        <p:spPr>
          <a:xfrm>
            <a:off x="304800" y="664811"/>
            <a:ext cx="3545279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주택이 있어도 </a:t>
            </a:r>
            <a:r>
              <a:rPr lang="ko-KR" altLang="en-US" sz="2691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무주택</a:t>
            </a:r>
            <a:r>
              <a:rPr lang="ko-KR" altLang="en-US" sz="269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으로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9" b="1" spc="-27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인정되는 </a:t>
            </a:r>
            <a:r>
              <a:rPr lang="ko-KR" altLang="en-US" sz="2689" b="1" spc="-275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12가지 </a:t>
            </a:r>
            <a:r>
              <a:rPr lang="ko-KR" altLang="en-US" sz="2689" b="1" spc="-27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경우</a:t>
            </a:r>
          </a:p>
        </p:txBody>
      </p:sp>
      <p:sp>
        <p:nvSpPr>
          <p:cNvPr id="5" name="텍스트 5: 1"/>
          <p:cNvSpPr txBox="1"/>
          <p:nvPr/>
        </p:nvSpPr>
        <p:spPr>
          <a:xfrm>
            <a:off x="554431" y="2063467"/>
            <a:ext cx="13518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텍스트 6: 상속 공유지분"/>
          <p:cNvSpPr txBox="1"/>
          <p:nvPr/>
        </p:nvSpPr>
        <p:spPr>
          <a:xfrm>
            <a:off x="863803" y="2048702"/>
            <a:ext cx="107391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4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상속 공유지분</a:t>
            </a:r>
          </a:p>
        </p:txBody>
      </p:sp>
      <p:sp>
        <p:nvSpPr>
          <p:cNvPr id="7" name="텍스트 7: 부적격 통보 후"/>
          <p:cNvSpPr txBox="1"/>
          <p:nvPr/>
        </p:nvSpPr>
        <p:spPr>
          <a:xfrm>
            <a:off x="863803" y="2335925"/>
            <a:ext cx="1363461" cy="3840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8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부적격 통보 후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8" b="0" spc="-12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3개월 내 지분 처분</a:t>
            </a:r>
          </a:p>
        </p:txBody>
      </p:sp>
      <p:sp>
        <p:nvSpPr>
          <p:cNvPr id="8" name="텍스트 8: 2"/>
          <p:cNvSpPr txBox="1"/>
          <p:nvPr/>
        </p:nvSpPr>
        <p:spPr>
          <a:xfrm>
            <a:off x="3704590" y="2063467"/>
            <a:ext cx="13518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텍스트 9: 비도시·면 단독주택"/>
          <p:cNvSpPr txBox="1"/>
          <p:nvPr/>
        </p:nvSpPr>
        <p:spPr>
          <a:xfrm>
            <a:off x="4013961" y="2048702"/>
            <a:ext cx="147167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98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비도시·면 단독주택</a:t>
            </a:r>
          </a:p>
        </p:txBody>
      </p:sp>
      <p:sp>
        <p:nvSpPr>
          <p:cNvPr id="10" name="텍스트 10: 노후·소형 등 단독주택"/>
          <p:cNvSpPr txBox="1"/>
          <p:nvPr/>
        </p:nvSpPr>
        <p:spPr>
          <a:xfrm>
            <a:off x="4013961" y="2335925"/>
            <a:ext cx="1570674" cy="3840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9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노후·소형 등 단독주택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9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거주 후 타지역 이주</a:t>
            </a:r>
          </a:p>
        </p:txBody>
      </p:sp>
      <p:sp>
        <p:nvSpPr>
          <p:cNvPr id="11" name="텍스트 11: 3"/>
          <p:cNvSpPr txBox="1"/>
          <p:nvPr/>
        </p:nvSpPr>
        <p:spPr>
          <a:xfrm>
            <a:off x="6854697" y="2063467"/>
            <a:ext cx="135183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텍스트 12: 주택사업자 분양 주택"/>
          <p:cNvSpPr txBox="1"/>
          <p:nvPr/>
        </p:nvSpPr>
        <p:spPr>
          <a:xfrm>
            <a:off x="7164069" y="2048702"/>
            <a:ext cx="162128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8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주택사업자 분양 주택</a:t>
            </a:r>
          </a:p>
        </p:txBody>
      </p:sp>
      <p:sp>
        <p:nvSpPr>
          <p:cNvPr id="13" name="텍스트 13: 분양 완료, 또는"/>
          <p:cNvSpPr txBox="1"/>
          <p:nvPr/>
        </p:nvSpPr>
        <p:spPr>
          <a:xfrm>
            <a:off x="7164069" y="2335925"/>
            <a:ext cx="1560261" cy="3840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분양 완료, 또는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spc="-129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통보 후 3개월 내 처분</a:t>
            </a:r>
          </a:p>
        </p:txBody>
      </p:sp>
      <p:sp>
        <p:nvSpPr>
          <p:cNvPr id="14" name="텍스트 14: 4"/>
          <p:cNvSpPr txBox="1"/>
          <p:nvPr/>
        </p:nvSpPr>
        <p:spPr>
          <a:xfrm>
            <a:off x="554431" y="3054321"/>
            <a:ext cx="13518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텍스트 15: 근로자 숙소용 주택"/>
          <p:cNvSpPr txBox="1"/>
          <p:nvPr/>
        </p:nvSpPr>
        <p:spPr>
          <a:xfrm>
            <a:off x="863803" y="3039556"/>
            <a:ext cx="145374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0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근로자 숙소용 주택</a:t>
            </a:r>
          </a:p>
        </p:txBody>
      </p:sp>
      <p:sp>
        <p:nvSpPr>
          <p:cNvPr id="16" name="텍스트 16: 사업자 직원 숙소"/>
          <p:cNvSpPr txBox="1"/>
          <p:nvPr/>
        </p:nvSpPr>
        <p:spPr>
          <a:xfrm>
            <a:off x="863803" y="3326525"/>
            <a:ext cx="1873000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3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사업자 직원 숙소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0" spc="-14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정부시책 근로자 공급 주택</a:t>
            </a:r>
          </a:p>
        </p:txBody>
      </p:sp>
      <p:sp>
        <p:nvSpPr>
          <p:cNvPr id="17" name="텍스트 17: 5"/>
          <p:cNvSpPr txBox="1"/>
          <p:nvPr/>
        </p:nvSpPr>
        <p:spPr>
          <a:xfrm>
            <a:off x="3704590" y="3054321"/>
            <a:ext cx="13518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8" name="텍스트 18: 20㎡ 이하 소형주택"/>
          <p:cNvSpPr txBox="1"/>
          <p:nvPr/>
        </p:nvSpPr>
        <p:spPr>
          <a:xfrm>
            <a:off x="4013961" y="3039556"/>
            <a:ext cx="154940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0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20㎡ 이하 소형주택</a:t>
            </a:r>
          </a:p>
        </p:txBody>
      </p:sp>
      <p:sp>
        <p:nvSpPr>
          <p:cNvPr id="19" name="텍스트 19: 세대가 주택·분양권"/>
          <p:cNvSpPr txBox="1"/>
          <p:nvPr/>
        </p:nvSpPr>
        <p:spPr>
          <a:xfrm>
            <a:off x="4013961" y="3326525"/>
            <a:ext cx="1374078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7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세대가 주택·분양권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spc="-116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1호만 소유</a:t>
            </a:r>
          </a:p>
        </p:txBody>
      </p:sp>
      <p:sp>
        <p:nvSpPr>
          <p:cNvPr id="20" name="텍스트 20: 6"/>
          <p:cNvSpPr txBox="1"/>
          <p:nvPr/>
        </p:nvSpPr>
        <p:spPr>
          <a:xfrm>
            <a:off x="6854697" y="3054321"/>
            <a:ext cx="135183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1" name="텍스트 21: 60세 이상 부모 소유"/>
          <p:cNvSpPr txBox="1"/>
          <p:nvPr/>
        </p:nvSpPr>
        <p:spPr>
          <a:xfrm>
            <a:off x="7164069" y="3039556"/>
            <a:ext cx="158013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1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60세 이상 부모 소유</a:t>
            </a:r>
          </a:p>
        </p:txBody>
      </p:sp>
      <p:sp>
        <p:nvSpPr>
          <p:cNvPr id="22" name="텍스트 22: 부모·배우자 부모 명의"/>
          <p:cNvSpPr txBox="1"/>
          <p:nvPr/>
        </p:nvSpPr>
        <p:spPr>
          <a:xfrm>
            <a:off x="7164069" y="3326525"/>
            <a:ext cx="1570929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9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부모·배우자 부모 명의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1" b="0" spc="-14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주택·분양권</a:t>
            </a:r>
          </a:p>
        </p:txBody>
      </p:sp>
      <p:sp>
        <p:nvSpPr>
          <p:cNvPr id="23" name="텍스트 23: 7"/>
          <p:cNvSpPr txBox="1"/>
          <p:nvPr/>
        </p:nvSpPr>
        <p:spPr>
          <a:xfrm>
            <a:off x="554431" y="4044622"/>
            <a:ext cx="135386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4" name="텍스트 24: 폐가·멸실·타용도"/>
          <p:cNvSpPr txBox="1"/>
          <p:nvPr/>
        </p:nvSpPr>
        <p:spPr>
          <a:xfrm>
            <a:off x="863803" y="4030537"/>
            <a:ext cx="132085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3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폐가·멸실·타용도</a:t>
            </a:r>
          </a:p>
        </p:txBody>
      </p:sp>
      <p:sp>
        <p:nvSpPr>
          <p:cNvPr id="25" name="텍스트 25: 통보 후 3개월 내"/>
          <p:cNvSpPr txBox="1"/>
          <p:nvPr/>
        </p:nvSpPr>
        <p:spPr>
          <a:xfrm>
            <a:off x="863803" y="4317379"/>
            <a:ext cx="1401561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9" b="0" spc="-123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통보 후 3개월 내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9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멸실 또는 공부 정리</a:t>
            </a:r>
          </a:p>
        </p:txBody>
      </p:sp>
      <p:sp>
        <p:nvSpPr>
          <p:cNvPr id="26" name="텍스트 26: 8"/>
          <p:cNvSpPr txBox="1"/>
          <p:nvPr/>
        </p:nvSpPr>
        <p:spPr>
          <a:xfrm>
            <a:off x="3704590" y="4044622"/>
            <a:ext cx="135386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27" name="텍스트 27: 무허가건물"/>
          <p:cNvSpPr txBox="1"/>
          <p:nvPr/>
        </p:nvSpPr>
        <p:spPr>
          <a:xfrm>
            <a:off x="4013961" y="4030537"/>
            <a:ext cx="86360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67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무허가건물</a:t>
            </a:r>
          </a:p>
        </p:txBody>
      </p:sp>
      <p:sp>
        <p:nvSpPr>
          <p:cNvPr id="28" name="텍스트 28: 건축 당시 적법 건물임을"/>
          <p:cNvSpPr txBox="1"/>
          <p:nvPr/>
        </p:nvSpPr>
        <p:spPr>
          <a:xfrm>
            <a:off x="4013961" y="4317379"/>
            <a:ext cx="1716369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2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건축 당시 적법 건물임을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2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소유자가 증명</a:t>
            </a:r>
          </a:p>
        </p:txBody>
      </p:sp>
      <p:sp>
        <p:nvSpPr>
          <p:cNvPr id="29" name="텍스트 29: 9"/>
          <p:cNvSpPr txBox="1"/>
          <p:nvPr/>
        </p:nvSpPr>
        <p:spPr>
          <a:xfrm>
            <a:off x="6854697" y="4044622"/>
            <a:ext cx="135386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30" name="텍스트 30: 소형·저가 주택 1호"/>
          <p:cNvSpPr txBox="1"/>
          <p:nvPr/>
        </p:nvSpPr>
        <p:spPr>
          <a:xfrm>
            <a:off x="7164069" y="4030537"/>
            <a:ext cx="147345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2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소형·저가 주택 1호</a:t>
            </a:r>
          </a:p>
        </p:txBody>
      </p:sp>
      <p:sp>
        <p:nvSpPr>
          <p:cNvPr id="31" name="텍스트 31: 아파트 60㎡·1억 이하"/>
          <p:cNvSpPr txBox="1"/>
          <p:nvPr/>
        </p:nvSpPr>
        <p:spPr>
          <a:xfrm>
            <a:off x="7164069" y="4317379"/>
            <a:ext cx="1627317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7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아파트 60㎡·1억 이하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73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그 외 85㎡·3억 이하</a:t>
            </a:r>
          </a:p>
        </p:txBody>
      </p:sp>
      <p:sp>
        <p:nvSpPr>
          <p:cNvPr id="32" name="텍스트 32: 10 선착순 잔여세대 분양권"/>
          <p:cNvSpPr txBox="1"/>
          <p:nvPr/>
        </p:nvSpPr>
        <p:spPr>
          <a:xfrm>
            <a:off x="501091" y="5021137"/>
            <a:ext cx="215168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lang="ko-KR" altLang="en-US" sz="1500" b="1" spc="-7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 선착순 잔여세대 분양권</a:t>
            </a:r>
          </a:p>
        </p:txBody>
      </p:sp>
      <p:sp>
        <p:nvSpPr>
          <p:cNvPr id="33" name="텍스트 33: 잔여 주택 선착순 공급분"/>
          <p:cNvSpPr txBox="1"/>
          <p:nvPr/>
        </p:nvSpPr>
        <p:spPr>
          <a:xfrm>
            <a:off x="863803" y="5308192"/>
            <a:ext cx="1715759" cy="3841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잔여 주택 선착순 공급분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0" spc="-132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(매수자 제외)</a:t>
            </a:r>
          </a:p>
        </p:txBody>
      </p:sp>
      <p:sp>
        <p:nvSpPr>
          <p:cNvPr id="34" name="텍스트 34: 11 피해 임차인 경매 매수"/>
          <p:cNvSpPr txBox="1"/>
          <p:nvPr/>
        </p:nvSpPr>
        <p:spPr>
          <a:xfrm>
            <a:off x="3651250" y="5021137"/>
            <a:ext cx="202514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</a:t>
            </a:r>
            <a:r>
              <a:rPr lang="ko-KR" altLang="en-US" sz="1500" b="1" spc="-7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 피해 임차인 경매 매수</a:t>
            </a:r>
          </a:p>
        </p:txBody>
      </p:sp>
      <p:sp>
        <p:nvSpPr>
          <p:cNvPr id="35" name="텍스트 35: 보증금 미반환"/>
          <p:cNvSpPr txBox="1"/>
          <p:nvPr/>
        </p:nvSpPr>
        <p:spPr>
          <a:xfrm>
            <a:off x="4013961" y="5308192"/>
            <a:ext cx="1633413" cy="3841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보증금 미반환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59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85㎡·1.5억 이하 주택</a:t>
            </a:r>
          </a:p>
        </p:txBody>
      </p:sp>
      <p:sp>
        <p:nvSpPr>
          <p:cNvPr id="36" name="텍스트 36: 12 2024년 취득 임차주택"/>
          <p:cNvSpPr txBox="1"/>
          <p:nvPr/>
        </p:nvSpPr>
        <p:spPr>
          <a:xfrm>
            <a:off x="6801357" y="5021137"/>
            <a:ext cx="215468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1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lang="ko-KR" altLang="en-US" sz="1500" b="1" spc="-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 2024년 취득 임차주택</a:t>
            </a:r>
          </a:p>
        </p:txBody>
      </p:sp>
      <p:sp>
        <p:nvSpPr>
          <p:cNvPr id="37" name="텍스트 37: 생애최초, 60㎡·2억 이하"/>
          <p:cNvSpPr txBox="1"/>
          <p:nvPr/>
        </p:nvSpPr>
        <p:spPr>
          <a:xfrm>
            <a:off x="7164069" y="5308192"/>
            <a:ext cx="1828485" cy="3841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83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생애최초, 60㎡·2억 이하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19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1년 이상 거주</a:t>
            </a:r>
          </a:p>
        </p:txBody>
      </p:sp>
      <p:sp>
        <p:nvSpPr>
          <p:cNvPr id="38" name="텍스트 38: 수도권 기준: 1억 → 1억 6천만원, 3억 → 5억원"/>
          <p:cNvSpPr txBox="1"/>
          <p:nvPr/>
        </p:nvSpPr>
        <p:spPr>
          <a:xfrm>
            <a:off x="304800" y="5925750"/>
            <a:ext cx="636644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-11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수도권 기준: 1억 → 1억 6천만원, 3억 → 5억원, 1.5억 → 3억원, 2억 → 3억원. 근거: 「주택공급에 관한 규칙」 제53조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오송역세권 하늘을 누릴 단 480명</a:t>
            </a:r>
          </a:p>
        </p:txBody>
      </p:sp>
      <p:sp>
        <p:nvSpPr>
          <p:cNvPr id="3" name="텍스트 3: 3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  <p:sp>
        <p:nvSpPr>
          <p:cNvPr id="4" name="텍스트 4: 헷갈리는 6가지 사례, 핵심은 하나"/>
          <p:cNvSpPr txBox="1"/>
          <p:nvPr/>
        </p:nvSpPr>
        <p:spPr>
          <a:xfrm>
            <a:off x="304800" y="664811"/>
            <a:ext cx="4756894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4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헷갈리는 6가지 사례, 핵심은 하나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‘같은 등본의 직계가족·배우자’</a:t>
            </a:r>
            <a:r>
              <a:rPr lang="ko-KR" altLang="en-US" sz="273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인가</a:t>
            </a:r>
          </a:p>
        </p:txBody>
      </p:sp>
      <p:sp>
        <p:nvSpPr>
          <p:cNvPr id="5" name="텍스트 5: CASE 1"/>
          <p:cNvSpPr txBox="1"/>
          <p:nvPr/>
        </p:nvSpPr>
        <p:spPr>
          <a:xfrm>
            <a:off x="533400" y="2211483"/>
            <a:ext cx="50897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1</a:t>
            </a:r>
          </a:p>
        </p:txBody>
      </p:sp>
      <p:sp>
        <p:nvSpPr>
          <p:cNvPr id="6" name="텍스트 6: 같은 등본의 친형이 아파트 2채 소유,"/>
          <p:cNvSpPr txBox="1"/>
          <p:nvPr/>
        </p:nvSpPr>
        <p:spPr>
          <a:xfrm>
            <a:off x="533400" y="2466553"/>
            <a:ext cx="2466760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7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같은 등본의 친형이 아파트 2채 소유,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9" b="1" spc="-141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본인은 무주택</a:t>
            </a:r>
          </a:p>
        </p:txBody>
      </p:sp>
      <p:sp>
        <p:nvSpPr>
          <p:cNvPr id="7" name="텍스트 7: 가능"/>
          <p:cNvSpPr txBox="1"/>
          <p:nvPr/>
        </p:nvSpPr>
        <p:spPr>
          <a:xfrm>
            <a:off x="711403" y="3371948"/>
            <a:ext cx="30892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0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</a:t>
            </a:r>
          </a:p>
        </p:txBody>
      </p:sp>
      <p:sp>
        <p:nvSpPr>
          <p:cNvPr id="8" name="텍스트 8: 형제자매는 세대원이 아님"/>
          <p:cNvSpPr txBox="1"/>
          <p:nvPr/>
        </p:nvSpPr>
        <p:spPr>
          <a:xfrm>
            <a:off x="1270127" y="3371948"/>
            <a:ext cx="1627436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5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형제자매는 세대원이 아님</a:t>
            </a:r>
          </a:p>
        </p:txBody>
      </p:sp>
      <p:sp>
        <p:nvSpPr>
          <p:cNvPr id="9" name="텍스트 9: CASE 2"/>
          <p:cNvSpPr txBox="1"/>
          <p:nvPr/>
        </p:nvSpPr>
        <p:spPr>
          <a:xfrm>
            <a:off x="3734434" y="2211483"/>
            <a:ext cx="50897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2</a:t>
            </a:r>
          </a:p>
        </p:txBody>
      </p:sp>
      <p:sp>
        <p:nvSpPr>
          <p:cNvPr id="10" name="텍스트 10: 같은 등본의 아버지가 전용 102㎡"/>
          <p:cNvSpPr txBox="1"/>
          <p:nvPr/>
        </p:nvSpPr>
        <p:spPr>
          <a:xfrm>
            <a:off x="3734434" y="2466553"/>
            <a:ext cx="2326133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62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같은 등본의 아버지가 전용 102㎡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64" b="1" spc="-141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아파트 1채 소유</a:t>
            </a:r>
          </a:p>
        </p:txBody>
      </p:sp>
      <p:sp>
        <p:nvSpPr>
          <p:cNvPr id="11" name="텍스트 11: 불가"/>
          <p:cNvSpPr txBox="1"/>
          <p:nvPr/>
        </p:nvSpPr>
        <p:spPr>
          <a:xfrm>
            <a:off x="3912361" y="3371948"/>
            <a:ext cx="30892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0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불가</a:t>
            </a:r>
          </a:p>
        </p:txBody>
      </p:sp>
      <p:sp>
        <p:nvSpPr>
          <p:cNvPr id="12" name="텍스트 12: 세대원이 85㎡ 초과 소유"/>
          <p:cNvSpPr txBox="1"/>
          <p:nvPr/>
        </p:nvSpPr>
        <p:spPr>
          <a:xfrm>
            <a:off x="4471161" y="3371948"/>
            <a:ext cx="159543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4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세대원이 85㎡ 초과 소유</a:t>
            </a:r>
          </a:p>
        </p:txBody>
      </p:sp>
      <p:sp>
        <p:nvSpPr>
          <p:cNvPr id="13" name="텍스트 13: CASE 3"/>
          <p:cNvSpPr txBox="1"/>
          <p:nvPr/>
        </p:nvSpPr>
        <p:spPr>
          <a:xfrm>
            <a:off x="6935469" y="2211483"/>
            <a:ext cx="50897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3</a:t>
            </a:r>
          </a:p>
        </p:txBody>
      </p:sp>
      <p:sp>
        <p:nvSpPr>
          <p:cNvPr id="14" name="텍스트 14: 배우자가 직장 때문에 다른 주소,"/>
          <p:cNvSpPr txBox="1"/>
          <p:nvPr/>
        </p:nvSpPr>
        <p:spPr>
          <a:xfrm>
            <a:off x="6935469" y="2466553"/>
            <a:ext cx="2169200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9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배우자가 직장 때문에 다른 주소,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1" b="1" spc="-133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배우자 명의 59㎡ 1채</a:t>
            </a:r>
          </a:p>
        </p:txBody>
      </p:sp>
      <p:sp>
        <p:nvSpPr>
          <p:cNvPr id="15" name="텍스트 15: 가능"/>
          <p:cNvSpPr txBox="1"/>
          <p:nvPr/>
        </p:nvSpPr>
        <p:spPr>
          <a:xfrm>
            <a:off x="7113396" y="3371948"/>
            <a:ext cx="30892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0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</a:t>
            </a:r>
          </a:p>
        </p:txBody>
      </p:sp>
      <p:sp>
        <p:nvSpPr>
          <p:cNvPr id="16" name="텍스트 16: 배우자 포함, 85㎡ 이하 1채"/>
          <p:cNvSpPr txBox="1"/>
          <p:nvPr/>
        </p:nvSpPr>
        <p:spPr>
          <a:xfrm>
            <a:off x="7672069" y="3371948"/>
            <a:ext cx="1764726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배우자 포함, 85㎡ 이하 1채</a:t>
            </a:r>
          </a:p>
        </p:txBody>
      </p:sp>
      <p:sp>
        <p:nvSpPr>
          <p:cNvPr id="17" name="텍스트 17: CASE 4"/>
          <p:cNvSpPr txBox="1"/>
          <p:nvPr/>
        </p:nvSpPr>
        <p:spPr>
          <a:xfrm>
            <a:off x="533400" y="4218591"/>
            <a:ext cx="50897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4</a:t>
            </a:r>
          </a:p>
        </p:txBody>
      </p:sp>
      <p:sp>
        <p:nvSpPr>
          <p:cNvPr id="18" name="텍스트 18: 본인 59㎡ 1채, 같은 등본의 아들도"/>
          <p:cNvSpPr txBox="1"/>
          <p:nvPr/>
        </p:nvSpPr>
        <p:spPr>
          <a:xfrm>
            <a:off x="533400" y="4473662"/>
            <a:ext cx="2401514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 59㎡ 1채, 같은 등본의 아들도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51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59㎡ 1채</a:t>
            </a:r>
          </a:p>
        </p:txBody>
      </p:sp>
      <p:sp>
        <p:nvSpPr>
          <p:cNvPr id="19" name="텍스트 19: 불가"/>
          <p:cNvSpPr txBox="1"/>
          <p:nvPr/>
        </p:nvSpPr>
        <p:spPr>
          <a:xfrm>
            <a:off x="711403" y="5378503"/>
            <a:ext cx="309192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1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불가</a:t>
            </a:r>
          </a:p>
        </p:txBody>
      </p:sp>
      <p:sp>
        <p:nvSpPr>
          <p:cNvPr id="20" name="텍스트 20: 세대 합산 2채"/>
          <p:cNvSpPr txBox="1"/>
          <p:nvPr/>
        </p:nvSpPr>
        <p:spPr>
          <a:xfrm>
            <a:off x="1270127" y="5378503"/>
            <a:ext cx="893139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5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세대 합산 2채</a:t>
            </a:r>
          </a:p>
        </p:txBody>
      </p:sp>
      <p:sp>
        <p:nvSpPr>
          <p:cNvPr id="21" name="텍스트 21: CASE 5"/>
          <p:cNvSpPr txBox="1"/>
          <p:nvPr/>
        </p:nvSpPr>
        <p:spPr>
          <a:xfrm>
            <a:off x="3734434" y="4218591"/>
            <a:ext cx="50897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5</a:t>
            </a:r>
          </a:p>
        </p:txBody>
      </p:sp>
      <p:sp>
        <p:nvSpPr>
          <p:cNvPr id="22" name="텍스트 22: 다른 등본에 사는 부모님이 주택 3채"/>
          <p:cNvSpPr txBox="1"/>
          <p:nvPr/>
        </p:nvSpPr>
        <p:spPr>
          <a:xfrm>
            <a:off x="3734434" y="4473662"/>
            <a:ext cx="2422845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9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다른 등본에 사는 부모님이 주택 3채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9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소유</a:t>
            </a:r>
          </a:p>
        </p:txBody>
      </p:sp>
      <p:sp>
        <p:nvSpPr>
          <p:cNvPr id="23" name="텍스트 23: 가능"/>
          <p:cNvSpPr txBox="1"/>
          <p:nvPr/>
        </p:nvSpPr>
        <p:spPr>
          <a:xfrm>
            <a:off x="3912361" y="5378503"/>
            <a:ext cx="309192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1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</a:t>
            </a:r>
          </a:p>
        </p:txBody>
      </p:sp>
      <p:sp>
        <p:nvSpPr>
          <p:cNvPr id="24" name="텍스트 24: 따로 사는 부모는 제외"/>
          <p:cNvSpPr txBox="1"/>
          <p:nvPr/>
        </p:nvSpPr>
        <p:spPr>
          <a:xfrm>
            <a:off x="4471161" y="5378503"/>
            <a:ext cx="1377770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4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따로 사는 부모는 제외</a:t>
            </a:r>
          </a:p>
        </p:txBody>
      </p:sp>
      <p:sp>
        <p:nvSpPr>
          <p:cNvPr id="25" name="텍스트 25: CASE 6"/>
          <p:cNvSpPr txBox="1"/>
          <p:nvPr/>
        </p:nvSpPr>
        <p:spPr>
          <a:xfrm>
            <a:off x="6935469" y="4218591"/>
            <a:ext cx="50897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6</a:t>
            </a:r>
          </a:p>
        </p:txBody>
      </p:sp>
      <p:sp>
        <p:nvSpPr>
          <p:cNvPr id="26" name="텍스트 26: 가입 후 입주 전, 집 있는 부모님을"/>
          <p:cNvSpPr txBox="1"/>
          <p:nvPr/>
        </p:nvSpPr>
        <p:spPr>
          <a:xfrm>
            <a:off x="6935469" y="4473662"/>
            <a:ext cx="2235400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가입 후 입주 전, 집 있는 부모님을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등본에 전입</a:t>
            </a:r>
          </a:p>
        </p:txBody>
      </p:sp>
      <p:sp>
        <p:nvSpPr>
          <p:cNvPr id="27" name="텍스트 27: 주의"/>
          <p:cNvSpPr txBox="1"/>
          <p:nvPr/>
        </p:nvSpPr>
        <p:spPr>
          <a:xfrm>
            <a:off x="7113396" y="5378503"/>
            <a:ext cx="309191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1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주의</a:t>
            </a:r>
          </a:p>
        </p:txBody>
      </p:sp>
      <p:sp>
        <p:nvSpPr>
          <p:cNvPr id="28" name="텍스트 28: 유지 요건 위반 위험"/>
          <p:cNvSpPr txBox="1"/>
          <p:nvPr/>
        </p:nvSpPr>
        <p:spPr>
          <a:xfrm>
            <a:off x="7672069" y="5378503"/>
            <a:ext cx="1237308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3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유지 요건 위반 위험</a:t>
            </a:r>
          </a:p>
        </p:txBody>
      </p:sp>
      <p:sp>
        <p:nvSpPr>
          <p:cNvPr id="29" name="텍스트 29: ※ 교육용 예시이며, 최종 자격은 조합설립인가 시 관할"/>
          <p:cNvSpPr txBox="1"/>
          <p:nvPr/>
        </p:nvSpPr>
        <p:spPr>
          <a:xfrm>
            <a:off x="304800" y="6125142"/>
            <a:ext cx="477786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22" b="0" spc="-1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교육용 예시이며, 최종 자격은 조합설립인가 시 관할 지자체의 주택소유 전산검색 결과로 확정됩니다.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오송역세권 하늘을 누릴 단 480명</a:t>
            </a:r>
          </a:p>
        </p:txBody>
      </p:sp>
      <p:sp>
        <p:nvSpPr>
          <p:cNvPr id="3" name="텍스트 3: 35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  <p:sp>
        <p:nvSpPr>
          <p:cNvPr id="4" name="텍스트 4: 상담 전 5가지만 확인하면"/>
          <p:cNvSpPr txBox="1"/>
          <p:nvPr/>
        </p:nvSpPr>
        <p:spPr>
          <a:xfrm>
            <a:off x="304800" y="627689"/>
            <a:ext cx="3540707" cy="9819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상담 전 </a:t>
            </a:r>
            <a:r>
              <a:rPr lang="ko-KR" altLang="en-US" sz="2697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5가지만 확인</a:t>
            </a:r>
            <a:r>
              <a:rPr lang="ko-KR" altLang="en-US" sz="269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하면</a:t>
            </a:r>
          </a:p>
          <a:p>
            <a:pPr algn="l">
              <a:lnSpc>
                <a:spcPts val="3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자격 문제 없이 계약까지</a:t>
            </a:r>
          </a:p>
        </p:txBody>
      </p:sp>
      <p:sp>
        <p:nvSpPr>
          <p:cNvPr id="5" name="텍스트 5: 01"/>
          <p:cNvSpPr txBox="1"/>
          <p:nvPr/>
        </p:nvSpPr>
        <p:spPr>
          <a:xfrm>
            <a:off x="614781" y="2290065"/>
            <a:ext cx="2233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5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텍스트 6: 주민등록표등본 발급"/>
          <p:cNvSpPr txBox="1"/>
          <p:nvPr/>
        </p:nvSpPr>
        <p:spPr>
          <a:xfrm>
            <a:off x="1092403" y="2266589"/>
            <a:ext cx="1524066" cy="2289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22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주민등록표등본 발급</a:t>
            </a:r>
          </a:p>
        </p:txBody>
      </p:sp>
      <p:sp>
        <p:nvSpPr>
          <p:cNvPr id="7" name="텍스트 7: 본인 세대, 세대원 관계가 보이도록 발급"/>
          <p:cNvSpPr txBox="1"/>
          <p:nvPr/>
        </p:nvSpPr>
        <p:spPr>
          <a:xfrm>
            <a:off x="3048635" y="2274666"/>
            <a:ext cx="264992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5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 세대, 세대원 관계가 보이도록 발급</a:t>
            </a:r>
          </a:p>
        </p:txBody>
      </p:sp>
      <p:sp>
        <p:nvSpPr>
          <p:cNvPr id="8" name="텍스트 8: 02"/>
          <p:cNvSpPr txBox="1"/>
          <p:nvPr/>
        </p:nvSpPr>
        <p:spPr>
          <a:xfrm>
            <a:off x="614781" y="3077592"/>
            <a:ext cx="2233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5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9" name="텍스트 9: 배우자 등본 확인"/>
          <p:cNvSpPr txBox="1"/>
          <p:nvPr/>
        </p:nvSpPr>
        <p:spPr>
          <a:xfrm>
            <a:off x="1092403" y="3054542"/>
            <a:ext cx="1234287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21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배우자 등본 확인</a:t>
            </a:r>
          </a:p>
        </p:txBody>
      </p:sp>
      <p:sp>
        <p:nvSpPr>
          <p:cNvPr id="10" name="텍스트 10: 주소가 다르면 배우자 등본도 함께 받기"/>
          <p:cNvSpPr txBox="1"/>
          <p:nvPr/>
        </p:nvSpPr>
        <p:spPr>
          <a:xfrm>
            <a:off x="3048635" y="3062193"/>
            <a:ext cx="261182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2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주소가 다르면 배우자 등본도 함께 받기</a:t>
            </a:r>
          </a:p>
        </p:txBody>
      </p:sp>
      <p:sp>
        <p:nvSpPr>
          <p:cNvPr id="11" name="텍스트 11: 03"/>
          <p:cNvSpPr txBox="1"/>
          <p:nvPr/>
        </p:nvSpPr>
        <p:spPr>
          <a:xfrm>
            <a:off x="614781" y="3865246"/>
            <a:ext cx="2233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5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2" name="텍스트 12: 세대원별 주택·분양권"/>
          <p:cNvSpPr txBox="1"/>
          <p:nvPr/>
        </p:nvSpPr>
        <p:spPr>
          <a:xfrm>
            <a:off x="1092403" y="3842197"/>
            <a:ext cx="157713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37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세대원별 주택·분양권</a:t>
            </a:r>
          </a:p>
        </p:txBody>
      </p:sp>
      <p:sp>
        <p:nvSpPr>
          <p:cNvPr id="13" name="텍스트 13: 직계가족·배우자 명의 주택과 당첨 이력 확인"/>
          <p:cNvSpPr txBox="1"/>
          <p:nvPr/>
        </p:nvSpPr>
        <p:spPr>
          <a:xfrm>
            <a:off x="3048635" y="3849846"/>
            <a:ext cx="295929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직계가족·배우자 명의 주택과 당첨 이력 확인</a:t>
            </a:r>
          </a:p>
        </p:txBody>
      </p:sp>
      <p:sp>
        <p:nvSpPr>
          <p:cNvPr id="14" name="텍스트 14: 04"/>
          <p:cNvSpPr txBox="1"/>
          <p:nvPr/>
        </p:nvSpPr>
        <p:spPr>
          <a:xfrm>
            <a:off x="614781" y="4652774"/>
            <a:ext cx="2233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5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5" name="텍스트 15: 전용면적 확인"/>
          <p:cNvSpPr txBox="1"/>
          <p:nvPr/>
        </p:nvSpPr>
        <p:spPr>
          <a:xfrm>
            <a:off x="1092403" y="4629724"/>
            <a:ext cx="103738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23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전용면적 확인</a:t>
            </a:r>
          </a:p>
        </p:txBody>
      </p:sp>
      <p:sp>
        <p:nvSpPr>
          <p:cNvPr id="16" name="텍스트 16: 공급면적이 아닌 ‘전용’ 85㎡ 기준"/>
          <p:cNvSpPr txBox="1"/>
          <p:nvPr/>
        </p:nvSpPr>
        <p:spPr>
          <a:xfrm>
            <a:off x="3048635" y="4637501"/>
            <a:ext cx="228873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공급면적이 아닌 ‘전용’ 85㎡ 기준</a:t>
            </a:r>
          </a:p>
        </p:txBody>
      </p:sp>
      <p:sp>
        <p:nvSpPr>
          <p:cNvPr id="17" name="텍스트 17: 05"/>
          <p:cNvSpPr txBox="1"/>
          <p:nvPr/>
        </p:nvSpPr>
        <p:spPr>
          <a:xfrm>
            <a:off x="614781" y="5439823"/>
            <a:ext cx="223571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5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8" name="텍스트 18: 다른 조합 가입 여부"/>
          <p:cNvSpPr txBox="1"/>
          <p:nvPr/>
        </p:nvSpPr>
        <p:spPr>
          <a:xfrm>
            <a:off x="1092403" y="5417352"/>
            <a:ext cx="143083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19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다른 조합 가입 여부</a:t>
            </a:r>
          </a:p>
        </p:txBody>
      </p:sp>
      <p:sp>
        <p:nvSpPr>
          <p:cNvPr id="19" name="텍스트 19: 본인·배우자 모두 타 조합원이 아닌지 확인"/>
          <p:cNvSpPr txBox="1"/>
          <p:nvPr/>
        </p:nvSpPr>
        <p:spPr>
          <a:xfrm>
            <a:off x="3048635" y="5425053"/>
            <a:ext cx="280841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본인·배우자 모두 타 조합원이 아닌지 확인</a:t>
            </a:r>
          </a:p>
        </p:txBody>
      </p:sp>
      <p:sp>
        <p:nvSpPr>
          <p:cNvPr id="20" name="텍스트 20: 고객 안내 멘트"/>
          <p:cNvSpPr txBox="1"/>
          <p:nvPr/>
        </p:nvSpPr>
        <p:spPr>
          <a:xfrm>
            <a:off x="7148448" y="2378965"/>
            <a:ext cx="849884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19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고객 안내 멘트</a:t>
            </a:r>
          </a:p>
        </p:txBody>
      </p:sp>
      <p:sp>
        <p:nvSpPr>
          <p:cNvPr id="21" name="텍스트 21: “세대원 전원의 주택을 입주할"/>
          <p:cNvSpPr txBox="1"/>
          <p:nvPr/>
        </p:nvSpPr>
        <p:spPr>
          <a:xfrm>
            <a:off x="6859269" y="2800953"/>
            <a:ext cx="2307138" cy="5608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22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“세대원 전원의 주택을 </a:t>
            </a:r>
            <a:r>
              <a:rPr lang="ko-KR" altLang="en-US" sz="1522" b="1" spc="-160" dirty="0">
                <a:solidFill>
                  <a:srgbClr val="D9CFB5"/>
                </a:solidFill>
                <a:latin typeface="맑은 고딕"/>
                <a:ea typeface="맑은 고딕"/>
                <a:cs typeface="맑은 고딕"/>
              </a:rPr>
              <a:t>입주할</a:t>
            </a:r>
          </a:p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24" b="1" spc="-160" dirty="0">
                <a:solidFill>
                  <a:srgbClr val="D9CFB5"/>
                </a:solidFill>
                <a:latin typeface="맑은 고딕"/>
                <a:ea typeface="맑은 고딕"/>
                <a:cs typeface="맑은 고딕"/>
              </a:rPr>
              <a:t>때까지 </a:t>
            </a:r>
            <a:r>
              <a:rPr lang="ko-KR" altLang="en-US" sz="1524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함께 봅니다.</a:t>
            </a:r>
          </a:p>
        </p:txBody>
      </p:sp>
      <p:sp>
        <p:nvSpPr>
          <p:cNvPr id="22" name="텍스트 22: 등본에 가족을 올리거나 집을"/>
          <p:cNvSpPr txBox="1"/>
          <p:nvPr/>
        </p:nvSpPr>
        <p:spPr>
          <a:xfrm>
            <a:off x="6859269" y="3488531"/>
            <a:ext cx="2220273" cy="8412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15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등본에 가족을 올리거나 집을</a:t>
            </a:r>
          </a:p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15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사기 전에는 </a:t>
            </a:r>
            <a:r>
              <a:rPr lang="ko-KR" altLang="en-US" sz="1515" b="1" spc="-160" dirty="0">
                <a:solidFill>
                  <a:srgbClr val="D9CFB5"/>
                </a:solidFill>
                <a:latin typeface="맑은 고딕"/>
                <a:ea typeface="맑은 고딕"/>
                <a:cs typeface="맑은 고딕"/>
              </a:rPr>
              <a:t>꼭 먼저 상담</a:t>
            </a:r>
            <a:r>
              <a:rPr lang="ko-KR" altLang="en-US" sz="1515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해</a:t>
            </a:r>
          </a:p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15" b="0" spc="-13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주세요.”</a:t>
            </a:r>
          </a:p>
        </p:txBody>
      </p:sp>
      <p:sp>
        <p:nvSpPr>
          <p:cNvPr id="23" name="텍스트 23: 최종 자격: 조합설립인가 시 관할 지자체"/>
          <p:cNvSpPr txBox="1"/>
          <p:nvPr/>
        </p:nvSpPr>
        <p:spPr>
          <a:xfrm>
            <a:off x="6859269" y="5338247"/>
            <a:ext cx="2037277" cy="3839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15" b="0" spc="-110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최종 자격: 조합설립인가 시 관할 지자체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15" b="0" spc="-110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전산검색으로 확정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오송역세권 하늘을 누릴 단 480명</a:t>
            </a:r>
          </a:p>
        </p:txBody>
      </p:sp>
      <p:sp>
        <p:nvSpPr>
          <p:cNvPr id="3" name="텍스트 3: 36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62</a:t>
            </a:r>
          </a:p>
        </p:txBody>
      </p:sp>
      <p:sp>
        <p:nvSpPr>
          <p:cNvPr id="4" name="텍스트 4: 상속·유증·혼인으로 생긴 집은 6개월 안에 처분하면 유"/>
          <p:cNvSpPr txBox="1"/>
          <p:nvPr/>
        </p:nvSpPr>
        <p:spPr>
          <a:xfrm>
            <a:off x="304800" y="627689"/>
            <a:ext cx="7648522" cy="9819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상속·유증·혼인으로 생긴 집은 </a:t>
            </a:r>
            <a:r>
              <a:rPr lang="ko-KR" altLang="en-US" sz="269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6개월 안에 처분</a:t>
            </a:r>
            <a:r>
              <a:rPr lang="ko-KR" altLang="en-US" sz="269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하면 유지</a:t>
            </a:r>
          </a:p>
          <a:p>
            <a:pPr algn="l">
              <a:lnSpc>
                <a:spcPts val="3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직접 산 집은 유예 없이 </a:t>
            </a:r>
            <a:r>
              <a:rPr lang="ko-KR" altLang="en-US" sz="2697" b="1" spc="-280" dirty="0">
                <a:solidFill>
                  <a:srgbClr val="B23A2A"/>
                </a:solidFill>
                <a:latin typeface="맑은 고딕"/>
                <a:ea typeface="맑은 고딕"/>
                <a:cs typeface="맑은 고딕"/>
              </a:rPr>
              <a:t>바로 자격 상실</a:t>
            </a:r>
          </a:p>
        </p:txBody>
      </p:sp>
      <p:sp>
        <p:nvSpPr>
          <p:cNvPr id="5" name="텍스트 5: 처분기간 · 주택법 시행규칙 제8조 ②"/>
          <p:cNvSpPr txBox="1"/>
          <p:nvPr/>
        </p:nvSpPr>
        <p:spPr>
          <a:xfrm>
            <a:off x="304800" y="1927448"/>
            <a:ext cx="254482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7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처분기간 · 주택법 시행규칙 제8조 ②</a:t>
            </a:r>
          </a:p>
        </p:txBody>
      </p:sp>
      <p:sp>
        <p:nvSpPr>
          <p:cNvPr id="6" name="텍스트 6: 1호"/>
          <p:cNvSpPr txBox="1"/>
          <p:nvPr/>
        </p:nvSpPr>
        <p:spPr>
          <a:xfrm>
            <a:off x="622706" y="2629917"/>
            <a:ext cx="25735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4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1호</a:t>
            </a:r>
          </a:p>
        </p:txBody>
      </p:sp>
      <p:sp>
        <p:nvSpPr>
          <p:cNvPr id="7" name="텍스트 7: 상속·유증·혼인으로 집을 취득"/>
          <p:cNvSpPr txBox="1"/>
          <p:nvPr/>
        </p:nvSpPr>
        <p:spPr>
          <a:xfrm>
            <a:off x="1117701" y="2492822"/>
            <a:ext cx="2192807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1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상속·유증·혼인</a:t>
            </a:r>
            <a:r>
              <a:rPr lang="ko-KR" altLang="en-US" sz="1471" b="1" spc="-15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으로 집을 취득</a:t>
            </a:r>
          </a:p>
        </p:txBody>
      </p:sp>
      <p:sp>
        <p:nvSpPr>
          <p:cNvPr id="8" name="텍스트 8: 취득한 그 집을 처분하면 무주택으로 봄"/>
          <p:cNvSpPr txBox="1"/>
          <p:nvPr/>
        </p:nvSpPr>
        <p:spPr>
          <a:xfrm>
            <a:off x="1117701" y="2736438"/>
            <a:ext cx="266251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취득한 그 집을 처분하면 무주택으로 봄</a:t>
            </a:r>
          </a:p>
        </p:txBody>
      </p:sp>
      <p:sp>
        <p:nvSpPr>
          <p:cNvPr id="9" name="텍스트 9: 6개월"/>
          <p:cNvSpPr txBox="1"/>
          <p:nvPr/>
        </p:nvSpPr>
        <p:spPr>
          <a:xfrm>
            <a:off x="5048377" y="2448309"/>
            <a:ext cx="755395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16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6개월</a:t>
            </a:r>
          </a:p>
        </p:txBody>
      </p:sp>
      <p:sp>
        <p:nvSpPr>
          <p:cNvPr id="10" name="텍스트 10: 통보일부터"/>
          <p:cNvSpPr txBox="1"/>
          <p:nvPr/>
        </p:nvSpPr>
        <p:spPr>
          <a:xfrm>
            <a:off x="5086477" y="2812798"/>
            <a:ext cx="67767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1" b="0" spc="-12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통보일부터</a:t>
            </a:r>
          </a:p>
        </p:txBody>
      </p:sp>
      <p:sp>
        <p:nvSpPr>
          <p:cNvPr id="11" name="텍스트 11: 2호"/>
          <p:cNvSpPr txBox="1"/>
          <p:nvPr/>
        </p:nvSpPr>
        <p:spPr>
          <a:xfrm>
            <a:off x="622706" y="3696971"/>
            <a:ext cx="25735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4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2호</a:t>
            </a:r>
          </a:p>
        </p:txBody>
      </p:sp>
      <p:sp>
        <p:nvSpPr>
          <p:cNvPr id="12" name="텍스트 12: 85㎡ 이하 1채 세대 + 상속 등 추가"/>
          <p:cNvSpPr txBox="1"/>
          <p:nvPr/>
        </p:nvSpPr>
        <p:spPr>
          <a:xfrm>
            <a:off x="1117701" y="3447735"/>
            <a:ext cx="26031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85㎡ 이하 1채 </a:t>
            </a:r>
            <a:r>
              <a:rPr lang="ko-KR" altLang="en-US" sz="1500" b="1" spc="-136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세대 + 상속 등 추가</a:t>
            </a:r>
          </a:p>
        </p:txBody>
      </p:sp>
      <p:sp>
        <p:nvSpPr>
          <p:cNvPr id="13" name="텍스트 13: 추가 집이 전매제한(85㎡ 이하)이면 기존 집 처분,"/>
          <p:cNvSpPr txBox="1"/>
          <p:nvPr/>
        </p:nvSpPr>
        <p:spPr>
          <a:xfrm>
            <a:off x="1117701" y="3683122"/>
            <a:ext cx="3396183" cy="4480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3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추가 집이 전매제한(85㎡ 이하)이면 기존 집 처분,</a:t>
            </a:r>
          </a:p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5" b="0" spc="-141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둘 다 전매제한이면 빠른 종료일부터</a:t>
            </a:r>
          </a:p>
        </p:txBody>
      </p:sp>
      <p:sp>
        <p:nvSpPr>
          <p:cNvPr id="14" name="텍스트 14: 6개월"/>
          <p:cNvSpPr txBox="1"/>
          <p:nvPr/>
        </p:nvSpPr>
        <p:spPr>
          <a:xfrm>
            <a:off x="5048377" y="3515363"/>
            <a:ext cx="755395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16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6개월</a:t>
            </a:r>
          </a:p>
        </p:txBody>
      </p:sp>
      <p:sp>
        <p:nvSpPr>
          <p:cNvPr id="15" name="텍스트 15: 통보일부터"/>
          <p:cNvSpPr txBox="1"/>
          <p:nvPr/>
        </p:nvSpPr>
        <p:spPr>
          <a:xfrm>
            <a:off x="5086477" y="3879851"/>
            <a:ext cx="67767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1" b="0" spc="-12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통보일부터</a:t>
            </a:r>
          </a:p>
        </p:txBody>
      </p:sp>
      <p:sp>
        <p:nvSpPr>
          <p:cNvPr id="16" name="텍스트 16: 3호"/>
          <p:cNvSpPr txBox="1"/>
          <p:nvPr/>
        </p:nvSpPr>
        <p:spPr>
          <a:xfrm>
            <a:off x="622706" y="4763771"/>
            <a:ext cx="25735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4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3호</a:t>
            </a:r>
          </a:p>
        </p:txBody>
      </p:sp>
      <p:sp>
        <p:nvSpPr>
          <p:cNvPr id="17" name="텍스트 17: 그 밖의 경우"/>
          <p:cNvSpPr txBox="1"/>
          <p:nvPr/>
        </p:nvSpPr>
        <p:spPr>
          <a:xfrm>
            <a:off x="1117701" y="4627056"/>
            <a:ext cx="924839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45" b="1" spc="-15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그 밖의 경우</a:t>
            </a:r>
          </a:p>
        </p:txBody>
      </p:sp>
      <p:sp>
        <p:nvSpPr>
          <p:cNvPr id="18" name="텍스트 18: 청약 기준 그대로 (공유지분·폐가·멸실 등)"/>
          <p:cNvSpPr txBox="1"/>
          <p:nvPr/>
        </p:nvSpPr>
        <p:spPr>
          <a:xfrm>
            <a:off x="1117701" y="4870673"/>
            <a:ext cx="282918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0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청약 기준 그대로 (공유지분·폐가·멸실 등)</a:t>
            </a:r>
          </a:p>
        </p:txBody>
      </p:sp>
      <p:sp>
        <p:nvSpPr>
          <p:cNvPr id="19" name="텍스트 19: 제53조"/>
          <p:cNvSpPr txBox="1"/>
          <p:nvPr/>
        </p:nvSpPr>
        <p:spPr>
          <a:xfrm>
            <a:off x="5027040" y="4611421"/>
            <a:ext cx="798275" cy="3057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6" b="1" spc="-8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제53조</a:t>
            </a:r>
          </a:p>
        </p:txBody>
      </p:sp>
      <p:sp>
        <p:nvSpPr>
          <p:cNvPr id="20" name="텍스트 20: 공급규칙 준용"/>
          <p:cNvSpPr txBox="1"/>
          <p:nvPr/>
        </p:nvSpPr>
        <p:spPr>
          <a:xfrm>
            <a:off x="5007228" y="4915872"/>
            <a:ext cx="836438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0" spc="-12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공급규칙 준용</a:t>
            </a:r>
          </a:p>
        </p:txBody>
      </p:sp>
      <p:sp>
        <p:nvSpPr>
          <p:cNvPr id="21" name="텍스트 21: 매매로 직접 산 집은 유예 없음 → 취득 즉시 부적격"/>
          <p:cNvSpPr txBox="1"/>
          <p:nvPr/>
        </p:nvSpPr>
        <p:spPr>
          <a:xfrm>
            <a:off x="508101" y="5605414"/>
            <a:ext cx="361203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26" b="1" spc="-150" dirty="0">
                <a:solidFill>
                  <a:srgbClr val="B23A2A"/>
                </a:solidFill>
                <a:latin typeface="맑은 고딕"/>
                <a:ea typeface="맑은 고딕"/>
                <a:cs typeface="맑은 고딕"/>
              </a:rPr>
              <a:t>매매로 직접 산 집</a:t>
            </a:r>
            <a:r>
              <a:rPr lang="ko-KR" altLang="en-US" sz="1426" b="1" spc="-15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은 유예 없음 → 취득 즉시 부적격</a:t>
            </a:r>
          </a:p>
        </p:txBody>
      </p:sp>
      <p:sp>
        <p:nvSpPr>
          <p:cNvPr id="22" name="텍스트 22: 소명기간"/>
          <p:cNvSpPr txBox="1"/>
          <p:nvPr/>
        </p:nvSpPr>
        <p:spPr>
          <a:xfrm>
            <a:off x="6452615" y="1927448"/>
            <a:ext cx="63951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3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소명기간</a:t>
            </a:r>
          </a:p>
        </p:txBody>
      </p:sp>
      <p:sp>
        <p:nvSpPr>
          <p:cNvPr id="23" name="텍스트 23: 법정 기간 없음"/>
          <p:cNvSpPr txBox="1"/>
          <p:nvPr/>
        </p:nvSpPr>
        <p:spPr>
          <a:xfrm>
            <a:off x="6655943" y="2436531"/>
            <a:ext cx="1598479" cy="334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36" b="1" spc="-2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법정 기간 없음</a:t>
            </a:r>
          </a:p>
        </p:txBody>
      </p:sp>
      <p:sp>
        <p:nvSpPr>
          <p:cNvPr id="24" name="텍스트 24: 조합 규약·계약서·공고로 정함"/>
          <p:cNvSpPr txBox="1"/>
          <p:nvPr/>
        </p:nvSpPr>
        <p:spPr>
          <a:xfrm>
            <a:off x="6655943" y="2794350"/>
            <a:ext cx="203727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66" b="0" spc="-14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조합 규약·계약서·공고로 정함</a:t>
            </a:r>
          </a:p>
        </p:txBody>
      </p:sp>
      <p:sp>
        <p:nvSpPr>
          <p:cNvPr id="25" name="텍스트 25: 일반청약"/>
          <p:cNvSpPr txBox="1"/>
          <p:nvPr/>
        </p:nvSpPr>
        <p:spPr>
          <a:xfrm>
            <a:off x="6655943" y="3268514"/>
            <a:ext cx="1966197" cy="45415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3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일반청약</a:t>
            </a:r>
          </a:p>
          <a:p>
            <a:pPr algn="l">
              <a:lnSpc>
                <a:spcPts val="17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3" b="0" spc="-127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7일 이상 (공급규칙 제52조)</a:t>
            </a:r>
          </a:p>
        </p:txBody>
      </p:sp>
      <p:sp>
        <p:nvSpPr>
          <p:cNvPr id="26" name="텍스트 26: 지역주택조합"/>
          <p:cNvSpPr txBox="1"/>
          <p:nvPr/>
        </p:nvSpPr>
        <p:spPr>
          <a:xfrm>
            <a:off x="6655943" y="3903075"/>
            <a:ext cx="1959513" cy="68237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0" b="1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지역주택조합</a:t>
            </a:r>
          </a:p>
          <a:p>
            <a:pPr algn="l">
              <a:lnSpc>
                <a:spcPts val="1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인가청 전산검색 3회만 규정</a:t>
            </a:r>
          </a:p>
          <a:p>
            <a:pPr algn="l">
              <a:lnSpc>
                <a:spcPts val="1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8" b="0" spc="-14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설립인가·사업승인·사용검사</a:t>
            </a:r>
          </a:p>
        </p:txBody>
      </p:sp>
      <p:sp>
        <p:nvSpPr>
          <p:cNvPr id="27" name="텍스트 27: 오송 C17 공고 13번 ④"/>
          <p:cNvSpPr txBox="1"/>
          <p:nvPr/>
        </p:nvSpPr>
        <p:spPr>
          <a:xfrm>
            <a:off x="6828790" y="5118452"/>
            <a:ext cx="157403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84" dirty="0">
                <a:solidFill>
                  <a:srgbClr val="E9D8A6"/>
                </a:solidFill>
                <a:latin typeface="맑은 고딕"/>
                <a:ea typeface="맑은 고딕"/>
                <a:cs typeface="맑은 고딕"/>
              </a:rPr>
              <a:t>오송 C17 공고 13번 ④</a:t>
            </a:r>
          </a:p>
        </p:txBody>
      </p:sp>
      <p:sp>
        <p:nvSpPr>
          <p:cNvPr id="28" name="텍스트 28: 부적격 통보일부터 1개월 이내"/>
          <p:cNvSpPr txBox="1"/>
          <p:nvPr/>
        </p:nvSpPr>
        <p:spPr>
          <a:xfrm>
            <a:off x="6828790" y="5355148"/>
            <a:ext cx="2236978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63" b="1" spc="-1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부적격 통보일부터 1개월 이내</a:t>
            </a:r>
          </a:p>
        </p:txBody>
      </p:sp>
      <p:sp>
        <p:nvSpPr>
          <p:cNvPr id="29" name="텍스트 29: 근거: 주택법 시행규칙 제8조 제2·3항(2026.6."/>
          <p:cNvSpPr txBox="1"/>
          <p:nvPr/>
        </p:nvSpPr>
        <p:spPr>
          <a:xfrm>
            <a:off x="304800" y="6176044"/>
            <a:ext cx="78478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2" b="0" spc="-1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근거: 주택법 시행규칙 제8조 제2·3항(2026.6.23 시행), 주택공급에 관한 규칙 제52·53조, 오송 C17 조합원 모집공고. 기간은 사업주체의 부적격 통보일부터 계산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3 ·  청주시 주택시장과 수요 │ 청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2  ·  진짜 수요  │  청주, 오송의 폭발적 인구 증가</a:t>
            </a:r>
          </a:p>
        </p:txBody>
      </p:sp>
      <p:sp>
        <p:nvSpPr>
          <p:cNvPr id="3" name="텍스트 3: 청주시는 폭발적 인구증가로 89만, 특례시 목표로 10"/>
          <p:cNvSpPr txBox="1"/>
          <p:nvPr/>
        </p:nvSpPr>
        <p:spPr>
          <a:xfrm>
            <a:off x="304800" y="629209"/>
            <a:ext cx="9331273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청주시는 폭발적 인구증가로 89만, 특례시 목표로 100만 향해 진격 중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특히, 오송은 대규모 개발에 따라 5년 전 대비 </a:t>
            </a:r>
            <a:r>
              <a:rPr lang="ko-KR" altLang="en-US" sz="2682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인구 ‘2배’ 증가</a:t>
            </a:r>
          </a:p>
        </p:txBody>
      </p:sp>
      <p:sp>
        <p:nvSpPr>
          <p:cNvPr id="4" name="텍스트 4: 청원구 18.6만"/>
          <p:cNvSpPr txBox="1"/>
          <p:nvPr/>
        </p:nvSpPr>
        <p:spPr>
          <a:xfrm>
            <a:off x="7005193" y="3070797"/>
            <a:ext cx="71310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청원구 18.6만</a:t>
            </a:r>
          </a:p>
        </p:txBody>
      </p:sp>
      <p:sp>
        <p:nvSpPr>
          <p:cNvPr id="5" name="텍스트 5: 상당구 19.3만"/>
          <p:cNvSpPr txBox="1"/>
          <p:nvPr/>
        </p:nvSpPr>
        <p:spPr>
          <a:xfrm>
            <a:off x="7380096" y="3969703"/>
            <a:ext cx="71272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상당구 19.3만</a:t>
            </a:r>
          </a:p>
        </p:txBody>
      </p:sp>
      <p:sp>
        <p:nvSpPr>
          <p:cNvPr id="6" name="텍스트 6: 서원구 18.8만"/>
          <p:cNvSpPr txBox="1"/>
          <p:nvPr/>
        </p:nvSpPr>
        <p:spPr>
          <a:xfrm>
            <a:off x="6722618" y="4731703"/>
            <a:ext cx="71272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서원구 18.8만</a:t>
            </a:r>
          </a:p>
        </p:txBody>
      </p:sp>
      <p:sp>
        <p:nvSpPr>
          <p:cNvPr id="7" name="텍스트 7: 흥덕구 29.4만"/>
          <p:cNvSpPr txBox="1"/>
          <p:nvPr/>
        </p:nvSpPr>
        <p:spPr>
          <a:xfrm>
            <a:off x="5113020" y="3661064"/>
            <a:ext cx="1249486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6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 29.4만</a:t>
            </a:r>
          </a:p>
        </p:txBody>
      </p:sp>
      <p:sp>
        <p:nvSpPr>
          <p:cNvPr id="8" name="텍스트 8: 83.19만명"/>
          <p:cNvSpPr txBox="1"/>
          <p:nvPr/>
        </p:nvSpPr>
        <p:spPr>
          <a:xfrm>
            <a:off x="384352" y="3524726"/>
            <a:ext cx="50539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83.19만명</a:t>
            </a:r>
          </a:p>
        </p:txBody>
      </p:sp>
      <p:sp>
        <p:nvSpPr>
          <p:cNvPr id="9" name="텍스트 9: 83.56만명"/>
          <p:cNvSpPr txBox="1"/>
          <p:nvPr/>
        </p:nvSpPr>
        <p:spPr>
          <a:xfrm>
            <a:off x="1027480" y="3414109"/>
            <a:ext cx="50534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83.56만명</a:t>
            </a:r>
          </a:p>
        </p:txBody>
      </p:sp>
      <p:sp>
        <p:nvSpPr>
          <p:cNvPr id="10" name="텍스트 10: 84.50만명"/>
          <p:cNvSpPr txBox="1"/>
          <p:nvPr/>
        </p:nvSpPr>
        <p:spPr>
          <a:xfrm>
            <a:off x="1991867" y="3132169"/>
            <a:ext cx="50539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84.50만명</a:t>
            </a:r>
          </a:p>
        </p:txBody>
      </p:sp>
      <p:sp>
        <p:nvSpPr>
          <p:cNvPr id="11" name="텍스트 11: 85.22만명"/>
          <p:cNvSpPr txBox="1"/>
          <p:nvPr/>
        </p:nvSpPr>
        <p:spPr>
          <a:xfrm>
            <a:off x="2956305" y="2916396"/>
            <a:ext cx="50539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85.22만명</a:t>
            </a:r>
          </a:p>
        </p:txBody>
      </p:sp>
      <p:sp>
        <p:nvSpPr>
          <p:cNvPr id="12" name="텍스트 12: '15y"/>
          <p:cNvSpPr txBox="1"/>
          <p:nvPr/>
        </p:nvSpPr>
        <p:spPr>
          <a:xfrm>
            <a:off x="516026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'15y</a:t>
            </a:r>
          </a:p>
        </p:txBody>
      </p:sp>
      <p:sp>
        <p:nvSpPr>
          <p:cNvPr id="13" name="텍스트 13: '16y"/>
          <p:cNvSpPr txBox="1"/>
          <p:nvPr/>
        </p:nvSpPr>
        <p:spPr>
          <a:xfrm>
            <a:off x="837590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'16y</a:t>
            </a:r>
          </a:p>
        </p:txBody>
      </p:sp>
      <p:sp>
        <p:nvSpPr>
          <p:cNvPr id="14" name="텍스트 14: '17y"/>
          <p:cNvSpPr txBox="1"/>
          <p:nvPr/>
        </p:nvSpPr>
        <p:spPr>
          <a:xfrm>
            <a:off x="1158849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'17y</a:t>
            </a:r>
          </a:p>
        </p:txBody>
      </p:sp>
      <p:sp>
        <p:nvSpPr>
          <p:cNvPr id="15" name="텍스트 15: '18y"/>
          <p:cNvSpPr txBox="1"/>
          <p:nvPr/>
        </p:nvSpPr>
        <p:spPr>
          <a:xfrm>
            <a:off x="1480438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'18y</a:t>
            </a:r>
          </a:p>
        </p:txBody>
      </p:sp>
      <p:sp>
        <p:nvSpPr>
          <p:cNvPr id="16" name="텍스트 16: '19y"/>
          <p:cNvSpPr txBox="1"/>
          <p:nvPr/>
        </p:nvSpPr>
        <p:spPr>
          <a:xfrm>
            <a:off x="1802002" y="3874357"/>
            <a:ext cx="24176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'19y</a:t>
            </a:r>
          </a:p>
        </p:txBody>
      </p:sp>
      <p:sp>
        <p:nvSpPr>
          <p:cNvPr id="17" name="텍스트 17: '20y"/>
          <p:cNvSpPr txBox="1"/>
          <p:nvPr/>
        </p:nvSpPr>
        <p:spPr>
          <a:xfrm>
            <a:off x="2123185" y="3874357"/>
            <a:ext cx="24176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'20y</a:t>
            </a:r>
          </a:p>
        </p:txBody>
      </p:sp>
      <p:sp>
        <p:nvSpPr>
          <p:cNvPr id="18" name="텍스트 18: '21y"/>
          <p:cNvSpPr txBox="1"/>
          <p:nvPr/>
        </p:nvSpPr>
        <p:spPr>
          <a:xfrm>
            <a:off x="2444750" y="3874357"/>
            <a:ext cx="24176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'21y</a:t>
            </a:r>
          </a:p>
        </p:txBody>
      </p:sp>
      <p:sp>
        <p:nvSpPr>
          <p:cNvPr id="19" name="텍스트 19: '22y"/>
          <p:cNvSpPr txBox="1"/>
          <p:nvPr/>
        </p:nvSpPr>
        <p:spPr>
          <a:xfrm>
            <a:off x="2766314" y="3874357"/>
            <a:ext cx="24176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'22y</a:t>
            </a:r>
          </a:p>
        </p:txBody>
      </p:sp>
      <p:sp>
        <p:nvSpPr>
          <p:cNvPr id="20" name="텍스트 20: '23y"/>
          <p:cNvSpPr txBox="1"/>
          <p:nvPr/>
        </p:nvSpPr>
        <p:spPr>
          <a:xfrm>
            <a:off x="3087623" y="3874357"/>
            <a:ext cx="24176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'23y</a:t>
            </a:r>
          </a:p>
        </p:txBody>
      </p:sp>
      <p:sp>
        <p:nvSpPr>
          <p:cNvPr id="21" name="텍스트 21: '24y"/>
          <p:cNvSpPr txBox="1"/>
          <p:nvPr/>
        </p:nvSpPr>
        <p:spPr>
          <a:xfrm>
            <a:off x="3409188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'24y</a:t>
            </a:r>
          </a:p>
        </p:txBody>
      </p:sp>
      <p:sp>
        <p:nvSpPr>
          <p:cNvPr id="22" name="텍스트 22: '25y"/>
          <p:cNvSpPr txBox="1"/>
          <p:nvPr/>
        </p:nvSpPr>
        <p:spPr>
          <a:xfrm>
            <a:off x="3730752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'25y</a:t>
            </a:r>
          </a:p>
        </p:txBody>
      </p:sp>
      <p:sp>
        <p:nvSpPr>
          <p:cNvPr id="23" name="텍스트 23: '26y"/>
          <p:cNvSpPr txBox="1"/>
          <p:nvPr/>
        </p:nvSpPr>
        <p:spPr>
          <a:xfrm>
            <a:off x="4052315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'26y</a:t>
            </a:r>
          </a:p>
        </p:txBody>
      </p:sp>
      <p:sp>
        <p:nvSpPr>
          <p:cNvPr id="24" name="텍스트 24: ’26년, 청주시 인구 89만명 돌파!"/>
          <p:cNvSpPr txBox="1"/>
          <p:nvPr/>
        </p:nvSpPr>
        <p:spPr>
          <a:xfrm>
            <a:off x="383133" y="2045338"/>
            <a:ext cx="4051858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15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’26년, 청주시 인구 89만명 돌파!</a:t>
            </a:r>
          </a:p>
        </p:txBody>
      </p:sp>
      <p:sp>
        <p:nvSpPr>
          <p:cNvPr id="25" name="텍스트 25: 24,178"/>
          <p:cNvSpPr txBox="1"/>
          <p:nvPr/>
        </p:nvSpPr>
        <p:spPr>
          <a:xfrm>
            <a:off x="396849" y="5292124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24,178</a:t>
            </a:r>
          </a:p>
        </p:txBody>
      </p:sp>
      <p:sp>
        <p:nvSpPr>
          <p:cNvPr id="26" name="텍스트 26: 50,489"/>
          <p:cNvSpPr txBox="1"/>
          <p:nvPr/>
        </p:nvSpPr>
        <p:spPr>
          <a:xfrm>
            <a:off x="3660394" y="4728498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50,489</a:t>
            </a:r>
          </a:p>
        </p:txBody>
      </p:sp>
      <p:sp>
        <p:nvSpPr>
          <p:cNvPr id="27" name="텍스트 27: 12,059"/>
          <p:cNvSpPr txBox="1"/>
          <p:nvPr/>
        </p:nvSpPr>
        <p:spPr>
          <a:xfrm>
            <a:off x="641604" y="5556086"/>
            <a:ext cx="477177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4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12,059</a:t>
            </a:r>
          </a:p>
        </p:txBody>
      </p:sp>
      <p:sp>
        <p:nvSpPr>
          <p:cNvPr id="28" name="텍스트 28: 24,051"/>
          <p:cNvSpPr txBox="1"/>
          <p:nvPr/>
        </p:nvSpPr>
        <p:spPr>
          <a:xfrm>
            <a:off x="3905122" y="5294918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24,051</a:t>
            </a:r>
          </a:p>
        </p:txBody>
      </p:sp>
      <p:sp>
        <p:nvSpPr>
          <p:cNvPr id="29" name="텍스트 29: 2021"/>
          <p:cNvSpPr txBox="1"/>
          <p:nvPr/>
        </p:nvSpPr>
        <p:spPr>
          <a:xfrm>
            <a:off x="562051" y="6132762"/>
            <a:ext cx="36414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2021</a:t>
            </a:r>
          </a:p>
        </p:txBody>
      </p:sp>
      <p:sp>
        <p:nvSpPr>
          <p:cNvPr id="30" name="텍스트 30: 2022"/>
          <p:cNvSpPr txBox="1"/>
          <p:nvPr/>
        </p:nvSpPr>
        <p:spPr>
          <a:xfrm>
            <a:off x="1214932" y="6132762"/>
            <a:ext cx="36414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2022</a:t>
            </a:r>
          </a:p>
        </p:txBody>
      </p:sp>
      <p:sp>
        <p:nvSpPr>
          <p:cNvPr id="31" name="텍스트 31: 2023"/>
          <p:cNvSpPr txBox="1"/>
          <p:nvPr/>
        </p:nvSpPr>
        <p:spPr>
          <a:xfrm>
            <a:off x="1867535" y="6132762"/>
            <a:ext cx="36414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2023</a:t>
            </a:r>
          </a:p>
        </p:txBody>
      </p:sp>
      <p:sp>
        <p:nvSpPr>
          <p:cNvPr id="32" name="텍스트 32: 2024"/>
          <p:cNvSpPr txBox="1"/>
          <p:nvPr/>
        </p:nvSpPr>
        <p:spPr>
          <a:xfrm>
            <a:off x="2520442" y="6132762"/>
            <a:ext cx="36414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2024</a:t>
            </a:r>
          </a:p>
        </p:txBody>
      </p:sp>
      <p:sp>
        <p:nvSpPr>
          <p:cNvPr id="33" name="텍스트 33: 2025"/>
          <p:cNvSpPr txBox="1"/>
          <p:nvPr/>
        </p:nvSpPr>
        <p:spPr>
          <a:xfrm>
            <a:off x="3172967" y="6132762"/>
            <a:ext cx="36414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2025</a:t>
            </a:r>
          </a:p>
        </p:txBody>
      </p:sp>
      <p:sp>
        <p:nvSpPr>
          <p:cNvPr id="34" name="텍스트 34: 2026.07"/>
          <p:cNvSpPr txBox="1"/>
          <p:nvPr/>
        </p:nvSpPr>
        <p:spPr>
          <a:xfrm>
            <a:off x="3724909" y="6132762"/>
            <a:ext cx="56526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5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2026.07</a:t>
            </a:r>
          </a:p>
        </p:txBody>
      </p:sp>
      <p:sp>
        <p:nvSpPr>
          <p:cNvPr id="35" name="텍스트 35: 오송읍 인구, 5년 만에 2배 증가!"/>
          <p:cNvSpPr txBox="1"/>
          <p:nvPr/>
        </p:nvSpPr>
        <p:spPr>
          <a:xfrm>
            <a:off x="460248" y="4268220"/>
            <a:ext cx="3896639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19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오송읍 인구, 5년 만에 2배 증가!</a:t>
            </a:r>
          </a:p>
        </p:txBody>
      </p:sp>
      <p:sp>
        <p:nvSpPr>
          <p:cNvPr id="36" name="텍스트 36: [출처 : 청주시청]"/>
          <p:cNvSpPr txBox="1"/>
          <p:nvPr/>
        </p:nvSpPr>
        <p:spPr>
          <a:xfrm>
            <a:off x="9022968" y="6232343"/>
            <a:ext cx="608272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5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[출처 : 청주시청]</a:t>
            </a:r>
          </a:p>
        </p:txBody>
      </p:sp>
      <p:sp>
        <p:nvSpPr>
          <p:cNvPr id="37" name="텍스트 37: 인구수"/>
          <p:cNvSpPr txBox="1"/>
          <p:nvPr/>
        </p:nvSpPr>
        <p:spPr>
          <a:xfrm>
            <a:off x="1857120" y="4753263"/>
            <a:ext cx="3592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인구수</a:t>
            </a:r>
          </a:p>
        </p:txBody>
      </p:sp>
      <p:sp>
        <p:nvSpPr>
          <p:cNvPr id="38" name="텍스트 38: 세대수"/>
          <p:cNvSpPr txBox="1"/>
          <p:nvPr/>
        </p:nvSpPr>
        <p:spPr>
          <a:xfrm>
            <a:off x="2491994" y="4753263"/>
            <a:ext cx="3592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세대수</a:t>
            </a:r>
          </a:p>
        </p:txBody>
      </p:sp>
      <p:sp>
        <p:nvSpPr>
          <p:cNvPr id="39" name="텍스트 39: 38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40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41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42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43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44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11%"/>
          <p:cNvSpPr txBox="1"/>
          <p:nvPr/>
        </p:nvSpPr>
        <p:spPr>
          <a:xfrm>
            <a:off x="720547" y="4448270"/>
            <a:ext cx="26037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11%</a:t>
            </a:r>
          </a:p>
        </p:txBody>
      </p:sp>
      <p:sp>
        <p:nvSpPr>
          <p:cNvPr id="3" name="텍스트 3: 8%"/>
          <p:cNvSpPr txBox="1"/>
          <p:nvPr/>
        </p:nvSpPr>
        <p:spPr>
          <a:xfrm>
            <a:off x="1881504" y="4710734"/>
            <a:ext cx="192091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2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8%</a:t>
            </a:r>
          </a:p>
        </p:txBody>
      </p:sp>
      <p:sp>
        <p:nvSpPr>
          <p:cNvPr id="4" name="텍스트 4: 12%"/>
          <p:cNvSpPr txBox="1"/>
          <p:nvPr/>
        </p:nvSpPr>
        <p:spPr>
          <a:xfrm>
            <a:off x="2972435" y="4360767"/>
            <a:ext cx="26037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12%</a:t>
            </a:r>
          </a:p>
        </p:txBody>
      </p:sp>
      <p:sp>
        <p:nvSpPr>
          <p:cNvPr id="5" name="텍스트 5: 24%"/>
          <p:cNvSpPr txBox="1"/>
          <p:nvPr/>
        </p:nvSpPr>
        <p:spPr>
          <a:xfrm>
            <a:off x="4098290" y="3309207"/>
            <a:ext cx="26037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24%</a:t>
            </a:r>
          </a:p>
        </p:txBody>
      </p:sp>
      <p:sp>
        <p:nvSpPr>
          <p:cNvPr id="6" name="텍스트 6: 16%"/>
          <p:cNvSpPr txBox="1"/>
          <p:nvPr/>
        </p:nvSpPr>
        <p:spPr>
          <a:xfrm>
            <a:off x="5224271" y="4010247"/>
            <a:ext cx="26037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16%</a:t>
            </a:r>
          </a:p>
        </p:txBody>
      </p:sp>
      <p:sp>
        <p:nvSpPr>
          <p:cNvPr id="7" name="텍스트 7: 13%"/>
          <p:cNvSpPr txBox="1"/>
          <p:nvPr/>
        </p:nvSpPr>
        <p:spPr>
          <a:xfrm>
            <a:off x="6350253" y="4273010"/>
            <a:ext cx="26037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13%</a:t>
            </a:r>
          </a:p>
        </p:txBody>
      </p:sp>
      <p:sp>
        <p:nvSpPr>
          <p:cNvPr id="8" name="텍스트 8: 9%"/>
          <p:cNvSpPr txBox="1"/>
          <p:nvPr/>
        </p:nvSpPr>
        <p:spPr>
          <a:xfrm>
            <a:off x="7511160" y="4623530"/>
            <a:ext cx="19179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9%</a:t>
            </a:r>
          </a:p>
        </p:txBody>
      </p:sp>
      <p:sp>
        <p:nvSpPr>
          <p:cNvPr id="9" name="텍스트 9: 6%"/>
          <p:cNvSpPr txBox="1"/>
          <p:nvPr/>
        </p:nvSpPr>
        <p:spPr>
          <a:xfrm>
            <a:off x="8637143" y="4886293"/>
            <a:ext cx="19179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6%</a:t>
            </a:r>
          </a:p>
        </p:txBody>
      </p:sp>
      <p:sp>
        <p:nvSpPr>
          <p:cNvPr id="10" name="텍스트 10: 8%"/>
          <p:cNvSpPr txBox="1"/>
          <p:nvPr/>
        </p:nvSpPr>
        <p:spPr>
          <a:xfrm>
            <a:off x="1141171" y="4710734"/>
            <a:ext cx="192091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2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8%</a:t>
            </a:r>
          </a:p>
        </p:txBody>
      </p:sp>
      <p:sp>
        <p:nvSpPr>
          <p:cNvPr id="11" name="텍스트 11: 9%"/>
          <p:cNvSpPr txBox="1"/>
          <p:nvPr/>
        </p:nvSpPr>
        <p:spPr>
          <a:xfrm>
            <a:off x="2267076" y="4623530"/>
            <a:ext cx="19179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9%</a:t>
            </a:r>
          </a:p>
        </p:txBody>
      </p:sp>
      <p:sp>
        <p:nvSpPr>
          <p:cNvPr id="12" name="텍스트 12: 12%"/>
          <p:cNvSpPr txBox="1"/>
          <p:nvPr/>
        </p:nvSpPr>
        <p:spPr>
          <a:xfrm>
            <a:off x="3358007" y="4360767"/>
            <a:ext cx="26037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12%</a:t>
            </a:r>
          </a:p>
        </p:txBody>
      </p:sp>
      <p:sp>
        <p:nvSpPr>
          <p:cNvPr id="13" name="텍스트 13: 17%"/>
          <p:cNvSpPr txBox="1"/>
          <p:nvPr/>
        </p:nvSpPr>
        <p:spPr>
          <a:xfrm>
            <a:off x="4483861" y="3922191"/>
            <a:ext cx="260671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17%</a:t>
            </a:r>
          </a:p>
        </p:txBody>
      </p:sp>
      <p:sp>
        <p:nvSpPr>
          <p:cNvPr id="14" name="텍스트 14: 16%"/>
          <p:cNvSpPr txBox="1"/>
          <p:nvPr/>
        </p:nvSpPr>
        <p:spPr>
          <a:xfrm>
            <a:off x="5609844" y="4010247"/>
            <a:ext cx="26037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16%</a:t>
            </a:r>
          </a:p>
        </p:txBody>
      </p:sp>
      <p:sp>
        <p:nvSpPr>
          <p:cNvPr id="15" name="텍스트 15: 16%"/>
          <p:cNvSpPr txBox="1"/>
          <p:nvPr/>
        </p:nvSpPr>
        <p:spPr>
          <a:xfrm>
            <a:off x="6735826" y="4010247"/>
            <a:ext cx="26037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16%</a:t>
            </a:r>
          </a:p>
        </p:txBody>
      </p:sp>
      <p:sp>
        <p:nvSpPr>
          <p:cNvPr id="16" name="텍스트 16: 13%"/>
          <p:cNvSpPr txBox="1"/>
          <p:nvPr/>
        </p:nvSpPr>
        <p:spPr>
          <a:xfrm>
            <a:off x="7861681" y="4273010"/>
            <a:ext cx="26037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13%</a:t>
            </a:r>
          </a:p>
        </p:txBody>
      </p:sp>
      <p:sp>
        <p:nvSpPr>
          <p:cNvPr id="17" name="텍스트 17: 9%"/>
          <p:cNvSpPr txBox="1"/>
          <p:nvPr/>
        </p:nvSpPr>
        <p:spPr>
          <a:xfrm>
            <a:off x="9022715" y="4623530"/>
            <a:ext cx="19179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9%</a:t>
            </a:r>
          </a:p>
        </p:txBody>
      </p:sp>
      <p:sp>
        <p:nvSpPr>
          <p:cNvPr id="18" name="텍스트 18: 10대 미만"/>
          <p:cNvSpPr txBox="1"/>
          <p:nvPr/>
        </p:nvSpPr>
        <p:spPr>
          <a:xfrm>
            <a:off x="817168" y="5690965"/>
            <a:ext cx="45205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43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10대 미만</a:t>
            </a:r>
          </a:p>
        </p:txBody>
      </p:sp>
      <p:sp>
        <p:nvSpPr>
          <p:cNvPr id="19" name="텍스트 19: 10~19세"/>
          <p:cNvSpPr txBox="1"/>
          <p:nvPr/>
        </p:nvSpPr>
        <p:spPr>
          <a:xfrm>
            <a:off x="1941576" y="5690965"/>
            <a:ext cx="45510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10~19세</a:t>
            </a:r>
          </a:p>
        </p:txBody>
      </p:sp>
      <p:sp>
        <p:nvSpPr>
          <p:cNvPr id="20" name="텍스트 20: 20~29세"/>
          <p:cNvSpPr txBox="1"/>
          <p:nvPr/>
        </p:nvSpPr>
        <p:spPr>
          <a:xfrm>
            <a:off x="3067557" y="5690965"/>
            <a:ext cx="45510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20~29세</a:t>
            </a:r>
          </a:p>
        </p:txBody>
      </p:sp>
      <p:sp>
        <p:nvSpPr>
          <p:cNvPr id="21" name="텍스트 21: 30~39세"/>
          <p:cNvSpPr txBox="1"/>
          <p:nvPr/>
        </p:nvSpPr>
        <p:spPr>
          <a:xfrm>
            <a:off x="4193413" y="5690965"/>
            <a:ext cx="45510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30~39세</a:t>
            </a:r>
          </a:p>
        </p:txBody>
      </p:sp>
      <p:sp>
        <p:nvSpPr>
          <p:cNvPr id="22" name="텍스트 22: 40~49세"/>
          <p:cNvSpPr txBox="1"/>
          <p:nvPr/>
        </p:nvSpPr>
        <p:spPr>
          <a:xfrm>
            <a:off x="5319395" y="5690965"/>
            <a:ext cx="45510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40~49세</a:t>
            </a:r>
          </a:p>
        </p:txBody>
      </p:sp>
      <p:sp>
        <p:nvSpPr>
          <p:cNvPr id="23" name="텍스트 23: 50~59세"/>
          <p:cNvSpPr txBox="1"/>
          <p:nvPr/>
        </p:nvSpPr>
        <p:spPr>
          <a:xfrm>
            <a:off x="6445250" y="5690965"/>
            <a:ext cx="45510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50~59세</a:t>
            </a:r>
          </a:p>
        </p:txBody>
      </p:sp>
      <p:sp>
        <p:nvSpPr>
          <p:cNvPr id="24" name="텍스트 24: 60~69세"/>
          <p:cNvSpPr txBox="1"/>
          <p:nvPr/>
        </p:nvSpPr>
        <p:spPr>
          <a:xfrm>
            <a:off x="7571231" y="5690965"/>
            <a:ext cx="45510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60~69세</a:t>
            </a:r>
          </a:p>
        </p:txBody>
      </p:sp>
      <p:sp>
        <p:nvSpPr>
          <p:cNvPr id="25" name="텍스트 25: 70대 이상"/>
          <p:cNvSpPr txBox="1"/>
          <p:nvPr/>
        </p:nvSpPr>
        <p:spPr>
          <a:xfrm>
            <a:off x="8698738" y="5690965"/>
            <a:ext cx="45205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43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70대 이상</a:t>
            </a:r>
          </a:p>
        </p:txBody>
      </p:sp>
      <p:sp>
        <p:nvSpPr>
          <p:cNvPr id="26" name="텍스트 26: 오송"/>
          <p:cNvSpPr txBox="1"/>
          <p:nvPr/>
        </p:nvSpPr>
        <p:spPr>
          <a:xfrm>
            <a:off x="4668011" y="5992250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27" name="텍스트 27: 흥덕구"/>
          <p:cNvSpPr txBox="1"/>
          <p:nvPr/>
        </p:nvSpPr>
        <p:spPr>
          <a:xfrm>
            <a:off x="5138928" y="5992250"/>
            <a:ext cx="3592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28" name="텍스트 28: 흥덕구"/>
          <p:cNvSpPr txBox="1"/>
          <p:nvPr/>
        </p:nvSpPr>
        <p:spPr>
          <a:xfrm>
            <a:off x="744931" y="3179561"/>
            <a:ext cx="365579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2" b="1" spc="-100" dirty="0">
                <a:solidFill>
                  <a:srgbClr val="F2F2F2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29" name="텍스트 29: 33%"/>
          <p:cNvSpPr txBox="1"/>
          <p:nvPr/>
        </p:nvSpPr>
        <p:spPr>
          <a:xfrm>
            <a:off x="764743" y="3332514"/>
            <a:ext cx="32550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70" dirty="0">
                <a:solidFill>
                  <a:srgbClr val="F2F2F2"/>
                </a:solidFill>
                <a:latin typeface="맑은 고딕"/>
                <a:ea typeface="맑은 고딕"/>
                <a:cs typeface="맑은 고딕"/>
              </a:rPr>
              <a:t>33%</a:t>
            </a:r>
          </a:p>
        </p:txBody>
      </p:sp>
      <p:sp>
        <p:nvSpPr>
          <p:cNvPr id="30" name="텍스트 30: 오송"/>
          <p:cNvSpPr txBox="1"/>
          <p:nvPr/>
        </p:nvSpPr>
        <p:spPr>
          <a:xfrm>
            <a:off x="1981326" y="2932008"/>
            <a:ext cx="447361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9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40%</a:t>
            </a:r>
          </a:p>
        </p:txBody>
      </p:sp>
      <p:sp>
        <p:nvSpPr>
          <p:cNvPr id="31" name="텍스트 31: 오송의 연령대별 인구 비율, 30~40대 40%, 젊은"/>
          <p:cNvSpPr txBox="1"/>
          <p:nvPr/>
        </p:nvSpPr>
        <p:spPr>
          <a:xfrm>
            <a:off x="304800" y="629209"/>
            <a:ext cx="9148123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오송의 연령대별 인구 비율, </a:t>
            </a:r>
            <a:r>
              <a:rPr lang="ko-KR" altLang="en-US" sz="2717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30~40대 40%</a:t>
            </a:r>
            <a:r>
              <a:rPr lang="ko-KR" altLang="en-US" sz="271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, 젊은 첨단산업 도시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특히 </a:t>
            </a:r>
            <a:r>
              <a:rPr lang="ko-KR" altLang="en-US" sz="271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30대 청년층 비율 24%</a:t>
            </a:r>
            <a:r>
              <a:rPr lang="ko-KR" altLang="en-US" sz="271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로, 첨단산업도시 개발의 인적 기반 확보</a:t>
            </a:r>
          </a:p>
        </p:txBody>
      </p:sp>
      <p:sp>
        <p:nvSpPr>
          <p:cNvPr id="32" name="텍스트 32: 흥덕구"/>
          <p:cNvSpPr txBox="1"/>
          <p:nvPr/>
        </p:nvSpPr>
        <p:spPr>
          <a:xfrm>
            <a:off x="7658354" y="2903636"/>
            <a:ext cx="560384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0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33" name="텍스트 33: 오송 ·"/>
          <p:cNvSpPr txBox="1"/>
          <p:nvPr/>
        </p:nvSpPr>
        <p:spPr>
          <a:xfrm>
            <a:off x="6726301" y="3132236"/>
            <a:ext cx="494526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1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오송 ·</a:t>
            </a:r>
          </a:p>
        </p:txBody>
      </p:sp>
      <p:sp>
        <p:nvSpPr>
          <p:cNvPr id="34" name="텍스트 34: CHAPTER 03  ·  청주시 주택시장과 수요 │ 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젊은도시, 오송신도시</a:t>
            </a:r>
          </a:p>
        </p:txBody>
      </p:sp>
      <p:sp>
        <p:nvSpPr>
          <p:cNvPr id="35" name="텍스트 35: [출처 : 청주시청]"/>
          <p:cNvSpPr txBox="1"/>
          <p:nvPr/>
        </p:nvSpPr>
        <p:spPr>
          <a:xfrm>
            <a:off x="8908668" y="6232343"/>
            <a:ext cx="608272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5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청주시청]</a:t>
            </a:r>
          </a:p>
        </p:txBody>
      </p:sp>
      <p:sp>
        <p:nvSpPr>
          <p:cNvPr id="36" name="텍스트 36: 39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늘어나는 인구에 따라 주택수요 급증 중, 흥덕구 거래량"/>
          <p:cNvSpPr txBox="1"/>
          <p:nvPr/>
        </p:nvSpPr>
        <p:spPr>
          <a:xfrm>
            <a:off x="304800" y="664811"/>
            <a:ext cx="8813111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늘어나는 인구에 따라 주택수요 급증 중, 흥덕구 거래량 상위권 지속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 전반, 가격 역시 상승세 → 흥덕구 주택가격은 약 20% 상승</a:t>
            </a:r>
            <a:r>
              <a:rPr lang="ko-KR" altLang="en-US" sz="262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텍스트 3: 청주시"/>
          <p:cNvSpPr txBox="1"/>
          <p:nvPr/>
        </p:nvSpPr>
        <p:spPr>
          <a:xfrm>
            <a:off x="5884798" y="2674334"/>
            <a:ext cx="29508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</a:t>
            </a:r>
          </a:p>
        </p:txBody>
      </p:sp>
      <p:sp>
        <p:nvSpPr>
          <p:cNvPr id="4" name="텍스트 4: 흥덕구"/>
          <p:cNvSpPr txBox="1"/>
          <p:nvPr/>
        </p:nvSpPr>
        <p:spPr>
          <a:xfrm>
            <a:off x="6553454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5" name="텍스트 5: 청원구"/>
          <p:cNvSpPr txBox="1"/>
          <p:nvPr/>
        </p:nvSpPr>
        <p:spPr>
          <a:xfrm>
            <a:off x="7221981" y="2674334"/>
            <a:ext cx="29569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8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</p:txBody>
      </p:sp>
      <p:sp>
        <p:nvSpPr>
          <p:cNvPr id="6" name="텍스트 6: 상당구"/>
          <p:cNvSpPr txBox="1"/>
          <p:nvPr/>
        </p:nvSpPr>
        <p:spPr>
          <a:xfrm>
            <a:off x="7890636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</p:txBody>
      </p:sp>
      <p:sp>
        <p:nvSpPr>
          <p:cNvPr id="7" name="텍스트 7: 서원구"/>
          <p:cNvSpPr txBox="1"/>
          <p:nvPr/>
        </p:nvSpPr>
        <p:spPr>
          <a:xfrm>
            <a:off x="8559418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</p:txBody>
      </p:sp>
      <p:sp>
        <p:nvSpPr>
          <p:cNvPr id="8" name="텍스트 8: 청주시 주택가격 추이"/>
          <p:cNvSpPr txBox="1"/>
          <p:nvPr/>
        </p:nvSpPr>
        <p:spPr>
          <a:xfrm>
            <a:off x="6347459" y="2155606"/>
            <a:ext cx="1726498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6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주택가격 추이</a:t>
            </a:r>
          </a:p>
        </p:txBody>
      </p:sp>
      <p:sp>
        <p:nvSpPr>
          <p:cNvPr id="9" name="텍스트 9: 3년 전 대비 주택 매매가 약 120% 상승"/>
          <p:cNvSpPr txBox="1"/>
          <p:nvPr/>
        </p:nvSpPr>
        <p:spPr>
          <a:xfrm>
            <a:off x="5451094" y="5516367"/>
            <a:ext cx="3520379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1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주택 매매가 지수 100 → 120 (약 20% 상승)</a:t>
            </a:r>
            <a:r>
              <a:rPr lang="ko-KR" altLang="en-US" sz="2004" b="1" spc="-116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0" name="텍스트 10: 0"/>
          <p:cNvSpPr txBox="1"/>
          <p:nvPr/>
        </p:nvSpPr>
        <p:spPr>
          <a:xfrm>
            <a:off x="1044854" y="4860639"/>
            <a:ext cx="9350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3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11" name="텍스트 11: 200"/>
          <p:cNvSpPr txBox="1"/>
          <p:nvPr/>
        </p:nvSpPr>
        <p:spPr>
          <a:xfrm>
            <a:off x="909218" y="4616499"/>
            <a:ext cx="229098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5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200</a:t>
            </a:r>
          </a:p>
        </p:txBody>
      </p:sp>
      <p:sp>
        <p:nvSpPr>
          <p:cNvPr id="12" name="텍스트 12: 400"/>
          <p:cNvSpPr txBox="1"/>
          <p:nvPr/>
        </p:nvSpPr>
        <p:spPr>
          <a:xfrm>
            <a:off x="909218" y="4373340"/>
            <a:ext cx="22910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2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400</a:t>
            </a:r>
          </a:p>
        </p:txBody>
      </p:sp>
      <p:sp>
        <p:nvSpPr>
          <p:cNvPr id="13" name="텍스트 13: 600"/>
          <p:cNvSpPr txBox="1"/>
          <p:nvPr/>
        </p:nvSpPr>
        <p:spPr>
          <a:xfrm>
            <a:off x="909218" y="4129500"/>
            <a:ext cx="22910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2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600</a:t>
            </a:r>
          </a:p>
        </p:txBody>
      </p:sp>
      <p:sp>
        <p:nvSpPr>
          <p:cNvPr id="14" name="텍스트 14: 800"/>
          <p:cNvSpPr txBox="1"/>
          <p:nvPr/>
        </p:nvSpPr>
        <p:spPr>
          <a:xfrm>
            <a:off x="909218" y="3885914"/>
            <a:ext cx="22910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2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800</a:t>
            </a:r>
          </a:p>
        </p:txBody>
      </p:sp>
      <p:sp>
        <p:nvSpPr>
          <p:cNvPr id="15" name="텍스트 15: 1000"/>
          <p:cNvSpPr txBox="1"/>
          <p:nvPr/>
        </p:nvSpPr>
        <p:spPr>
          <a:xfrm>
            <a:off x="841552" y="3642074"/>
            <a:ext cx="296190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1000</a:t>
            </a:r>
          </a:p>
        </p:txBody>
      </p:sp>
      <p:sp>
        <p:nvSpPr>
          <p:cNvPr id="16" name="텍스트 16: 1200"/>
          <p:cNvSpPr txBox="1"/>
          <p:nvPr/>
        </p:nvSpPr>
        <p:spPr>
          <a:xfrm>
            <a:off x="841552" y="3398615"/>
            <a:ext cx="296190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1200</a:t>
            </a:r>
          </a:p>
        </p:txBody>
      </p:sp>
      <p:sp>
        <p:nvSpPr>
          <p:cNvPr id="17" name="텍스트 17: 1400"/>
          <p:cNvSpPr txBox="1"/>
          <p:nvPr/>
        </p:nvSpPr>
        <p:spPr>
          <a:xfrm>
            <a:off x="841552" y="3154775"/>
            <a:ext cx="296190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1400</a:t>
            </a:r>
          </a:p>
        </p:txBody>
      </p:sp>
      <p:sp>
        <p:nvSpPr>
          <p:cNvPr id="18" name="텍스트 18: 1600"/>
          <p:cNvSpPr txBox="1"/>
          <p:nvPr/>
        </p:nvSpPr>
        <p:spPr>
          <a:xfrm>
            <a:off x="841552" y="2911189"/>
            <a:ext cx="296190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1600</a:t>
            </a:r>
          </a:p>
        </p:txBody>
      </p:sp>
      <p:sp>
        <p:nvSpPr>
          <p:cNvPr id="19" name="텍스트 19: 청주시"/>
          <p:cNvSpPr txBox="1"/>
          <p:nvPr/>
        </p:nvSpPr>
        <p:spPr>
          <a:xfrm>
            <a:off x="1394460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</a:t>
            </a:r>
          </a:p>
        </p:txBody>
      </p:sp>
      <p:sp>
        <p:nvSpPr>
          <p:cNvPr id="20" name="텍스트 20: 흥덕구"/>
          <p:cNvSpPr txBox="1"/>
          <p:nvPr/>
        </p:nvSpPr>
        <p:spPr>
          <a:xfrm>
            <a:off x="2063242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21" name="텍스트 21: 청원구"/>
          <p:cNvSpPr txBox="1"/>
          <p:nvPr/>
        </p:nvSpPr>
        <p:spPr>
          <a:xfrm>
            <a:off x="2731642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</p:txBody>
      </p:sp>
      <p:sp>
        <p:nvSpPr>
          <p:cNvPr id="22" name="텍스트 22: 상당구"/>
          <p:cNvSpPr txBox="1"/>
          <p:nvPr/>
        </p:nvSpPr>
        <p:spPr>
          <a:xfrm>
            <a:off x="3400297" y="2674334"/>
            <a:ext cx="29508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</p:txBody>
      </p:sp>
      <p:sp>
        <p:nvSpPr>
          <p:cNvPr id="23" name="텍스트 23: 서원구"/>
          <p:cNvSpPr txBox="1"/>
          <p:nvPr/>
        </p:nvSpPr>
        <p:spPr>
          <a:xfrm>
            <a:off x="4069079" y="2674334"/>
            <a:ext cx="29508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</p:txBody>
      </p:sp>
      <p:sp>
        <p:nvSpPr>
          <p:cNvPr id="24" name="텍스트 24: 청주시 주택 거래량 추이"/>
          <p:cNvSpPr txBox="1"/>
          <p:nvPr/>
        </p:nvSpPr>
        <p:spPr>
          <a:xfrm>
            <a:off x="1745869" y="2155606"/>
            <a:ext cx="1950654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9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주택 거래량 추이</a:t>
            </a:r>
          </a:p>
        </p:txBody>
      </p:sp>
      <p:sp>
        <p:nvSpPr>
          <p:cNvPr id="25" name="텍스트 25: 가격상승에 다소 감소, 흥덕구 거래량 최상위"/>
          <p:cNvSpPr txBox="1"/>
          <p:nvPr/>
        </p:nvSpPr>
        <p:spPr>
          <a:xfrm>
            <a:off x="854049" y="5516367"/>
            <a:ext cx="3735415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8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가격상승에 다소 감소,</a:t>
            </a:r>
            <a:r>
              <a:rPr lang="ko-KR" altLang="en-US" sz="2004" b="1" spc="-189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 흥덕구 거래량 최상위</a:t>
            </a:r>
          </a:p>
        </p:txBody>
      </p:sp>
      <p:sp>
        <p:nvSpPr>
          <p:cNvPr id="26" name="텍스트 26: CHAPTER 03  ·  청주시 주택시장과 수요 │ 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8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흥덕구 주택 가격 상승률 120%</a:t>
            </a:r>
          </a:p>
        </p:txBody>
      </p:sp>
      <p:sp>
        <p:nvSpPr>
          <p:cNvPr id="27" name="텍스트 27: [출처 : 호갱노노]"/>
          <p:cNvSpPr txBox="1"/>
          <p:nvPr/>
        </p:nvSpPr>
        <p:spPr>
          <a:xfrm>
            <a:off x="8671559" y="6082387"/>
            <a:ext cx="607986" cy="1064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8" b="0" spc="-59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호갱노노]</a:t>
            </a:r>
          </a:p>
        </p:txBody>
      </p:sp>
      <p:sp>
        <p:nvSpPr>
          <p:cNvPr id="28" name="텍스트 28: [출처 : REPS]"/>
          <p:cNvSpPr txBox="1"/>
          <p:nvPr/>
        </p:nvSpPr>
        <p:spPr>
          <a:xfrm>
            <a:off x="4259834" y="6082387"/>
            <a:ext cx="536312" cy="1064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8" b="0" spc="-4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REPS]</a:t>
            </a:r>
          </a:p>
        </p:txBody>
      </p:sp>
      <p:sp>
        <p:nvSpPr>
          <p:cNvPr id="29" name="텍스트 29: 4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346"/>
          <p:cNvSpPr txBox="1"/>
          <p:nvPr/>
        </p:nvSpPr>
        <p:spPr>
          <a:xfrm>
            <a:off x="676960" y="3163350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346</a:t>
            </a:r>
          </a:p>
        </p:txBody>
      </p:sp>
      <p:sp>
        <p:nvSpPr>
          <p:cNvPr id="3" name="텍스트 3: 218"/>
          <p:cNvSpPr txBox="1"/>
          <p:nvPr/>
        </p:nvSpPr>
        <p:spPr>
          <a:xfrm>
            <a:off x="1364614" y="3199418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218</a:t>
            </a:r>
          </a:p>
        </p:txBody>
      </p:sp>
      <p:sp>
        <p:nvSpPr>
          <p:cNvPr id="4" name="텍스트 4: 154"/>
          <p:cNvSpPr txBox="1"/>
          <p:nvPr/>
        </p:nvSpPr>
        <p:spPr>
          <a:xfrm>
            <a:off x="2051939" y="3217325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154</a:t>
            </a:r>
          </a:p>
        </p:txBody>
      </p:sp>
      <p:sp>
        <p:nvSpPr>
          <p:cNvPr id="5" name="텍스트 5: 103"/>
          <p:cNvSpPr txBox="1"/>
          <p:nvPr/>
        </p:nvSpPr>
        <p:spPr>
          <a:xfrm>
            <a:off x="2739517" y="3231123"/>
            <a:ext cx="277614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62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103</a:t>
            </a:r>
          </a:p>
        </p:txBody>
      </p:sp>
      <p:sp>
        <p:nvSpPr>
          <p:cNvPr id="6" name="텍스트 6: 333"/>
          <p:cNvSpPr txBox="1"/>
          <p:nvPr/>
        </p:nvSpPr>
        <p:spPr>
          <a:xfrm>
            <a:off x="3427221" y="3167033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333</a:t>
            </a:r>
          </a:p>
        </p:txBody>
      </p:sp>
      <p:sp>
        <p:nvSpPr>
          <p:cNvPr id="7" name="텍스트 7: 543"/>
          <p:cNvSpPr txBox="1"/>
          <p:nvPr/>
        </p:nvSpPr>
        <p:spPr>
          <a:xfrm>
            <a:off x="4114546" y="3108232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543</a:t>
            </a:r>
          </a:p>
        </p:txBody>
      </p:sp>
      <p:sp>
        <p:nvSpPr>
          <p:cNvPr id="8" name="텍스트 8: '26.1"/>
          <p:cNvSpPr txBox="1"/>
          <p:nvPr/>
        </p:nvSpPr>
        <p:spPr>
          <a:xfrm>
            <a:off x="645278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'26.1</a:t>
            </a:r>
          </a:p>
        </p:txBody>
      </p:sp>
      <p:sp>
        <p:nvSpPr>
          <p:cNvPr id="9" name="텍스트 9: '26.2"/>
          <p:cNvSpPr txBox="1"/>
          <p:nvPr/>
        </p:nvSpPr>
        <p:spPr>
          <a:xfrm>
            <a:off x="1332627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'26.2</a:t>
            </a:r>
          </a:p>
        </p:txBody>
      </p:sp>
      <p:sp>
        <p:nvSpPr>
          <p:cNvPr id="10" name="텍스트 10: '26.3"/>
          <p:cNvSpPr txBox="1"/>
          <p:nvPr/>
        </p:nvSpPr>
        <p:spPr>
          <a:xfrm>
            <a:off x="2020205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'26.3</a:t>
            </a:r>
          </a:p>
        </p:txBody>
      </p:sp>
      <p:sp>
        <p:nvSpPr>
          <p:cNvPr id="11" name="텍스트 11: '26.4"/>
          <p:cNvSpPr txBox="1"/>
          <p:nvPr/>
        </p:nvSpPr>
        <p:spPr>
          <a:xfrm>
            <a:off x="2707910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'26.4</a:t>
            </a:r>
          </a:p>
        </p:txBody>
      </p:sp>
      <p:sp>
        <p:nvSpPr>
          <p:cNvPr id="12" name="텍스트 12: '26.5"/>
          <p:cNvSpPr txBox="1"/>
          <p:nvPr/>
        </p:nvSpPr>
        <p:spPr>
          <a:xfrm>
            <a:off x="3395234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'26.5</a:t>
            </a:r>
          </a:p>
        </p:txBody>
      </p:sp>
      <p:sp>
        <p:nvSpPr>
          <p:cNvPr id="13" name="텍스트 13: '26.6"/>
          <p:cNvSpPr txBox="1"/>
          <p:nvPr/>
        </p:nvSpPr>
        <p:spPr>
          <a:xfrm>
            <a:off x="4082812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'26.6</a:t>
            </a:r>
          </a:p>
        </p:txBody>
      </p:sp>
      <p:sp>
        <p:nvSpPr>
          <p:cNvPr id="14" name="텍스트 14: 2,614"/>
          <p:cNvSpPr txBox="1"/>
          <p:nvPr/>
        </p:nvSpPr>
        <p:spPr>
          <a:xfrm>
            <a:off x="5494020" y="2669066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2,614</a:t>
            </a:r>
          </a:p>
        </p:txBody>
      </p:sp>
      <p:sp>
        <p:nvSpPr>
          <p:cNvPr id="15" name="텍스트 15: 3,361"/>
          <p:cNvSpPr txBox="1"/>
          <p:nvPr/>
        </p:nvSpPr>
        <p:spPr>
          <a:xfrm>
            <a:off x="6181344" y="2494314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3,361</a:t>
            </a:r>
          </a:p>
        </p:txBody>
      </p:sp>
      <p:sp>
        <p:nvSpPr>
          <p:cNvPr id="16" name="텍스트 16: 3,113"/>
          <p:cNvSpPr txBox="1"/>
          <p:nvPr/>
        </p:nvSpPr>
        <p:spPr>
          <a:xfrm>
            <a:off x="6868921" y="2552226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3,113</a:t>
            </a:r>
          </a:p>
        </p:txBody>
      </p:sp>
      <p:sp>
        <p:nvSpPr>
          <p:cNvPr id="17" name="텍스트 17: 3,060"/>
          <p:cNvSpPr txBox="1"/>
          <p:nvPr/>
        </p:nvSpPr>
        <p:spPr>
          <a:xfrm>
            <a:off x="7556245" y="2564799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3,060</a:t>
            </a:r>
          </a:p>
        </p:txBody>
      </p:sp>
      <p:sp>
        <p:nvSpPr>
          <p:cNvPr id="18" name="텍스트 18: 3,162"/>
          <p:cNvSpPr txBox="1"/>
          <p:nvPr/>
        </p:nvSpPr>
        <p:spPr>
          <a:xfrm>
            <a:off x="8243951" y="2541050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3,162</a:t>
            </a:r>
          </a:p>
        </p:txBody>
      </p:sp>
      <p:sp>
        <p:nvSpPr>
          <p:cNvPr id="19" name="텍스트 19: 3,939"/>
          <p:cNvSpPr txBox="1"/>
          <p:nvPr/>
        </p:nvSpPr>
        <p:spPr>
          <a:xfrm>
            <a:off x="8931529" y="2359313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3,939</a:t>
            </a:r>
          </a:p>
        </p:txBody>
      </p:sp>
      <p:sp>
        <p:nvSpPr>
          <p:cNvPr id="20" name="텍스트 20: '26.1"/>
          <p:cNvSpPr txBox="1"/>
          <p:nvPr/>
        </p:nvSpPr>
        <p:spPr>
          <a:xfrm>
            <a:off x="5519944" y="3592610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'26.1</a:t>
            </a:r>
          </a:p>
        </p:txBody>
      </p:sp>
      <p:sp>
        <p:nvSpPr>
          <p:cNvPr id="21" name="텍스트 21: '26.2"/>
          <p:cNvSpPr txBox="1"/>
          <p:nvPr/>
        </p:nvSpPr>
        <p:spPr>
          <a:xfrm>
            <a:off x="6207522" y="3592610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'26.2</a:t>
            </a:r>
          </a:p>
        </p:txBody>
      </p:sp>
      <p:sp>
        <p:nvSpPr>
          <p:cNvPr id="22" name="텍스트 22: '26.3"/>
          <p:cNvSpPr txBox="1"/>
          <p:nvPr/>
        </p:nvSpPr>
        <p:spPr>
          <a:xfrm>
            <a:off x="6895227" y="3592610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'26.3</a:t>
            </a:r>
          </a:p>
        </p:txBody>
      </p:sp>
      <p:sp>
        <p:nvSpPr>
          <p:cNvPr id="23" name="텍스트 23: '26.4"/>
          <p:cNvSpPr txBox="1"/>
          <p:nvPr/>
        </p:nvSpPr>
        <p:spPr>
          <a:xfrm>
            <a:off x="7582551" y="3592610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'26.4</a:t>
            </a:r>
          </a:p>
        </p:txBody>
      </p:sp>
      <p:sp>
        <p:nvSpPr>
          <p:cNvPr id="24" name="텍스트 24: '26.5"/>
          <p:cNvSpPr txBox="1"/>
          <p:nvPr/>
        </p:nvSpPr>
        <p:spPr>
          <a:xfrm>
            <a:off x="8270130" y="3592610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'26.5</a:t>
            </a:r>
          </a:p>
        </p:txBody>
      </p:sp>
      <p:sp>
        <p:nvSpPr>
          <p:cNvPr id="25" name="텍스트 25: '26.6"/>
          <p:cNvSpPr txBox="1"/>
          <p:nvPr/>
        </p:nvSpPr>
        <p:spPr>
          <a:xfrm>
            <a:off x="8957454" y="3592610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'26.6</a:t>
            </a:r>
          </a:p>
        </p:txBody>
      </p:sp>
      <p:sp>
        <p:nvSpPr>
          <p:cNvPr id="26" name="텍스트 26: 1,549"/>
          <p:cNvSpPr txBox="1"/>
          <p:nvPr/>
        </p:nvSpPr>
        <p:spPr>
          <a:xfrm>
            <a:off x="619048" y="5199414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1,549</a:t>
            </a:r>
          </a:p>
        </p:txBody>
      </p:sp>
      <p:sp>
        <p:nvSpPr>
          <p:cNvPr id="27" name="텍스트 27: 1,752"/>
          <p:cNvSpPr txBox="1"/>
          <p:nvPr/>
        </p:nvSpPr>
        <p:spPr>
          <a:xfrm>
            <a:off x="1306702" y="5142219"/>
            <a:ext cx="393364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4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1,752</a:t>
            </a:r>
          </a:p>
        </p:txBody>
      </p:sp>
      <p:sp>
        <p:nvSpPr>
          <p:cNvPr id="28" name="텍스트 28: 1,604"/>
          <p:cNvSpPr txBox="1"/>
          <p:nvPr/>
        </p:nvSpPr>
        <p:spPr>
          <a:xfrm>
            <a:off x="1994026" y="5184174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1,604</a:t>
            </a:r>
          </a:p>
        </p:txBody>
      </p:sp>
      <p:sp>
        <p:nvSpPr>
          <p:cNvPr id="29" name="텍스트 29: 2,038"/>
          <p:cNvSpPr txBox="1"/>
          <p:nvPr/>
        </p:nvSpPr>
        <p:spPr>
          <a:xfrm>
            <a:off x="2681604" y="5061955"/>
            <a:ext cx="393364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4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2,038</a:t>
            </a:r>
          </a:p>
        </p:txBody>
      </p:sp>
      <p:sp>
        <p:nvSpPr>
          <p:cNvPr id="30" name="텍스트 30: 1,886"/>
          <p:cNvSpPr txBox="1"/>
          <p:nvPr/>
        </p:nvSpPr>
        <p:spPr>
          <a:xfrm>
            <a:off x="3368928" y="5104926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1,886</a:t>
            </a:r>
          </a:p>
        </p:txBody>
      </p:sp>
      <p:sp>
        <p:nvSpPr>
          <p:cNvPr id="31" name="텍스트 31: 2,044"/>
          <p:cNvSpPr txBox="1"/>
          <p:nvPr/>
        </p:nvSpPr>
        <p:spPr>
          <a:xfrm>
            <a:off x="4056634" y="5060730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2,044</a:t>
            </a:r>
          </a:p>
        </p:txBody>
      </p:sp>
      <p:sp>
        <p:nvSpPr>
          <p:cNvPr id="32" name="텍스트 32: '26.1"/>
          <p:cNvSpPr txBox="1"/>
          <p:nvPr/>
        </p:nvSpPr>
        <p:spPr>
          <a:xfrm>
            <a:off x="645278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'26.1</a:t>
            </a:r>
          </a:p>
        </p:txBody>
      </p:sp>
      <p:sp>
        <p:nvSpPr>
          <p:cNvPr id="33" name="텍스트 33: '26.2"/>
          <p:cNvSpPr txBox="1"/>
          <p:nvPr/>
        </p:nvSpPr>
        <p:spPr>
          <a:xfrm>
            <a:off x="1332627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'26.2</a:t>
            </a:r>
          </a:p>
        </p:txBody>
      </p:sp>
      <p:sp>
        <p:nvSpPr>
          <p:cNvPr id="34" name="텍스트 34: '26.3"/>
          <p:cNvSpPr txBox="1"/>
          <p:nvPr/>
        </p:nvSpPr>
        <p:spPr>
          <a:xfrm>
            <a:off x="2020205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'26.3</a:t>
            </a:r>
          </a:p>
        </p:txBody>
      </p:sp>
      <p:sp>
        <p:nvSpPr>
          <p:cNvPr id="35" name="텍스트 35: '26.4"/>
          <p:cNvSpPr txBox="1"/>
          <p:nvPr/>
        </p:nvSpPr>
        <p:spPr>
          <a:xfrm>
            <a:off x="2707910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'26.4</a:t>
            </a:r>
          </a:p>
        </p:txBody>
      </p:sp>
      <p:sp>
        <p:nvSpPr>
          <p:cNvPr id="36" name="텍스트 36: '26.5"/>
          <p:cNvSpPr txBox="1"/>
          <p:nvPr/>
        </p:nvSpPr>
        <p:spPr>
          <a:xfrm>
            <a:off x="3395234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'26.5</a:t>
            </a:r>
          </a:p>
        </p:txBody>
      </p:sp>
      <p:sp>
        <p:nvSpPr>
          <p:cNvPr id="37" name="텍스트 37: '26.6"/>
          <p:cNvSpPr txBox="1"/>
          <p:nvPr/>
        </p:nvSpPr>
        <p:spPr>
          <a:xfrm>
            <a:off x="4082812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'26.6</a:t>
            </a:r>
          </a:p>
        </p:txBody>
      </p:sp>
      <p:sp>
        <p:nvSpPr>
          <p:cNvPr id="38" name="텍스트 38: 2,091"/>
          <p:cNvSpPr txBox="1"/>
          <p:nvPr/>
        </p:nvSpPr>
        <p:spPr>
          <a:xfrm>
            <a:off x="5494020" y="5047649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2,091</a:t>
            </a:r>
          </a:p>
        </p:txBody>
      </p:sp>
      <p:sp>
        <p:nvSpPr>
          <p:cNvPr id="39" name="텍스트 39: 1,884"/>
          <p:cNvSpPr txBox="1"/>
          <p:nvPr/>
        </p:nvSpPr>
        <p:spPr>
          <a:xfrm>
            <a:off x="6181344" y="5105561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1,884</a:t>
            </a:r>
          </a:p>
        </p:txBody>
      </p:sp>
      <p:sp>
        <p:nvSpPr>
          <p:cNvPr id="40" name="텍스트 40: 1,789"/>
          <p:cNvSpPr txBox="1"/>
          <p:nvPr/>
        </p:nvSpPr>
        <p:spPr>
          <a:xfrm>
            <a:off x="6868921" y="5131805"/>
            <a:ext cx="393363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4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1,789</a:t>
            </a:r>
          </a:p>
        </p:txBody>
      </p:sp>
      <p:sp>
        <p:nvSpPr>
          <p:cNvPr id="41" name="텍스트 41: 2,365"/>
          <p:cNvSpPr txBox="1"/>
          <p:nvPr/>
        </p:nvSpPr>
        <p:spPr>
          <a:xfrm>
            <a:off x="7556245" y="4970814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2,365</a:t>
            </a:r>
          </a:p>
        </p:txBody>
      </p:sp>
      <p:sp>
        <p:nvSpPr>
          <p:cNvPr id="42" name="텍스트 42: 2,483"/>
          <p:cNvSpPr txBox="1"/>
          <p:nvPr/>
        </p:nvSpPr>
        <p:spPr>
          <a:xfrm>
            <a:off x="8243951" y="4937667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2,483</a:t>
            </a:r>
          </a:p>
        </p:txBody>
      </p:sp>
      <p:sp>
        <p:nvSpPr>
          <p:cNvPr id="43" name="텍스트 43: 2,455"/>
          <p:cNvSpPr txBox="1"/>
          <p:nvPr/>
        </p:nvSpPr>
        <p:spPr>
          <a:xfrm>
            <a:off x="8931529" y="4945541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2,455</a:t>
            </a:r>
          </a:p>
        </p:txBody>
      </p:sp>
      <p:sp>
        <p:nvSpPr>
          <p:cNvPr id="44" name="텍스트 44: '26.1"/>
          <p:cNvSpPr txBox="1"/>
          <p:nvPr/>
        </p:nvSpPr>
        <p:spPr>
          <a:xfrm>
            <a:off x="5519944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'26.1</a:t>
            </a:r>
          </a:p>
        </p:txBody>
      </p:sp>
      <p:sp>
        <p:nvSpPr>
          <p:cNvPr id="45" name="텍스트 45: '26.2"/>
          <p:cNvSpPr txBox="1"/>
          <p:nvPr/>
        </p:nvSpPr>
        <p:spPr>
          <a:xfrm>
            <a:off x="6207522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'26.2</a:t>
            </a:r>
          </a:p>
        </p:txBody>
      </p:sp>
      <p:sp>
        <p:nvSpPr>
          <p:cNvPr id="46" name="텍스트 46: '26.3"/>
          <p:cNvSpPr txBox="1"/>
          <p:nvPr/>
        </p:nvSpPr>
        <p:spPr>
          <a:xfrm>
            <a:off x="6895227" y="5946835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'26.3</a:t>
            </a:r>
          </a:p>
        </p:txBody>
      </p:sp>
      <p:sp>
        <p:nvSpPr>
          <p:cNvPr id="47" name="텍스트 47: '26.4"/>
          <p:cNvSpPr txBox="1"/>
          <p:nvPr/>
        </p:nvSpPr>
        <p:spPr>
          <a:xfrm>
            <a:off x="7582551" y="5946835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'26.4</a:t>
            </a:r>
          </a:p>
        </p:txBody>
      </p:sp>
      <p:sp>
        <p:nvSpPr>
          <p:cNvPr id="48" name="텍스트 48: '26.5"/>
          <p:cNvSpPr txBox="1"/>
          <p:nvPr/>
        </p:nvSpPr>
        <p:spPr>
          <a:xfrm>
            <a:off x="8270130" y="5946835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'26.5</a:t>
            </a:r>
          </a:p>
        </p:txBody>
      </p:sp>
      <p:sp>
        <p:nvSpPr>
          <p:cNvPr id="49" name="텍스트 49: '26.6"/>
          <p:cNvSpPr txBox="1"/>
          <p:nvPr/>
        </p:nvSpPr>
        <p:spPr>
          <a:xfrm>
            <a:off x="8957454" y="5946835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'26.6</a:t>
            </a:r>
          </a:p>
        </p:txBody>
      </p:sp>
      <p:sp>
        <p:nvSpPr>
          <p:cNvPr id="50" name="텍스트 50: 대전시"/>
          <p:cNvSpPr txBox="1"/>
          <p:nvPr/>
        </p:nvSpPr>
        <p:spPr>
          <a:xfrm>
            <a:off x="2175636" y="4229197"/>
            <a:ext cx="697423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0" b="0" spc="-2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대전시</a:t>
            </a:r>
          </a:p>
        </p:txBody>
      </p:sp>
      <p:sp>
        <p:nvSpPr>
          <p:cNvPr id="51" name="텍스트 51: 청주시"/>
          <p:cNvSpPr txBox="1"/>
          <p:nvPr/>
        </p:nvSpPr>
        <p:spPr>
          <a:xfrm>
            <a:off x="2175636" y="1899255"/>
            <a:ext cx="697423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0" b="1" spc="-2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</a:t>
            </a:r>
          </a:p>
        </p:txBody>
      </p:sp>
      <p:sp>
        <p:nvSpPr>
          <p:cNvPr id="52" name="텍스트 52: 아산시"/>
          <p:cNvSpPr txBox="1"/>
          <p:nvPr/>
        </p:nvSpPr>
        <p:spPr>
          <a:xfrm>
            <a:off x="7114031" y="4229197"/>
            <a:ext cx="698032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2" b="0" spc="-2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아산시</a:t>
            </a:r>
          </a:p>
        </p:txBody>
      </p:sp>
      <p:sp>
        <p:nvSpPr>
          <p:cNvPr id="53" name="텍스트 53: 천안시"/>
          <p:cNvSpPr txBox="1"/>
          <p:nvPr/>
        </p:nvSpPr>
        <p:spPr>
          <a:xfrm>
            <a:off x="7114031" y="1899255"/>
            <a:ext cx="698032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2" b="0" spc="-2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천안시</a:t>
            </a:r>
          </a:p>
        </p:txBody>
      </p:sp>
      <p:sp>
        <p:nvSpPr>
          <p:cNvPr id="54" name="텍스트 54: 가격 상승세에도 다양한 개발호재와 미래가치로 분양시장도"/>
          <p:cNvSpPr txBox="1"/>
          <p:nvPr/>
        </p:nvSpPr>
        <p:spPr>
          <a:xfrm>
            <a:off x="304800" y="664811"/>
            <a:ext cx="9242610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가격 상승세에도 다양한 개발호재와 미래가치로 분양시장도 우수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충청권 주요 도시 비교 시 </a:t>
            </a:r>
            <a:r>
              <a:rPr lang="ko-KR" altLang="en-US" sz="2624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청주는 미분양 물량 최저</a:t>
            </a:r>
            <a:r>
              <a:rPr lang="ko-KR" altLang="en-US" sz="262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, 신규공급 시장 양호</a:t>
            </a:r>
          </a:p>
        </p:txBody>
      </p:sp>
      <p:sp>
        <p:nvSpPr>
          <p:cNvPr id="55" name="텍스트 55: CHAPTER 03  ·  청주시 주택시장과 수요 │ 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충청권 내 미분양 최저, 청주</a:t>
            </a:r>
          </a:p>
        </p:txBody>
      </p:sp>
      <p:sp>
        <p:nvSpPr>
          <p:cNvPr id="56" name="텍스트 56: [출처 : 각 시별 홈페이지]"/>
          <p:cNvSpPr txBox="1"/>
          <p:nvPr/>
        </p:nvSpPr>
        <p:spPr>
          <a:xfrm>
            <a:off x="8754491" y="6222589"/>
            <a:ext cx="880940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62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각 시별 홈페이지]</a:t>
            </a:r>
          </a:p>
        </p:txBody>
      </p:sp>
      <p:sp>
        <p:nvSpPr>
          <p:cNvPr id="57" name="텍스트 57: 4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또한, 급격히 유입되는 인구 대비 흥덕구 미래 공급물량"/>
          <p:cNvSpPr txBox="1"/>
          <p:nvPr/>
        </p:nvSpPr>
        <p:spPr>
          <a:xfrm>
            <a:off x="304800" y="664811"/>
            <a:ext cx="9181648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또한, 급격히 유입되는 인구 대비 흥덕구 미래 </a:t>
            </a:r>
            <a:r>
              <a:rPr lang="ko-KR" altLang="en-US" sz="2630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공급물량은 부족</a:t>
            </a:r>
            <a:r>
              <a:rPr lang="ko-KR" altLang="en-US" sz="263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한 상황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’26년 외 ’27년 이후 흥덕구 공급계획 無 → 주택가격 상승여력 뒷받침</a:t>
            </a:r>
          </a:p>
        </p:txBody>
      </p:sp>
      <p:sp>
        <p:nvSpPr>
          <p:cNvPr id="3" name="텍스트 3: CHAPTER 03  ·  청주시 주택시장과 수요 │ 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2  ·  진짜 수요  │  청주시는 지금 공급 부족</a:t>
            </a:r>
          </a:p>
        </p:txBody>
      </p:sp>
      <p:sp>
        <p:nvSpPr>
          <p:cNvPr id="4" name="텍스트 4: 2,441"/>
          <p:cNvSpPr txBox="1"/>
          <p:nvPr/>
        </p:nvSpPr>
        <p:spPr>
          <a:xfrm>
            <a:off x="380695" y="4755293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2,441</a:t>
            </a:r>
          </a:p>
        </p:txBody>
      </p:sp>
      <p:sp>
        <p:nvSpPr>
          <p:cNvPr id="5" name="텍스트 5: 6,719"/>
          <p:cNvSpPr txBox="1"/>
          <p:nvPr/>
        </p:nvSpPr>
        <p:spPr>
          <a:xfrm>
            <a:off x="1512697" y="2784126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6,719</a:t>
            </a:r>
          </a:p>
        </p:txBody>
      </p:sp>
      <p:sp>
        <p:nvSpPr>
          <p:cNvPr id="6" name="텍스트 6: 5,498"/>
          <p:cNvSpPr txBox="1"/>
          <p:nvPr/>
        </p:nvSpPr>
        <p:spPr>
          <a:xfrm>
            <a:off x="2644775" y="3346863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5,498</a:t>
            </a:r>
          </a:p>
        </p:txBody>
      </p:sp>
      <p:sp>
        <p:nvSpPr>
          <p:cNvPr id="7" name="텍스트 7: 5,156"/>
          <p:cNvSpPr txBox="1"/>
          <p:nvPr/>
        </p:nvSpPr>
        <p:spPr>
          <a:xfrm>
            <a:off x="3776726" y="3504470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5,156</a:t>
            </a:r>
          </a:p>
        </p:txBody>
      </p:sp>
      <p:sp>
        <p:nvSpPr>
          <p:cNvPr id="8" name="텍스트 8: 2,251"/>
          <p:cNvSpPr txBox="1"/>
          <p:nvPr/>
        </p:nvSpPr>
        <p:spPr>
          <a:xfrm>
            <a:off x="4908803" y="4843050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2,251</a:t>
            </a:r>
          </a:p>
        </p:txBody>
      </p:sp>
      <p:sp>
        <p:nvSpPr>
          <p:cNvPr id="9" name="텍스트 9: 3,755"/>
          <p:cNvSpPr txBox="1"/>
          <p:nvPr/>
        </p:nvSpPr>
        <p:spPr>
          <a:xfrm>
            <a:off x="6041135" y="4150011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3,755</a:t>
            </a:r>
          </a:p>
        </p:txBody>
      </p:sp>
      <p:sp>
        <p:nvSpPr>
          <p:cNvPr id="10" name="텍스트 10: 3,765"/>
          <p:cNvSpPr txBox="1"/>
          <p:nvPr/>
        </p:nvSpPr>
        <p:spPr>
          <a:xfrm>
            <a:off x="7173214" y="4145439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3,765</a:t>
            </a:r>
          </a:p>
        </p:txBody>
      </p:sp>
      <p:sp>
        <p:nvSpPr>
          <p:cNvPr id="11" name="텍스트 11: 1,930"/>
          <p:cNvSpPr txBox="1"/>
          <p:nvPr/>
        </p:nvSpPr>
        <p:spPr>
          <a:xfrm>
            <a:off x="719937" y="5042376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1,930</a:t>
            </a:r>
          </a:p>
        </p:txBody>
      </p:sp>
      <p:sp>
        <p:nvSpPr>
          <p:cNvPr id="12" name="텍스트 12: 2,514"/>
          <p:cNvSpPr txBox="1"/>
          <p:nvPr/>
        </p:nvSpPr>
        <p:spPr>
          <a:xfrm>
            <a:off x="1851914" y="4772963"/>
            <a:ext cx="325425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2,514</a:t>
            </a:r>
          </a:p>
        </p:txBody>
      </p:sp>
      <p:sp>
        <p:nvSpPr>
          <p:cNvPr id="13" name="텍스트 13: 1,211"/>
          <p:cNvSpPr txBox="1"/>
          <p:nvPr/>
        </p:nvSpPr>
        <p:spPr>
          <a:xfrm>
            <a:off x="4116070" y="5373719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1,211</a:t>
            </a:r>
          </a:p>
        </p:txBody>
      </p:sp>
      <p:sp>
        <p:nvSpPr>
          <p:cNvPr id="14" name="텍스트 14: 1,220"/>
          <p:cNvSpPr txBox="1"/>
          <p:nvPr/>
        </p:nvSpPr>
        <p:spPr>
          <a:xfrm>
            <a:off x="5248021" y="5369655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1,220</a:t>
            </a:r>
          </a:p>
        </p:txBody>
      </p:sp>
      <p:sp>
        <p:nvSpPr>
          <p:cNvPr id="15" name="텍스트 15: 1,407"/>
          <p:cNvSpPr txBox="1"/>
          <p:nvPr/>
        </p:nvSpPr>
        <p:spPr>
          <a:xfrm>
            <a:off x="6380098" y="5283422"/>
            <a:ext cx="32580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9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1,407</a:t>
            </a:r>
          </a:p>
        </p:txBody>
      </p:sp>
      <p:sp>
        <p:nvSpPr>
          <p:cNvPr id="16" name="텍스트 16: 949"/>
          <p:cNvSpPr txBox="1"/>
          <p:nvPr/>
        </p:nvSpPr>
        <p:spPr>
          <a:xfrm>
            <a:off x="7559675" y="5494069"/>
            <a:ext cx="230868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55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949</a:t>
            </a:r>
          </a:p>
        </p:txBody>
      </p:sp>
      <p:sp>
        <p:nvSpPr>
          <p:cNvPr id="17" name="텍스트 17: 562"/>
          <p:cNvSpPr txBox="1"/>
          <p:nvPr/>
        </p:nvSpPr>
        <p:spPr>
          <a:xfrm>
            <a:off x="1048511" y="5672981"/>
            <a:ext cx="23066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6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562</a:t>
            </a:r>
          </a:p>
        </p:txBody>
      </p:sp>
      <p:sp>
        <p:nvSpPr>
          <p:cNvPr id="18" name="텍스트 18: 3,120"/>
          <p:cNvSpPr txBox="1"/>
          <p:nvPr/>
        </p:nvSpPr>
        <p:spPr>
          <a:xfrm>
            <a:off x="3265296" y="4493990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3,120</a:t>
            </a:r>
          </a:p>
        </p:txBody>
      </p:sp>
      <p:sp>
        <p:nvSpPr>
          <p:cNvPr id="19" name="텍스트 19: 1,755"/>
          <p:cNvSpPr txBox="1"/>
          <p:nvPr/>
        </p:nvSpPr>
        <p:spPr>
          <a:xfrm>
            <a:off x="4397375" y="5123147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1,755</a:t>
            </a:r>
          </a:p>
        </p:txBody>
      </p:sp>
      <p:sp>
        <p:nvSpPr>
          <p:cNvPr id="20" name="텍스트 20: 2,330"/>
          <p:cNvSpPr txBox="1"/>
          <p:nvPr/>
        </p:nvSpPr>
        <p:spPr>
          <a:xfrm>
            <a:off x="5529326" y="4858226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2,330</a:t>
            </a:r>
          </a:p>
        </p:txBody>
      </p:sp>
      <p:sp>
        <p:nvSpPr>
          <p:cNvPr id="21" name="텍스트 21: 3,719"/>
          <p:cNvSpPr txBox="1"/>
          <p:nvPr/>
        </p:nvSpPr>
        <p:spPr>
          <a:xfrm>
            <a:off x="6661404" y="4218146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3,719</a:t>
            </a:r>
          </a:p>
        </p:txBody>
      </p:sp>
      <p:sp>
        <p:nvSpPr>
          <p:cNvPr id="22" name="텍스트 22: 1,351"/>
          <p:cNvSpPr txBox="1"/>
          <p:nvPr/>
        </p:nvSpPr>
        <p:spPr>
          <a:xfrm>
            <a:off x="7793735" y="5309330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1,351</a:t>
            </a:r>
          </a:p>
        </p:txBody>
      </p:sp>
      <p:sp>
        <p:nvSpPr>
          <p:cNvPr id="23" name="텍스트 23: 492"/>
          <p:cNvSpPr txBox="1"/>
          <p:nvPr/>
        </p:nvSpPr>
        <p:spPr>
          <a:xfrm>
            <a:off x="8973057" y="5704986"/>
            <a:ext cx="230664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6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492</a:t>
            </a:r>
          </a:p>
        </p:txBody>
      </p:sp>
      <p:sp>
        <p:nvSpPr>
          <p:cNvPr id="24" name="텍스트 24: 1,168"/>
          <p:cNvSpPr txBox="1"/>
          <p:nvPr/>
        </p:nvSpPr>
        <p:spPr>
          <a:xfrm>
            <a:off x="2414651" y="5393531"/>
            <a:ext cx="324883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1,168</a:t>
            </a:r>
          </a:p>
        </p:txBody>
      </p:sp>
      <p:sp>
        <p:nvSpPr>
          <p:cNvPr id="25" name="텍스트 25: 644"/>
          <p:cNvSpPr txBox="1"/>
          <p:nvPr/>
        </p:nvSpPr>
        <p:spPr>
          <a:xfrm>
            <a:off x="4725923" y="5635186"/>
            <a:ext cx="23066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6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644</a:t>
            </a:r>
          </a:p>
        </p:txBody>
      </p:sp>
      <p:sp>
        <p:nvSpPr>
          <p:cNvPr id="26" name="텍스트 26: 80"/>
          <p:cNvSpPr txBox="1"/>
          <p:nvPr/>
        </p:nvSpPr>
        <p:spPr>
          <a:xfrm>
            <a:off x="7023481" y="5894876"/>
            <a:ext cx="16208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5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80</a:t>
            </a:r>
          </a:p>
        </p:txBody>
      </p:sp>
      <p:sp>
        <p:nvSpPr>
          <p:cNvPr id="27" name="텍스트 27: '20y"/>
          <p:cNvSpPr txBox="1"/>
          <p:nvPr/>
        </p:nvSpPr>
        <p:spPr>
          <a:xfrm>
            <a:off x="888796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'20y</a:t>
            </a:r>
          </a:p>
        </p:txBody>
      </p:sp>
      <p:sp>
        <p:nvSpPr>
          <p:cNvPr id="28" name="텍스트 28: '21y"/>
          <p:cNvSpPr txBox="1"/>
          <p:nvPr/>
        </p:nvSpPr>
        <p:spPr>
          <a:xfrm>
            <a:off x="2020823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'21y</a:t>
            </a:r>
          </a:p>
        </p:txBody>
      </p:sp>
      <p:sp>
        <p:nvSpPr>
          <p:cNvPr id="29" name="텍스트 29: '22y"/>
          <p:cNvSpPr txBox="1"/>
          <p:nvPr/>
        </p:nvSpPr>
        <p:spPr>
          <a:xfrm>
            <a:off x="3152901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'22y</a:t>
            </a:r>
          </a:p>
        </p:txBody>
      </p:sp>
      <p:sp>
        <p:nvSpPr>
          <p:cNvPr id="30" name="텍스트 30: '23y"/>
          <p:cNvSpPr txBox="1"/>
          <p:nvPr/>
        </p:nvSpPr>
        <p:spPr>
          <a:xfrm>
            <a:off x="4284853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'23y</a:t>
            </a:r>
          </a:p>
        </p:txBody>
      </p:sp>
      <p:sp>
        <p:nvSpPr>
          <p:cNvPr id="31" name="텍스트 31: '24y"/>
          <p:cNvSpPr txBox="1"/>
          <p:nvPr/>
        </p:nvSpPr>
        <p:spPr>
          <a:xfrm>
            <a:off x="5416930" y="6201119"/>
            <a:ext cx="26908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2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'24y</a:t>
            </a:r>
          </a:p>
        </p:txBody>
      </p:sp>
      <p:sp>
        <p:nvSpPr>
          <p:cNvPr id="32" name="텍스트 32: '25y"/>
          <p:cNvSpPr txBox="1"/>
          <p:nvPr/>
        </p:nvSpPr>
        <p:spPr>
          <a:xfrm>
            <a:off x="6549263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'25y</a:t>
            </a:r>
          </a:p>
        </p:txBody>
      </p:sp>
      <p:sp>
        <p:nvSpPr>
          <p:cNvPr id="33" name="텍스트 33: '26y"/>
          <p:cNvSpPr txBox="1"/>
          <p:nvPr/>
        </p:nvSpPr>
        <p:spPr>
          <a:xfrm>
            <a:off x="7681214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'26y</a:t>
            </a:r>
          </a:p>
        </p:txBody>
      </p:sp>
      <p:sp>
        <p:nvSpPr>
          <p:cNvPr id="34" name="텍스트 34: '27y"/>
          <p:cNvSpPr txBox="1"/>
          <p:nvPr/>
        </p:nvSpPr>
        <p:spPr>
          <a:xfrm>
            <a:off x="8813292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'27y</a:t>
            </a:r>
          </a:p>
        </p:txBody>
      </p:sp>
      <p:sp>
        <p:nvSpPr>
          <p:cNvPr id="35" name="텍스트 35: 청주시흥덕구"/>
          <p:cNvSpPr txBox="1"/>
          <p:nvPr/>
        </p:nvSpPr>
        <p:spPr>
          <a:xfrm>
            <a:off x="563270" y="2124393"/>
            <a:ext cx="62890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청주시흥덕구</a:t>
            </a:r>
          </a:p>
        </p:txBody>
      </p:sp>
      <p:sp>
        <p:nvSpPr>
          <p:cNvPr id="36" name="텍스트 36: 청주시상당구"/>
          <p:cNvSpPr txBox="1"/>
          <p:nvPr/>
        </p:nvSpPr>
        <p:spPr>
          <a:xfrm>
            <a:off x="1404238" y="2124393"/>
            <a:ext cx="62890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청주시상당구</a:t>
            </a:r>
          </a:p>
        </p:txBody>
      </p:sp>
      <p:sp>
        <p:nvSpPr>
          <p:cNvPr id="37" name="텍스트 37: 청주시서원구"/>
          <p:cNvSpPr txBox="1"/>
          <p:nvPr/>
        </p:nvSpPr>
        <p:spPr>
          <a:xfrm>
            <a:off x="2244851" y="2124393"/>
            <a:ext cx="62890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청주시서원구</a:t>
            </a:r>
          </a:p>
        </p:txBody>
      </p:sp>
      <p:sp>
        <p:nvSpPr>
          <p:cNvPr id="38" name="텍스트 38: 청주시청원구"/>
          <p:cNvSpPr txBox="1"/>
          <p:nvPr/>
        </p:nvSpPr>
        <p:spPr>
          <a:xfrm>
            <a:off x="3085464" y="2124393"/>
            <a:ext cx="62890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청주시청원구</a:t>
            </a:r>
          </a:p>
        </p:txBody>
      </p:sp>
      <p:sp>
        <p:nvSpPr>
          <p:cNvPr id="39" name="텍스트 39: 현재 2027년 이후 흥덕구 신규공급 계획 無"/>
          <p:cNvSpPr txBox="1"/>
          <p:nvPr/>
        </p:nvSpPr>
        <p:spPr>
          <a:xfrm>
            <a:off x="3826128" y="2805179"/>
            <a:ext cx="5262752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19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현재 2027년 이후 흥덕구 신규공급 계획 無</a:t>
            </a:r>
          </a:p>
        </p:txBody>
      </p:sp>
      <p:sp>
        <p:nvSpPr>
          <p:cNvPr id="40" name="텍스트 40: [출처 : REPS]"/>
          <p:cNvSpPr txBox="1"/>
          <p:nvPr/>
        </p:nvSpPr>
        <p:spPr>
          <a:xfrm>
            <a:off x="8997695" y="2272127"/>
            <a:ext cx="536226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42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REPS]</a:t>
            </a:r>
          </a:p>
        </p:txBody>
      </p:sp>
      <p:sp>
        <p:nvSpPr>
          <p:cNvPr id="41" name="텍스트 41: 42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42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43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44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45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46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’26년 1월 공급된 오송역세권 ‘힐스테이트’ 민간임대"/>
          <p:cNvSpPr txBox="1"/>
          <p:nvPr/>
        </p:nvSpPr>
        <p:spPr>
          <a:xfrm>
            <a:off x="304800" y="664811"/>
            <a:ext cx="8768646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5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’26년 1월 공급된 오송역세권 ‘힐스테이트’ 민간임대분 200세대,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57" b="1" spc="-2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청약 34,523건 접수, 조합의 입주권은 </a:t>
            </a:r>
            <a:r>
              <a:rPr lang="ko-KR" altLang="en-US" sz="2757" b="1" spc="-271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프리미엄 9,000만원 </a:t>
            </a:r>
            <a:r>
              <a:rPr lang="ko-KR" altLang="en-US" sz="2757" b="1" spc="-2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호가</a:t>
            </a:r>
          </a:p>
        </p:txBody>
      </p:sp>
      <p:sp>
        <p:nvSpPr>
          <p:cNvPr id="3" name="텍스트 3: CHAPTER 03  ·  청주시 주택시장과 수요 │ 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2  ·  진짜 수요  │  오송역세권 분양 성공 사례</a:t>
            </a:r>
          </a:p>
        </p:txBody>
      </p:sp>
      <p:sp>
        <p:nvSpPr>
          <p:cNvPr id="4" name="텍스트 4: 힐스테이트 오송역퍼스트"/>
          <p:cNvSpPr txBox="1"/>
          <p:nvPr/>
        </p:nvSpPr>
        <p:spPr>
          <a:xfrm>
            <a:off x="690676" y="2245075"/>
            <a:ext cx="179465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9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힐스테이트 오송역퍼스트</a:t>
            </a:r>
          </a:p>
        </p:txBody>
      </p:sp>
      <p:sp>
        <p:nvSpPr>
          <p:cNvPr id="5" name="텍스트 5: 오송역세권도시개발사업 지구 내 ‘26년 1월 신규공급"/>
          <p:cNvSpPr txBox="1"/>
          <p:nvPr/>
        </p:nvSpPr>
        <p:spPr>
          <a:xfrm>
            <a:off x="516940" y="5251929"/>
            <a:ext cx="349466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10" dirty="0">
                <a:solidFill>
                  <a:srgbClr val="D9C38A"/>
                </a:solidFill>
                <a:latin typeface="맑은 고딕"/>
                <a:ea typeface="맑은 고딕"/>
                <a:cs typeface="맑은 고딕"/>
              </a:rPr>
              <a:t>오송역세권도시개발사업 지구 내 ‘26년 1월 신규공급</a:t>
            </a:r>
          </a:p>
        </p:txBody>
      </p:sp>
      <p:sp>
        <p:nvSpPr>
          <p:cNvPr id="6" name="텍스트 6: 총 2,094세대 |  지역주택조합 1,593 + 민간"/>
          <p:cNvSpPr txBox="1"/>
          <p:nvPr/>
        </p:nvSpPr>
        <p:spPr>
          <a:xfrm>
            <a:off x="516940" y="5488899"/>
            <a:ext cx="414541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총 2,094세대 </a:t>
            </a:r>
            <a:r>
              <a:rPr lang="ko-KR" altLang="en-US" sz="1404" b="0" spc="-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|  지역주택조합 1,593 + 민간임대 501</a:t>
            </a:r>
          </a:p>
        </p:txBody>
      </p:sp>
      <p:sp>
        <p:nvSpPr>
          <p:cNvPr id="7" name="텍스트 7: ’26년 1월 민간임대 중 우선공급 외 200세대 공개"/>
          <p:cNvSpPr txBox="1"/>
          <p:nvPr/>
        </p:nvSpPr>
        <p:spPr>
          <a:xfrm>
            <a:off x="516940" y="5768867"/>
            <a:ext cx="389078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9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’26년 1월 민간임대 중 우선공급 외 200세대 공개모집</a:t>
            </a:r>
          </a:p>
        </p:txBody>
      </p:sp>
      <p:sp>
        <p:nvSpPr>
          <p:cNvPr id="8" name="텍스트 8: 청약 경쟁률"/>
          <p:cNvSpPr txBox="1"/>
          <p:nvPr/>
        </p:nvSpPr>
        <p:spPr>
          <a:xfrm>
            <a:off x="7652639" y="2268824"/>
            <a:ext cx="84982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1" spc="-140" dirty="0">
                <a:solidFill>
                  <a:srgbClr val="E3D3A0"/>
                </a:solidFill>
                <a:latin typeface="맑은 고딕"/>
                <a:ea typeface="맑은 고딕"/>
                <a:cs typeface="맑은 고딕"/>
              </a:rPr>
              <a:t>청약 경쟁률</a:t>
            </a:r>
          </a:p>
        </p:txBody>
      </p:sp>
      <p:sp>
        <p:nvSpPr>
          <p:cNvPr id="9" name="텍스트 9: 172.6:1"/>
          <p:cNvSpPr txBox="1"/>
          <p:nvPr/>
        </p:nvSpPr>
        <p:spPr>
          <a:xfrm>
            <a:off x="7652639" y="2586961"/>
            <a:ext cx="1570873" cy="4882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8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4" b="1" spc="6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172.6:1</a:t>
            </a:r>
          </a:p>
        </p:txBody>
      </p:sp>
      <p:sp>
        <p:nvSpPr>
          <p:cNvPr id="10" name="텍스트 10: 2026.01. 즉시 완판"/>
          <p:cNvSpPr txBox="1"/>
          <p:nvPr/>
        </p:nvSpPr>
        <p:spPr>
          <a:xfrm>
            <a:off x="7652639" y="3148172"/>
            <a:ext cx="153562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3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2026.01. 즉시 완판</a:t>
            </a:r>
          </a:p>
        </p:txBody>
      </p:sp>
      <p:sp>
        <p:nvSpPr>
          <p:cNvPr id="11" name="텍스트 11: 청약 접수건"/>
          <p:cNvSpPr txBox="1"/>
          <p:nvPr/>
        </p:nvSpPr>
        <p:spPr>
          <a:xfrm>
            <a:off x="5315458" y="2268824"/>
            <a:ext cx="84982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1" spc="-14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청약 접수건</a:t>
            </a:r>
          </a:p>
        </p:txBody>
      </p:sp>
      <p:sp>
        <p:nvSpPr>
          <p:cNvPr id="12" name="텍스트 12: 34,523건"/>
          <p:cNvSpPr txBox="1"/>
          <p:nvPr/>
        </p:nvSpPr>
        <p:spPr>
          <a:xfrm>
            <a:off x="5315458" y="2586961"/>
            <a:ext cx="1683704" cy="4882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8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4" b="1" spc="6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34,523</a:t>
            </a:r>
            <a:r>
              <a:rPr lang="ko-KR" altLang="en-US" sz="2004" b="1" spc="6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건</a:t>
            </a:r>
          </a:p>
        </p:txBody>
      </p:sp>
      <p:sp>
        <p:nvSpPr>
          <p:cNvPr id="13" name="텍스트 13: 200가구 모집 기준"/>
          <p:cNvSpPr txBox="1"/>
          <p:nvPr/>
        </p:nvSpPr>
        <p:spPr>
          <a:xfrm>
            <a:off x="5315458" y="3148172"/>
            <a:ext cx="140455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85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200가구 모집 기준</a:t>
            </a:r>
          </a:p>
        </p:txBody>
      </p:sp>
      <p:sp>
        <p:nvSpPr>
          <p:cNvPr id="14" name="텍스트 14: 59㎡ ~ 84㎡"/>
          <p:cNvSpPr txBox="1"/>
          <p:nvPr/>
        </p:nvSpPr>
        <p:spPr>
          <a:xfrm>
            <a:off x="5410200" y="4197702"/>
            <a:ext cx="961274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59㎡ ~ 84㎡</a:t>
            </a:r>
          </a:p>
        </p:txBody>
      </p:sp>
      <p:sp>
        <p:nvSpPr>
          <p:cNvPr id="15" name="텍스트 15: 2027년 2월 입주 예정"/>
          <p:cNvSpPr txBox="1"/>
          <p:nvPr/>
        </p:nvSpPr>
        <p:spPr>
          <a:xfrm>
            <a:off x="6634860" y="4188810"/>
            <a:ext cx="168230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6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2027년 2월 입주 예정</a:t>
            </a:r>
          </a:p>
        </p:txBody>
      </p:sp>
      <p:sp>
        <p:nvSpPr>
          <p:cNvPr id="16" name="텍스트 16: 현재 조합원 입주권 프리미엄 호가"/>
          <p:cNvSpPr txBox="1"/>
          <p:nvPr/>
        </p:nvSpPr>
        <p:spPr>
          <a:xfrm>
            <a:off x="5283961" y="4842225"/>
            <a:ext cx="23848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현재 조합원 입주권 프리미엄 호가</a:t>
            </a:r>
          </a:p>
        </p:txBody>
      </p:sp>
      <p:sp>
        <p:nvSpPr>
          <p:cNvPr id="17" name="텍스트 17: P 7,000~9,000만원"/>
          <p:cNvSpPr txBox="1"/>
          <p:nvPr/>
        </p:nvSpPr>
        <p:spPr>
          <a:xfrm>
            <a:off x="5283961" y="5087913"/>
            <a:ext cx="4186496" cy="6089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96" b="1" spc="38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P 7,000~9,000</a:t>
            </a:r>
            <a:r>
              <a:rPr lang="ko-KR" altLang="en-US" sz="2004" b="1" spc="38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만원</a:t>
            </a:r>
          </a:p>
        </p:txBody>
      </p:sp>
      <p:sp>
        <p:nvSpPr>
          <p:cNvPr id="18" name="텍스트 18: 43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19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20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21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22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23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가경 아이파크 8.0억"/>
          <p:cNvSpPr txBox="1"/>
          <p:nvPr/>
        </p:nvSpPr>
        <p:spPr>
          <a:xfrm>
            <a:off x="6178930" y="3807429"/>
            <a:ext cx="112134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69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가경 아이파크 </a:t>
            </a:r>
            <a:r>
              <a:rPr lang="ko-KR" altLang="en-US" sz="1404" b="1" spc="-69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8.0억</a:t>
            </a:r>
          </a:p>
        </p:txBody>
      </p:sp>
      <p:sp>
        <p:nvSpPr>
          <p:cNvPr id="3" name="텍스트 3: 힐스테이트2차 8.7억"/>
          <p:cNvSpPr txBox="1"/>
          <p:nvPr/>
        </p:nvSpPr>
        <p:spPr>
          <a:xfrm>
            <a:off x="6154546" y="3547841"/>
            <a:ext cx="117164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58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힐스테이트2차 </a:t>
            </a:r>
            <a:r>
              <a:rPr lang="ko-KR" altLang="en-US" sz="1404" b="1" spc="-58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8.7억</a:t>
            </a:r>
          </a:p>
        </p:txBody>
      </p:sp>
      <p:sp>
        <p:nvSpPr>
          <p:cNvPr id="4" name="텍스트 4: 오송서한이다음 7.0억"/>
          <p:cNvSpPr txBox="1"/>
          <p:nvPr/>
        </p:nvSpPr>
        <p:spPr>
          <a:xfrm>
            <a:off x="4202557" y="3965417"/>
            <a:ext cx="119462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3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오송서한이다음 </a:t>
            </a:r>
            <a:r>
              <a:rPr lang="ko-KR" altLang="en-US" sz="1404" b="1" spc="-73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7.0억</a:t>
            </a:r>
          </a:p>
        </p:txBody>
      </p:sp>
      <p:sp>
        <p:nvSpPr>
          <p:cNvPr id="5" name="텍스트 5: 테크노푸르지오 7.5억"/>
          <p:cNvSpPr txBox="1"/>
          <p:nvPr/>
        </p:nvSpPr>
        <p:spPr>
          <a:xfrm>
            <a:off x="6392926" y="2981421"/>
            <a:ext cx="119450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73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테크노푸르지오 </a:t>
            </a:r>
            <a:r>
              <a:rPr lang="ko-KR" altLang="en-US" sz="1404" b="1" spc="-73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7.5억</a:t>
            </a:r>
          </a:p>
        </p:txBody>
      </p:sp>
      <p:sp>
        <p:nvSpPr>
          <p:cNvPr id="6" name="텍스트 6: 오송역 헬로우시티"/>
          <p:cNvSpPr txBox="1"/>
          <p:nvPr/>
        </p:nvSpPr>
        <p:spPr>
          <a:xfrm>
            <a:off x="4284598" y="3150426"/>
            <a:ext cx="85445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2" b="0" spc="-9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7" name="텍스트 7: 6억대"/>
          <p:cNvSpPr txBox="1"/>
          <p:nvPr/>
        </p:nvSpPr>
        <p:spPr>
          <a:xfrm>
            <a:off x="4421759" y="3288159"/>
            <a:ext cx="580135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0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6억대</a:t>
            </a:r>
          </a:p>
        </p:txBody>
      </p:sp>
      <p:sp>
        <p:nvSpPr>
          <p:cNvPr id="8" name="텍스트 8: 복대동두산위브 10.5억"/>
          <p:cNvSpPr txBox="1"/>
          <p:nvPr/>
        </p:nvSpPr>
        <p:spPr>
          <a:xfrm>
            <a:off x="6157214" y="3269203"/>
            <a:ext cx="131464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59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복대동두산위브 </a:t>
            </a:r>
            <a:r>
              <a:rPr lang="ko-KR" altLang="en-US" sz="1404" b="1" spc="-59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10.5억</a:t>
            </a:r>
          </a:p>
        </p:txBody>
      </p:sp>
      <p:sp>
        <p:nvSpPr>
          <p:cNvPr id="9" name="텍스트 9: 흥덕구"/>
          <p:cNvSpPr txBox="1"/>
          <p:nvPr/>
        </p:nvSpPr>
        <p:spPr>
          <a:xfrm>
            <a:off x="5271770" y="3316002"/>
            <a:ext cx="39567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10" name="텍스트 10: 청원구"/>
          <p:cNvSpPr txBox="1"/>
          <p:nvPr/>
        </p:nvSpPr>
        <p:spPr>
          <a:xfrm>
            <a:off x="6373114" y="2419499"/>
            <a:ext cx="517971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2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2" b="0" spc="-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 4억대</a:t>
            </a:r>
          </a:p>
        </p:txBody>
      </p:sp>
      <p:sp>
        <p:nvSpPr>
          <p:cNvPr id="11" name="텍스트 11: 상당구"/>
          <p:cNvSpPr txBox="1"/>
          <p:nvPr/>
        </p:nvSpPr>
        <p:spPr>
          <a:xfrm>
            <a:off x="6958076" y="4111312"/>
            <a:ext cx="517590" cy="3357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  <a:p>
            <a:pPr algn="ctr">
              <a:lnSpc>
                <a:spcPts val="13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0" spc="-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 5억대</a:t>
            </a:r>
          </a:p>
        </p:txBody>
      </p:sp>
      <p:sp>
        <p:nvSpPr>
          <p:cNvPr id="12" name="텍스트 12: 서원구"/>
          <p:cNvSpPr txBox="1"/>
          <p:nvPr/>
        </p:nvSpPr>
        <p:spPr>
          <a:xfrm>
            <a:off x="5717540" y="4139460"/>
            <a:ext cx="517590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 3억대</a:t>
            </a:r>
          </a:p>
        </p:txBody>
      </p:sp>
      <p:sp>
        <p:nvSpPr>
          <p:cNvPr id="13" name="텍스트 13: 하나하나 거대한 개발호재, 흥덕구 집중!"/>
          <p:cNvSpPr txBox="1"/>
          <p:nvPr/>
        </p:nvSpPr>
        <p:spPr>
          <a:xfrm>
            <a:off x="252374" y="5168268"/>
            <a:ext cx="3687571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9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하나하나 거대한 개발호재, </a:t>
            </a:r>
            <a:r>
              <a:rPr lang="ko-KR" altLang="en-US" sz="2400" b="1" spc="-19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 집중!</a:t>
            </a:r>
          </a:p>
        </p:txBody>
      </p:sp>
      <p:sp>
        <p:nvSpPr>
          <p:cNvPr id="14" name="텍스트 14: 흥덕구 주택 가격 급상승 중"/>
          <p:cNvSpPr txBox="1"/>
          <p:nvPr/>
        </p:nvSpPr>
        <p:spPr>
          <a:xfrm>
            <a:off x="633679" y="5563930"/>
            <a:ext cx="3243391" cy="366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68" b="1" spc="-2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 주택 가격 급상승 중</a:t>
            </a:r>
          </a:p>
        </p:txBody>
      </p:sp>
      <p:sp>
        <p:nvSpPr>
          <p:cNvPr id="15" name="텍스트 15: ’24년 1월"/>
          <p:cNvSpPr txBox="1"/>
          <p:nvPr/>
        </p:nvSpPr>
        <p:spPr>
          <a:xfrm>
            <a:off x="4922773" y="4660716"/>
            <a:ext cx="740155" cy="3665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’24년 1월</a:t>
            </a:r>
          </a:p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1,024만원</a:t>
            </a:r>
          </a:p>
        </p:txBody>
      </p:sp>
      <p:sp>
        <p:nvSpPr>
          <p:cNvPr id="16" name="텍스트 16: ’26년 9월"/>
          <p:cNvSpPr txBox="1"/>
          <p:nvPr/>
        </p:nvSpPr>
        <p:spPr>
          <a:xfrm>
            <a:off x="8332089" y="3719159"/>
            <a:ext cx="981008" cy="48818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8" b="1" spc="-3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’26년 9월</a:t>
            </a:r>
          </a:p>
          <a:p>
            <a:pPr algn="ctr">
              <a:lnSpc>
                <a:spcPts val="19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1,208만원</a:t>
            </a:r>
          </a:p>
        </p:txBody>
      </p:sp>
      <p:sp>
        <p:nvSpPr>
          <p:cNvPr id="17" name="텍스트 17: 약 20% ▲"/>
          <p:cNvSpPr txBox="1"/>
          <p:nvPr/>
        </p:nvSpPr>
        <p:spPr>
          <a:xfrm>
            <a:off x="8273160" y="4207226"/>
            <a:ext cx="1123273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128" dirty="0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약 20% ▲</a:t>
            </a:r>
          </a:p>
        </p:txBody>
      </p:sp>
      <p:sp>
        <p:nvSpPr>
          <p:cNvPr id="18" name="텍스트 18: 흥덕구 평균 매매가, 2년여간 약 120% 상승"/>
          <p:cNvSpPr txBox="1"/>
          <p:nvPr/>
        </p:nvSpPr>
        <p:spPr>
          <a:xfrm>
            <a:off x="4935346" y="5619389"/>
            <a:ext cx="3890761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1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 평균 매매가, 2년여간 약 20% 상승</a:t>
            </a:r>
            <a:r>
              <a:rPr lang="ko-KR" altLang="en-US" sz="2004" b="1" spc="-117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9" name="텍스트 19: 가격상승·공급부족 상황 속 구축 리딩단지 84㎡ 매매가"/>
          <p:cNvSpPr txBox="1"/>
          <p:nvPr/>
        </p:nvSpPr>
        <p:spPr>
          <a:xfrm>
            <a:off x="304800" y="664811"/>
            <a:ext cx="9361952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가격상승·공급부족 상황 속 구축 리딩단지 84㎡ 매매가 7~10억대</a:t>
            </a:r>
            <a:r>
              <a:rPr lang="ko-KR" altLang="en-US" sz="190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[상승 중]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헬로우시티, 복수의 대규모 개발호재 속 84㎡ 6억대 공급 예정</a:t>
            </a:r>
          </a:p>
        </p:txBody>
      </p:sp>
      <p:sp>
        <p:nvSpPr>
          <p:cNvPr id="20" name="텍스트 20: CHAPTER 03 ·  청주시 주택시장과 수요 │합리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4  ·  가격과 안심  │  합리적 가격</a:t>
            </a:r>
          </a:p>
        </p:txBody>
      </p:sp>
      <p:sp>
        <p:nvSpPr>
          <p:cNvPr id="21" name="텍스트 21: [출처 : 호갱노노]"/>
          <p:cNvSpPr txBox="1"/>
          <p:nvPr/>
        </p:nvSpPr>
        <p:spPr>
          <a:xfrm>
            <a:off x="8865107" y="6221065"/>
            <a:ext cx="607890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58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호갱노노]</a:t>
            </a:r>
          </a:p>
        </p:txBody>
      </p:sp>
      <p:sp>
        <p:nvSpPr>
          <p:cNvPr id="22" name="텍스트 22: 4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23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24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25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26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27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‘오송역 헬로우시티’는 전국적 개발호재의 중심에 있습니"/>
          <p:cNvSpPr txBox="1"/>
          <p:nvPr/>
        </p:nvSpPr>
        <p:spPr>
          <a:xfrm>
            <a:off x="304800" y="664811"/>
            <a:ext cx="8768243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‘오송역 헬로우시티’는 전국적 개발호재의 중심에 있습니다.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이제 충북도민, 청주시민 여러분과 함께 시작합니다.</a:t>
            </a:r>
          </a:p>
        </p:txBody>
      </p:sp>
      <p:sp>
        <p:nvSpPr>
          <p:cNvPr id="3" name="텍스트 3: CHAPTER 03 ·  청주시 주택시장과 수요 │헬로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5  ·  미래가치와 결정  │  헬로우시티 반등 포인트</a:t>
            </a:r>
          </a:p>
        </p:txBody>
      </p:sp>
      <p:sp>
        <p:nvSpPr>
          <p:cNvPr id="4" name="텍스트 4: 모집부터 입주, 입주 후까지 이어질 대규모 개발호재,"/>
          <p:cNvSpPr txBox="1"/>
          <p:nvPr/>
        </p:nvSpPr>
        <p:spPr>
          <a:xfrm>
            <a:off x="493471" y="2262348"/>
            <a:ext cx="5200968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88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모집부터 입주, 입주 후까지 이어질 대규모 개발호재,</a:t>
            </a:r>
          </a:p>
        </p:txBody>
      </p:sp>
      <p:sp>
        <p:nvSpPr>
          <p:cNvPr id="5" name="텍스트 5: 헬로우시티의 끝없는 미래가치!"/>
          <p:cNvSpPr txBox="1"/>
          <p:nvPr/>
        </p:nvSpPr>
        <p:spPr>
          <a:xfrm>
            <a:off x="493471" y="2549435"/>
            <a:ext cx="4357058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6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헬로우시티의 끝없는 미래가치!</a:t>
            </a:r>
          </a:p>
        </p:txBody>
      </p:sp>
      <p:sp>
        <p:nvSpPr>
          <p:cNvPr id="6" name="텍스트 6: 조합설립"/>
          <p:cNvSpPr txBox="1"/>
          <p:nvPr/>
        </p:nvSpPr>
        <p:spPr>
          <a:xfrm>
            <a:off x="676351" y="5545807"/>
            <a:ext cx="604580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7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조합설립</a:t>
            </a:r>
          </a:p>
        </p:txBody>
      </p:sp>
      <p:sp>
        <p:nvSpPr>
          <p:cNvPr id="7" name="텍스트 7: 인가"/>
          <p:cNvSpPr txBox="1"/>
          <p:nvPr/>
        </p:nvSpPr>
        <p:spPr>
          <a:xfrm>
            <a:off x="819607" y="5734783"/>
            <a:ext cx="315325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8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인가</a:t>
            </a:r>
          </a:p>
        </p:txBody>
      </p:sp>
      <p:sp>
        <p:nvSpPr>
          <p:cNvPr id="8" name="텍스트 8: AI BIO"/>
          <p:cNvSpPr txBox="1"/>
          <p:nvPr/>
        </p:nvSpPr>
        <p:spPr>
          <a:xfrm>
            <a:off x="1170533" y="4516487"/>
            <a:ext cx="759393" cy="3055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1" spc="-1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AI BIO</a:t>
            </a:r>
          </a:p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2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영재학교 개교</a:t>
            </a:r>
          </a:p>
        </p:txBody>
      </p:sp>
      <p:sp>
        <p:nvSpPr>
          <p:cNvPr id="9" name="텍스트 9: 사업계획"/>
          <p:cNvSpPr txBox="1"/>
          <p:nvPr/>
        </p:nvSpPr>
        <p:spPr>
          <a:xfrm>
            <a:off x="2150110" y="5024554"/>
            <a:ext cx="604850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7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사업계획</a:t>
            </a:r>
          </a:p>
        </p:txBody>
      </p:sp>
      <p:sp>
        <p:nvSpPr>
          <p:cNvPr id="10" name="텍스트 10: 승인"/>
          <p:cNvSpPr txBox="1"/>
          <p:nvPr/>
        </p:nvSpPr>
        <p:spPr>
          <a:xfrm>
            <a:off x="2293366" y="5214210"/>
            <a:ext cx="315020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7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11" name="텍스트 11: CTX"/>
          <p:cNvSpPr txBox="1"/>
          <p:nvPr/>
        </p:nvSpPr>
        <p:spPr>
          <a:xfrm>
            <a:off x="3037967" y="5614437"/>
            <a:ext cx="29992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CTX</a:t>
            </a:r>
          </a:p>
        </p:txBody>
      </p:sp>
      <p:sp>
        <p:nvSpPr>
          <p:cNvPr id="12" name="텍스트 12: 착공"/>
          <p:cNvSpPr txBox="1"/>
          <p:nvPr/>
        </p:nvSpPr>
        <p:spPr>
          <a:xfrm>
            <a:off x="3057779" y="5766837"/>
            <a:ext cx="260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착공</a:t>
            </a:r>
          </a:p>
        </p:txBody>
      </p:sp>
      <p:sp>
        <p:nvSpPr>
          <p:cNvPr id="13" name="텍스트 13: 오송역"/>
          <p:cNvSpPr txBox="1"/>
          <p:nvPr/>
        </p:nvSpPr>
        <p:spPr>
          <a:xfrm>
            <a:off x="3664458" y="3583857"/>
            <a:ext cx="495462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</a:t>
            </a:r>
          </a:p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환승센터</a:t>
            </a:r>
          </a:p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복합개발</a:t>
            </a:r>
          </a:p>
        </p:txBody>
      </p:sp>
      <p:sp>
        <p:nvSpPr>
          <p:cNvPr id="14" name="텍스트 14: 유통상업용지"/>
          <p:cNvSpPr txBox="1"/>
          <p:nvPr/>
        </p:nvSpPr>
        <p:spPr>
          <a:xfrm>
            <a:off x="4296409" y="5093509"/>
            <a:ext cx="73015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유통상업용지</a:t>
            </a:r>
          </a:p>
        </p:txBody>
      </p:sp>
      <p:sp>
        <p:nvSpPr>
          <p:cNvPr id="15" name="텍스트 15: 개발"/>
          <p:cNvSpPr txBox="1"/>
          <p:nvPr/>
        </p:nvSpPr>
        <p:spPr>
          <a:xfrm>
            <a:off x="4531105" y="5245909"/>
            <a:ext cx="260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</p:txBody>
      </p:sp>
      <p:sp>
        <p:nvSpPr>
          <p:cNvPr id="16" name="텍스트 16: 셀트리온"/>
          <p:cNvSpPr txBox="1"/>
          <p:nvPr/>
        </p:nvSpPr>
        <p:spPr>
          <a:xfrm>
            <a:off x="4667758" y="3215048"/>
            <a:ext cx="876462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셀트리온</a:t>
            </a:r>
          </a:p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2조원 투자 지속</a:t>
            </a:r>
          </a:p>
        </p:txBody>
      </p:sp>
      <p:sp>
        <p:nvSpPr>
          <p:cNvPr id="17" name="텍스트 17: 입주"/>
          <p:cNvSpPr txBox="1"/>
          <p:nvPr/>
        </p:nvSpPr>
        <p:spPr>
          <a:xfrm>
            <a:off x="5976873" y="3816657"/>
            <a:ext cx="315289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8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입주</a:t>
            </a:r>
          </a:p>
        </p:txBody>
      </p:sp>
      <p:sp>
        <p:nvSpPr>
          <p:cNvPr id="18" name="텍스트 18: 카이스트"/>
          <p:cNvSpPr txBox="1"/>
          <p:nvPr/>
        </p:nvSpPr>
        <p:spPr>
          <a:xfrm>
            <a:off x="6493891" y="2542076"/>
            <a:ext cx="730157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카이스트</a:t>
            </a:r>
          </a:p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바이오메디컬</a:t>
            </a:r>
          </a:p>
        </p:txBody>
      </p:sp>
      <p:sp>
        <p:nvSpPr>
          <p:cNvPr id="19" name="텍스트 19: 캠퍼스타운"/>
          <p:cNvSpPr txBox="1"/>
          <p:nvPr/>
        </p:nvSpPr>
        <p:spPr>
          <a:xfrm>
            <a:off x="6566027" y="2838370"/>
            <a:ext cx="61280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캠퍼스타운</a:t>
            </a:r>
          </a:p>
        </p:txBody>
      </p:sp>
      <p:sp>
        <p:nvSpPr>
          <p:cNvPr id="20" name="텍스트 20: 서울대 R&amp;D"/>
          <p:cNvSpPr txBox="1"/>
          <p:nvPr/>
        </p:nvSpPr>
        <p:spPr>
          <a:xfrm>
            <a:off x="7246366" y="4051982"/>
            <a:ext cx="72357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6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서울대 R&amp;D</a:t>
            </a:r>
          </a:p>
        </p:txBody>
      </p:sp>
      <p:sp>
        <p:nvSpPr>
          <p:cNvPr id="21" name="텍스트 21: 임상병원"/>
          <p:cNvSpPr txBox="1"/>
          <p:nvPr/>
        </p:nvSpPr>
        <p:spPr>
          <a:xfrm>
            <a:off x="7360666" y="4204382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임상병원</a:t>
            </a:r>
          </a:p>
        </p:txBody>
      </p:sp>
      <p:sp>
        <p:nvSpPr>
          <p:cNvPr id="22" name="텍스트 22: 궁평지구"/>
          <p:cNvSpPr txBox="1"/>
          <p:nvPr/>
        </p:nvSpPr>
        <p:spPr>
          <a:xfrm>
            <a:off x="7967218" y="2173267"/>
            <a:ext cx="730157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궁평지구</a:t>
            </a:r>
          </a:p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도시개발사업</a:t>
            </a:r>
          </a:p>
        </p:txBody>
      </p:sp>
      <p:sp>
        <p:nvSpPr>
          <p:cNvPr id="23" name="텍스트 23: CTX"/>
          <p:cNvSpPr txBox="1"/>
          <p:nvPr/>
        </p:nvSpPr>
        <p:spPr>
          <a:xfrm>
            <a:off x="8931529" y="3531155"/>
            <a:ext cx="29992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CTX</a:t>
            </a:r>
          </a:p>
        </p:txBody>
      </p:sp>
      <p:sp>
        <p:nvSpPr>
          <p:cNvPr id="24" name="텍스트 24: 개통"/>
          <p:cNvSpPr txBox="1"/>
          <p:nvPr/>
        </p:nvSpPr>
        <p:spPr>
          <a:xfrm>
            <a:off x="8951341" y="3683555"/>
            <a:ext cx="260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개통</a:t>
            </a:r>
          </a:p>
        </p:txBody>
      </p:sp>
      <p:sp>
        <p:nvSpPr>
          <p:cNvPr id="25" name="텍스트 25: 사업 일정"/>
          <p:cNvSpPr txBox="1"/>
          <p:nvPr/>
        </p:nvSpPr>
        <p:spPr>
          <a:xfrm>
            <a:off x="736701" y="1915334"/>
            <a:ext cx="524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 일정</a:t>
            </a:r>
          </a:p>
        </p:txBody>
      </p:sp>
      <p:sp>
        <p:nvSpPr>
          <p:cNvPr id="26" name="텍스트 26: 지역 개발 호재"/>
          <p:cNvSpPr txBox="1"/>
          <p:nvPr/>
        </p:nvSpPr>
        <p:spPr>
          <a:xfrm>
            <a:off x="1816354" y="1915334"/>
            <a:ext cx="78832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지역 개발 호재</a:t>
            </a:r>
          </a:p>
        </p:txBody>
      </p:sp>
      <p:sp>
        <p:nvSpPr>
          <p:cNvPr id="27" name="텍스트 27: 45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28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29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30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31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32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HELLO"/>
          <p:cNvSpPr txBox="1"/>
          <p:nvPr/>
        </p:nvSpPr>
        <p:spPr>
          <a:xfrm>
            <a:off x="6890893" y="3638391"/>
            <a:ext cx="4112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1" spc="19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HELLO</a:t>
            </a:r>
          </a:p>
        </p:txBody>
      </p:sp>
      <p:sp>
        <p:nvSpPr>
          <p:cNvPr id="3" name="텍스트 3: CITY"/>
          <p:cNvSpPr txBox="1"/>
          <p:nvPr/>
        </p:nvSpPr>
        <p:spPr>
          <a:xfrm>
            <a:off x="6956425" y="3742022"/>
            <a:ext cx="28097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1" spc="9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CITY</a:t>
            </a:r>
          </a:p>
        </p:txBody>
      </p:sp>
      <p:sp>
        <p:nvSpPr>
          <p:cNvPr id="4" name="텍스트 4: 전국"/>
          <p:cNvSpPr txBox="1"/>
          <p:nvPr/>
        </p:nvSpPr>
        <p:spPr>
          <a:xfrm>
            <a:off x="6987540" y="1381570"/>
            <a:ext cx="22656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E6EFEA"/>
                </a:solidFill>
                <a:latin typeface="맑은 고딕"/>
                <a:ea typeface="맑은 고딕"/>
                <a:cs typeface="맑은 고딕"/>
              </a:rPr>
              <a:t>전국</a:t>
            </a:r>
          </a:p>
        </p:txBody>
      </p:sp>
      <p:sp>
        <p:nvSpPr>
          <p:cNvPr id="5" name="텍스트 5: 청주"/>
          <p:cNvSpPr txBox="1"/>
          <p:nvPr/>
        </p:nvSpPr>
        <p:spPr>
          <a:xfrm>
            <a:off x="6987540" y="1788225"/>
            <a:ext cx="22656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E6EFEA"/>
                </a:solidFill>
                <a:latin typeface="맑은 고딕"/>
                <a:ea typeface="맑은 고딕"/>
                <a:cs typeface="맑은 고딕"/>
              </a:rPr>
              <a:t>청주</a:t>
            </a:r>
          </a:p>
        </p:txBody>
      </p:sp>
      <p:sp>
        <p:nvSpPr>
          <p:cNvPr id="6" name="텍스트 6: 흥덕구"/>
          <p:cNvSpPr txBox="1"/>
          <p:nvPr/>
        </p:nvSpPr>
        <p:spPr>
          <a:xfrm>
            <a:off x="6936358" y="2194497"/>
            <a:ext cx="327151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E6EFEA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7" name="텍스트 7: 오송신도시"/>
          <p:cNvSpPr txBox="1"/>
          <p:nvPr/>
        </p:nvSpPr>
        <p:spPr>
          <a:xfrm>
            <a:off x="6835775" y="2575878"/>
            <a:ext cx="52831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E6EFEA"/>
                </a:solidFill>
                <a:latin typeface="맑은 고딕"/>
                <a:ea typeface="맑은 고딕"/>
                <a:cs typeface="맑은 고딕"/>
              </a:rPr>
              <a:t>오송신도시</a:t>
            </a:r>
          </a:p>
        </p:txBody>
      </p:sp>
      <p:sp>
        <p:nvSpPr>
          <p:cNvPr id="8" name="텍스트 8: 오송역세권"/>
          <p:cNvSpPr txBox="1"/>
          <p:nvPr/>
        </p:nvSpPr>
        <p:spPr>
          <a:xfrm>
            <a:off x="6835775" y="2956878"/>
            <a:ext cx="52831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오송역세권</a:t>
            </a:r>
          </a:p>
        </p:txBody>
      </p:sp>
      <p:sp>
        <p:nvSpPr>
          <p:cNvPr id="9" name="텍스트 9: T H A N K Y O U  ·  O S O N G "/>
          <p:cNvSpPr txBox="1"/>
          <p:nvPr/>
        </p:nvSpPr>
        <p:spPr>
          <a:xfrm>
            <a:off x="1168603" y="733870"/>
            <a:ext cx="314270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7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T H A N K Y O U  ·  O S O N G H E L L O C I T Y</a:t>
            </a:r>
          </a:p>
        </p:txBody>
      </p:sp>
      <p:sp>
        <p:nvSpPr>
          <p:cNvPr id="10" name="텍스트 10: 전국의,"/>
          <p:cNvSpPr txBox="1"/>
          <p:nvPr/>
        </p:nvSpPr>
        <p:spPr>
          <a:xfrm>
            <a:off x="711403" y="1224506"/>
            <a:ext cx="724527" cy="2889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96" b="1" spc="-188" dirty="0">
                <a:solidFill>
                  <a:srgbClr val="7FA392"/>
                </a:solidFill>
                <a:latin typeface="맑은 고딕"/>
                <a:ea typeface="맑은 고딕"/>
                <a:cs typeface="맑은 고딕"/>
              </a:rPr>
              <a:t>전국의,</a:t>
            </a:r>
          </a:p>
        </p:txBody>
      </p:sp>
      <p:sp>
        <p:nvSpPr>
          <p:cNvPr id="11" name="텍스트 11: 청주의,"/>
          <p:cNvSpPr txBox="1"/>
          <p:nvPr/>
        </p:nvSpPr>
        <p:spPr>
          <a:xfrm>
            <a:off x="711403" y="1515653"/>
            <a:ext cx="1466104" cy="1028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31" b="1" spc="-196" dirty="0">
                <a:solidFill>
                  <a:srgbClr val="94B5A5"/>
                </a:solidFill>
                <a:latin typeface="맑은 고딕"/>
                <a:ea typeface="맑은 고딕"/>
                <a:cs typeface="맑은 고딕"/>
              </a:rPr>
              <a:t>청주의,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78" b="1" spc="-200" dirty="0">
                <a:solidFill>
                  <a:srgbClr val="AAC7B9"/>
                </a:solidFill>
                <a:latin typeface="맑은 고딕"/>
                <a:ea typeface="맑은 고딕"/>
                <a:cs typeface="맑은 고딕"/>
              </a:rPr>
              <a:t>흥덕구의,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26" b="1" spc="-205" dirty="0">
                <a:solidFill>
                  <a:srgbClr val="C2D8CD"/>
                </a:solidFill>
                <a:latin typeface="맑은 고딕"/>
                <a:ea typeface="맑은 고딕"/>
                <a:cs typeface="맑은 고딕"/>
              </a:rPr>
              <a:t>오송신도시의,</a:t>
            </a:r>
          </a:p>
        </p:txBody>
      </p:sp>
      <p:sp>
        <p:nvSpPr>
          <p:cNvPr id="12" name="텍스트 12: 오송역세권의,"/>
          <p:cNvSpPr txBox="1"/>
          <p:nvPr/>
        </p:nvSpPr>
        <p:spPr>
          <a:xfrm>
            <a:off x="711403" y="2589342"/>
            <a:ext cx="1504289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79" b="1" spc="-210" dirty="0">
                <a:solidFill>
                  <a:srgbClr val="DCEAE3"/>
                </a:solidFill>
                <a:latin typeface="맑은 고딕"/>
                <a:ea typeface="맑은 고딕"/>
                <a:cs typeface="맑은 고딕"/>
              </a:rPr>
              <a:t>오송역세권의,</a:t>
            </a:r>
          </a:p>
        </p:txBody>
      </p:sp>
      <p:sp>
        <p:nvSpPr>
          <p:cNvPr id="13" name="텍스트 13: 중심 속의 중심"/>
          <p:cNvSpPr txBox="1"/>
          <p:nvPr/>
        </p:nvSpPr>
        <p:spPr>
          <a:xfrm>
            <a:off x="711403" y="3217356"/>
            <a:ext cx="120502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7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중심 속의 중심</a:t>
            </a:r>
          </a:p>
        </p:txBody>
      </p:sp>
      <p:sp>
        <p:nvSpPr>
          <p:cNvPr id="14" name="텍스트 14: 오송역 헬로우시티"/>
          <p:cNvSpPr txBox="1"/>
          <p:nvPr/>
        </p:nvSpPr>
        <p:spPr>
          <a:xfrm>
            <a:off x="711403" y="3486631"/>
            <a:ext cx="3485134" cy="5797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5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81" b="1" spc="-3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15" name="텍스트 15: 10월 찾아뵙겠습니다."/>
          <p:cNvSpPr txBox="1"/>
          <p:nvPr/>
        </p:nvSpPr>
        <p:spPr>
          <a:xfrm>
            <a:off x="711403" y="4368454"/>
            <a:ext cx="1818512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27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오송역 메인 1열의 주인이 되십시오.</a:t>
            </a:r>
          </a:p>
        </p:txBody>
      </p:sp>
      <p:sp>
        <p:nvSpPr>
          <p:cNvPr id="16" name="텍스트 16: 감사합니다."/>
          <p:cNvSpPr txBox="1"/>
          <p:nvPr/>
        </p:nvSpPr>
        <p:spPr>
          <a:xfrm>
            <a:off x="711403" y="4727119"/>
            <a:ext cx="1573146" cy="3972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1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93" b="1" spc="-261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감사합니다.</a:t>
            </a:r>
          </a:p>
        </p:txBody>
      </p:sp>
      <p:sp>
        <p:nvSpPr>
          <p:cNvPr id="17" name="텍스트 17: 5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부산"/>
          <p:cNvSpPr txBox="1"/>
          <p:nvPr/>
        </p:nvSpPr>
        <p:spPr>
          <a:xfrm>
            <a:off x="2948051" y="5662923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부산</a:t>
            </a:r>
          </a:p>
        </p:txBody>
      </p:sp>
      <p:sp>
        <p:nvSpPr>
          <p:cNvPr id="3" name="텍스트 3: 서울"/>
          <p:cNvSpPr txBox="1"/>
          <p:nvPr/>
        </p:nvSpPr>
        <p:spPr>
          <a:xfrm>
            <a:off x="1282953" y="3291935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서울</a:t>
            </a:r>
          </a:p>
        </p:txBody>
      </p:sp>
      <p:sp>
        <p:nvSpPr>
          <p:cNvPr id="4" name="텍스트 4: 광명"/>
          <p:cNvSpPr txBox="1"/>
          <p:nvPr/>
        </p:nvSpPr>
        <p:spPr>
          <a:xfrm>
            <a:off x="1129588" y="3571335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광명</a:t>
            </a:r>
          </a:p>
        </p:txBody>
      </p:sp>
      <p:sp>
        <p:nvSpPr>
          <p:cNvPr id="5" name="텍스트 5: 동대구"/>
          <p:cNvSpPr txBox="1"/>
          <p:nvPr/>
        </p:nvSpPr>
        <p:spPr>
          <a:xfrm>
            <a:off x="2496566" y="5014309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동대구</a:t>
            </a:r>
          </a:p>
        </p:txBody>
      </p:sp>
      <p:sp>
        <p:nvSpPr>
          <p:cNvPr id="6" name="텍스트 6: 울산"/>
          <p:cNvSpPr txBox="1"/>
          <p:nvPr/>
        </p:nvSpPr>
        <p:spPr>
          <a:xfrm>
            <a:off x="3112897" y="5139531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울산</a:t>
            </a:r>
          </a:p>
        </p:txBody>
      </p:sp>
      <p:sp>
        <p:nvSpPr>
          <p:cNvPr id="7" name="텍스트 7: 수서"/>
          <p:cNvSpPr txBox="1"/>
          <p:nvPr/>
        </p:nvSpPr>
        <p:spPr>
          <a:xfrm>
            <a:off x="1674876" y="3468338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수서</a:t>
            </a:r>
          </a:p>
        </p:txBody>
      </p:sp>
      <p:sp>
        <p:nvSpPr>
          <p:cNvPr id="8" name="텍스트 8: 익산"/>
          <p:cNvSpPr txBox="1"/>
          <p:nvPr/>
        </p:nvSpPr>
        <p:spPr>
          <a:xfrm>
            <a:off x="1612138" y="4894547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익산</a:t>
            </a:r>
          </a:p>
        </p:txBody>
      </p:sp>
      <p:sp>
        <p:nvSpPr>
          <p:cNvPr id="9" name="텍스트 9: 광주송정"/>
          <p:cNvSpPr txBox="1"/>
          <p:nvPr/>
        </p:nvSpPr>
        <p:spPr>
          <a:xfrm>
            <a:off x="1457197" y="5527897"/>
            <a:ext cx="38591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9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광주송정</a:t>
            </a:r>
          </a:p>
        </p:txBody>
      </p:sp>
      <p:sp>
        <p:nvSpPr>
          <p:cNvPr id="10" name="텍스트 10: 목포"/>
          <p:cNvSpPr txBox="1"/>
          <p:nvPr/>
        </p:nvSpPr>
        <p:spPr>
          <a:xfrm>
            <a:off x="1212189" y="5932366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목포</a:t>
            </a:r>
          </a:p>
        </p:txBody>
      </p:sp>
      <p:sp>
        <p:nvSpPr>
          <p:cNvPr id="11" name="텍스트 11: 동탄"/>
          <p:cNvSpPr txBox="1"/>
          <p:nvPr/>
        </p:nvSpPr>
        <p:spPr>
          <a:xfrm>
            <a:off x="1674876" y="3784695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동탄</a:t>
            </a:r>
          </a:p>
        </p:txBody>
      </p:sp>
      <p:sp>
        <p:nvSpPr>
          <p:cNvPr id="12" name="텍스트 12: 대전"/>
          <p:cNvSpPr txBox="1"/>
          <p:nvPr/>
        </p:nvSpPr>
        <p:spPr>
          <a:xfrm>
            <a:off x="1911095" y="4494371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대전</a:t>
            </a:r>
          </a:p>
        </p:txBody>
      </p:sp>
      <p:sp>
        <p:nvSpPr>
          <p:cNvPr id="13" name="텍스트 13: 천안아산"/>
          <p:cNvSpPr txBox="1"/>
          <p:nvPr/>
        </p:nvSpPr>
        <p:spPr>
          <a:xfrm>
            <a:off x="1171041" y="4170267"/>
            <a:ext cx="385003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천안아산</a:t>
            </a:r>
          </a:p>
        </p:txBody>
      </p:sp>
      <p:sp>
        <p:nvSpPr>
          <p:cNvPr id="14" name="텍스트 14: 평택분기점"/>
          <p:cNvSpPr txBox="1"/>
          <p:nvPr/>
        </p:nvSpPr>
        <p:spPr>
          <a:xfrm>
            <a:off x="1615186" y="3944715"/>
            <a:ext cx="47491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평택분기점</a:t>
            </a:r>
          </a:p>
        </p:txBody>
      </p:sp>
      <p:sp>
        <p:nvSpPr>
          <p:cNvPr id="15" name="텍스트 15: 양대 고속철도 정차"/>
          <p:cNvSpPr txBox="1"/>
          <p:nvPr/>
        </p:nvSpPr>
        <p:spPr>
          <a:xfrm>
            <a:off x="3644772" y="2533001"/>
            <a:ext cx="1213388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1" b="0" spc="-125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양대 고속철도 정차</a:t>
            </a:r>
          </a:p>
        </p:txBody>
      </p:sp>
      <p:sp>
        <p:nvSpPr>
          <p:cNvPr id="16" name="텍스트 16: 국내 유일"/>
          <p:cNvSpPr txBox="1"/>
          <p:nvPr/>
        </p:nvSpPr>
        <p:spPr>
          <a:xfrm>
            <a:off x="5458333" y="2079456"/>
            <a:ext cx="1238213" cy="38770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13" b="1" spc="-25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국내 유일</a:t>
            </a:r>
          </a:p>
        </p:txBody>
      </p:sp>
      <p:sp>
        <p:nvSpPr>
          <p:cNvPr id="17" name="텍스트 17: 경부·호남고속선 분기점"/>
          <p:cNvSpPr txBox="1"/>
          <p:nvPr/>
        </p:nvSpPr>
        <p:spPr>
          <a:xfrm>
            <a:off x="5321172" y="2533001"/>
            <a:ext cx="1505996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0" b="0" spc="-125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경부·호남고속선 분기점</a:t>
            </a:r>
          </a:p>
        </p:txBody>
      </p:sp>
      <p:sp>
        <p:nvSpPr>
          <p:cNvPr id="18" name="텍스트 18: 약 1,200만명"/>
          <p:cNvSpPr txBox="1"/>
          <p:nvPr/>
        </p:nvSpPr>
        <p:spPr>
          <a:xfrm>
            <a:off x="7183501" y="2079456"/>
            <a:ext cx="1701327" cy="38770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6" b="1" spc="-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약 </a:t>
            </a:r>
            <a:r>
              <a:rPr lang="ko-KR" altLang="en-US" sz="2544" b="1" spc="-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1,200</a:t>
            </a:r>
            <a:r>
              <a:rPr lang="ko-KR" altLang="en-US" sz="1956" b="1" spc="-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만명</a:t>
            </a:r>
          </a:p>
        </p:txBody>
      </p:sp>
      <p:sp>
        <p:nvSpPr>
          <p:cNvPr id="19" name="텍스트 19: 오송역 연간 이용객"/>
          <p:cNvSpPr txBox="1"/>
          <p:nvPr/>
        </p:nvSpPr>
        <p:spPr>
          <a:xfrm>
            <a:off x="7469758" y="2533001"/>
            <a:ext cx="121364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1" b="0" spc="-125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오송역 연간 이용객</a:t>
            </a:r>
          </a:p>
        </p:txBody>
      </p:sp>
      <p:sp>
        <p:nvSpPr>
          <p:cNvPr id="20" name="텍스트 20: 411만명"/>
          <p:cNvSpPr txBox="1"/>
          <p:nvPr/>
        </p:nvSpPr>
        <p:spPr>
          <a:xfrm>
            <a:off x="3841369" y="4975163"/>
            <a:ext cx="45554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411만명</a:t>
            </a:r>
          </a:p>
        </p:txBody>
      </p:sp>
      <p:sp>
        <p:nvSpPr>
          <p:cNvPr id="21" name="텍스트 21: 503만명"/>
          <p:cNvSpPr txBox="1"/>
          <p:nvPr/>
        </p:nvSpPr>
        <p:spPr>
          <a:xfrm>
            <a:off x="4276090" y="4808157"/>
            <a:ext cx="45516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503만명</a:t>
            </a:r>
          </a:p>
        </p:txBody>
      </p:sp>
      <p:sp>
        <p:nvSpPr>
          <p:cNvPr id="22" name="텍스트 22: 658만명"/>
          <p:cNvSpPr txBox="1"/>
          <p:nvPr/>
        </p:nvSpPr>
        <p:spPr>
          <a:xfrm>
            <a:off x="4710684" y="4526852"/>
            <a:ext cx="45516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658만명</a:t>
            </a:r>
          </a:p>
        </p:txBody>
      </p:sp>
      <p:sp>
        <p:nvSpPr>
          <p:cNvPr id="23" name="텍스트 23: 764만명"/>
          <p:cNvSpPr txBox="1"/>
          <p:nvPr/>
        </p:nvSpPr>
        <p:spPr>
          <a:xfrm>
            <a:off x="5145278" y="4334193"/>
            <a:ext cx="45516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764만명</a:t>
            </a:r>
          </a:p>
        </p:txBody>
      </p:sp>
      <p:sp>
        <p:nvSpPr>
          <p:cNvPr id="24" name="텍스트 24: 862만명"/>
          <p:cNvSpPr txBox="1"/>
          <p:nvPr/>
        </p:nvSpPr>
        <p:spPr>
          <a:xfrm>
            <a:off x="5579998" y="4156520"/>
            <a:ext cx="45516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862만명</a:t>
            </a:r>
          </a:p>
        </p:txBody>
      </p:sp>
      <p:sp>
        <p:nvSpPr>
          <p:cNvPr id="25" name="텍스트 25: 622만명"/>
          <p:cNvSpPr txBox="1"/>
          <p:nvPr/>
        </p:nvSpPr>
        <p:spPr>
          <a:xfrm>
            <a:off x="6014592" y="4592130"/>
            <a:ext cx="45516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622만명</a:t>
            </a:r>
          </a:p>
        </p:txBody>
      </p:sp>
      <p:sp>
        <p:nvSpPr>
          <p:cNvPr id="26" name="텍스트 26: 727만명"/>
          <p:cNvSpPr txBox="1"/>
          <p:nvPr/>
        </p:nvSpPr>
        <p:spPr>
          <a:xfrm>
            <a:off x="6449314" y="4401630"/>
            <a:ext cx="45516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727만명</a:t>
            </a:r>
          </a:p>
        </p:txBody>
      </p:sp>
      <p:sp>
        <p:nvSpPr>
          <p:cNvPr id="27" name="텍스트 27: 958만명"/>
          <p:cNvSpPr txBox="1"/>
          <p:nvPr/>
        </p:nvSpPr>
        <p:spPr>
          <a:xfrm>
            <a:off x="6883907" y="3982150"/>
            <a:ext cx="45516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958만명</a:t>
            </a:r>
          </a:p>
        </p:txBody>
      </p:sp>
      <p:sp>
        <p:nvSpPr>
          <p:cNvPr id="28" name="텍스트 28: 1,114만명"/>
          <p:cNvSpPr txBox="1"/>
          <p:nvPr/>
        </p:nvSpPr>
        <p:spPr>
          <a:xfrm>
            <a:off x="7264907" y="3699067"/>
            <a:ext cx="56057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1,114만명</a:t>
            </a:r>
          </a:p>
        </p:txBody>
      </p:sp>
      <p:sp>
        <p:nvSpPr>
          <p:cNvPr id="29" name="텍스트 29: 1,216만명"/>
          <p:cNvSpPr txBox="1"/>
          <p:nvPr/>
        </p:nvSpPr>
        <p:spPr>
          <a:xfrm>
            <a:off x="7680325" y="3533204"/>
            <a:ext cx="56032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1,216만명</a:t>
            </a:r>
          </a:p>
        </p:txBody>
      </p:sp>
      <p:sp>
        <p:nvSpPr>
          <p:cNvPr id="30" name="텍스트 30: 1,250만명"/>
          <p:cNvSpPr txBox="1"/>
          <p:nvPr/>
        </p:nvSpPr>
        <p:spPr>
          <a:xfrm>
            <a:off x="8134222" y="3413062"/>
            <a:ext cx="56062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1,250만명</a:t>
            </a:r>
          </a:p>
        </p:txBody>
      </p:sp>
      <p:sp>
        <p:nvSpPr>
          <p:cNvPr id="31" name="텍스트 31: 2015"/>
          <p:cNvSpPr txBox="1"/>
          <p:nvPr/>
        </p:nvSpPr>
        <p:spPr>
          <a:xfrm>
            <a:off x="3927347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2015</a:t>
            </a:r>
          </a:p>
        </p:txBody>
      </p:sp>
      <p:sp>
        <p:nvSpPr>
          <p:cNvPr id="32" name="텍스트 32: 2016"/>
          <p:cNvSpPr txBox="1"/>
          <p:nvPr/>
        </p:nvSpPr>
        <p:spPr>
          <a:xfrm>
            <a:off x="4361941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2016</a:t>
            </a:r>
          </a:p>
        </p:txBody>
      </p:sp>
      <p:sp>
        <p:nvSpPr>
          <p:cNvPr id="33" name="텍스트 33: 2017"/>
          <p:cNvSpPr txBox="1"/>
          <p:nvPr/>
        </p:nvSpPr>
        <p:spPr>
          <a:xfrm>
            <a:off x="4796663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2017</a:t>
            </a:r>
          </a:p>
        </p:txBody>
      </p:sp>
      <p:sp>
        <p:nvSpPr>
          <p:cNvPr id="34" name="텍스트 34: 2018"/>
          <p:cNvSpPr txBox="1"/>
          <p:nvPr/>
        </p:nvSpPr>
        <p:spPr>
          <a:xfrm>
            <a:off x="5231257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2018</a:t>
            </a:r>
          </a:p>
        </p:txBody>
      </p:sp>
      <p:sp>
        <p:nvSpPr>
          <p:cNvPr id="35" name="텍스트 35: 2019"/>
          <p:cNvSpPr txBox="1"/>
          <p:nvPr/>
        </p:nvSpPr>
        <p:spPr>
          <a:xfrm>
            <a:off x="5665978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2019</a:t>
            </a:r>
          </a:p>
        </p:txBody>
      </p:sp>
      <p:sp>
        <p:nvSpPr>
          <p:cNvPr id="36" name="텍스트 36: 2020"/>
          <p:cNvSpPr txBox="1"/>
          <p:nvPr/>
        </p:nvSpPr>
        <p:spPr>
          <a:xfrm>
            <a:off x="6100571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2020</a:t>
            </a:r>
          </a:p>
        </p:txBody>
      </p:sp>
      <p:sp>
        <p:nvSpPr>
          <p:cNvPr id="37" name="텍스트 37: 2021"/>
          <p:cNvSpPr txBox="1"/>
          <p:nvPr/>
        </p:nvSpPr>
        <p:spPr>
          <a:xfrm>
            <a:off x="6535166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2021</a:t>
            </a:r>
          </a:p>
        </p:txBody>
      </p:sp>
      <p:sp>
        <p:nvSpPr>
          <p:cNvPr id="38" name="텍스트 38: 2022"/>
          <p:cNvSpPr txBox="1"/>
          <p:nvPr/>
        </p:nvSpPr>
        <p:spPr>
          <a:xfrm>
            <a:off x="6969886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2022</a:t>
            </a:r>
          </a:p>
        </p:txBody>
      </p:sp>
      <p:sp>
        <p:nvSpPr>
          <p:cNvPr id="39" name="텍스트 39: 2023"/>
          <p:cNvSpPr txBox="1"/>
          <p:nvPr/>
        </p:nvSpPr>
        <p:spPr>
          <a:xfrm>
            <a:off x="7404227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2023</a:t>
            </a:r>
          </a:p>
        </p:txBody>
      </p:sp>
      <p:sp>
        <p:nvSpPr>
          <p:cNvPr id="40" name="텍스트 40: 2024"/>
          <p:cNvSpPr txBox="1"/>
          <p:nvPr/>
        </p:nvSpPr>
        <p:spPr>
          <a:xfrm>
            <a:off x="7838820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2024</a:t>
            </a:r>
          </a:p>
        </p:txBody>
      </p:sp>
      <p:sp>
        <p:nvSpPr>
          <p:cNvPr id="41" name="텍스트 41: 2025"/>
          <p:cNvSpPr txBox="1"/>
          <p:nvPr/>
        </p:nvSpPr>
        <p:spPr>
          <a:xfrm>
            <a:off x="8273542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2025</a:t>
            </a:r>
          </a:p>
        </p:txBody>
      </p:sp>
      <p:sp>
        <p:nvSpPr>
          <p:cNvPr id="42" name="텍스트 42: 오송역 연간 이용객수"/>
          <p:cNvSpPr txBox="1"/>
          <p:nvPr/>
        </p:nvSpPr>
        <p:spPr>
          <a:xfrm>
            <a:off x="3791711" y="3151791"/>
            <a:ext cx="119145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연간 이용객수</a:t>
            </a:r>
          </a:p>
        </p:txBody>
      </p:sp>
      <p:sp>
        <p:nvSpPr>
          <p:cNvPr id="43" name="텍스트 43: 2015년 대비 약 3배 증가"/>
          <p:cNvSpPr txBox="1"/>
          <p:nvPr/>
        </p:nvSpPr>
        <p:spPr>
          <a:xfrm>
            <a:off x="4971922" y="5408297"/>
            <a:ext cx="240157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spc="-9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2015년 대비 약 3배 증가</a:t>
            </a:r>
          </a:p>
        </p:txBody>
      </p:sp>
      <p:sp>
        <p:nvSpPr>
          <p:cNvPr id="44" name="텍스트 44: 오송역(KTX·SRT)"/>
          <p:cNvSpPr txBox="1"/>
          <p:nvPr/>
        </p:nvSpPr>
        <p:spPr>
          <a:xfrm>
            <a:off x="2071751" y="4221893"/>
            <a:ext cx="108056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오송역(KTX·SRT)</a:t>
            </a:r>
          </a:p>
        </p:txBody>
      </p:sp>
      <p:sp>
        <p:nvSpPr>
          <p:cNvPr id="45" name="텍스트 45: 호남고속선"/>
          <p:cNvSpPr txBox="1"/>
          <p:nvPr/>
        </p:nvSpPr>
        <p:spPr>
          <a:xfrm>
            <a:off x="1242974" y="5221319"/>
            <a:ext cx="47491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호남고속선</a:t>
            </a:r>
          </a:p>
        </p:txBody>
      </p:sp>
      <p:sp>
        <p:nvSpPr>
          <p:cNvPr id="46" name="텍스트 46: 경부고속선"/>
          <p:cNvSpPr txBox="1"/>
          <p:nvPr/>
        </p:nvSpPr>
        <p:spPr>
          <a:xfrm>
            <a:off x="2086355" y="4722590"/>
            <a:ext cx="47491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경부고속선</a:t>
            </a:r>
          </a:p>
        </p:txBody>
      </p:sp>
      <p:sp>
        <p:nvSpPr>
          <p:cNvPr id="47" name="텍스트 47: CHAPTER 04  ·  APPENDIX │ 대한민국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7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오송인가  │  대한민국 고속 철도망의 중심 오송역</a:t>
            </a:r>
          </a:p>
        </p:txBody>
      </p:sp>
      <p:sp>
        <p:nvSpPr>
          <p:cNvPr id="48" name="텍스트 48: KTX·SRT와 경부·호남고속선이 만나는 곳, 오송역"/>
          <p:cNvSpPr txBox="1"/>
          <p:nvPr/>
        </p:nvSpPr>
        <p:spPr>
          <a:xfrm>
            <a:off x="304800" y="629209"/>
            <a:ext cx="7776265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KTX·SRT와 경부·호남고속선이 만나는 곳, 오송역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연간 약 1,200만명이 이용하는 국내 유일 고속철도 분기역</a:t>
            </a:r>
          </a:p>
        </p:txBody>
      </p:sp>
      <p:sp>
        <p:nvSpPr>
          <p:cNvPr id="49" name="텍스트 49: 55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0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51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52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53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54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TX 노선(예정)"/>
          <p:cNvSpPr txBox="1"/>
          <p:nvPr/>
        </p:nvSpPr>
        <p:spPr>
          <a:xfrm>
            <a:off x="4877434" y="2244076"/>
            <a:ext cx="949504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0" spc="-8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CTX 노선</a:t>
            </a:r>
            <a:r>
              <a:rPr lang="ko-KR" altLang="en-US" sz="948" b="0" spc="-8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(예정)</a:t>
            </a:r>
          </a:p>
        </p:txBody>
      </p:sp>
      <p:sp>
        <p:nvSpPr>
          <p:cNvPr id="3" name="텍스트 3: GTX급 최고속도 180km/h"/>
          <p:cNvSpPr txBox="1"/>
          <p:nvPr/>
        </p:nvSpPr>
        <p:spPr>
          <a:xfrm>
            <a:off x="5147817" y="4751600"/>
            <a:ext cx="1648723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6" b="0" spc="-2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GTX급 최고속도 180km/h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6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충청권 1시간대 생활권 예정</a:t>
            </a:r>
          </a:p>
        </p:txBody>
      </p:sp>
      <p:sp>
        <p:nvSpPr>
          <p:cNvPr id="4" name="텍스트 4: 대전청사"/>
          <p:cNvSpPr txBox="1"/>
          <p:nvPr/>
        </p:nvSpPr>
        <p:spPr>
          <a:xfrm>
            <a:off x="5007609" y="2636380"/>
            <a:ext cx="520297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2" b="0" spc="-11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대전청사</a:t>
            </a:r>
          </a:p>
        </p:txBody>
      </p:sp>
      <p:sp>
        <p:nvSpPr>
          <p:cNvPr id="5" name="텍스트 5: 세종청사"/>
          <p:cNvSpPr txBox="1"/>
          <p:nvPr/>
        </p:nvSpPr>
        <p:spPr>
          <a:xfrm>
            <a:off x="5788405" y="2636380"/>
            <a:ext cx="51938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세종청사</a:t>
            </a:r>
          </a:p>
        </p:txBody>
      </p:sp>
      <p:sp>
        <p:nvSpPr>
          <p:cNvPr id="6" name="텍스트 6: 조치원"/>
          <p:cNvSpPr txBox="1"/>
          <p:nvPr/>
        </p:nvSpPr>
        <p:spPr>
          <a:xfrm>
            <a:off x="6630034" y="2636380"/>
            <a:ext cx="395940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1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조치원</a:t>
            </a:r>
          </a:p>
        </p:txBody>
      </p:sp>
      <p:sp>
        <p:nvSpPr>
          <p:cNvPr id="7" name="텍스트 7: 오송역"/>
          <p:cNvSpPr txBox="1"/>
          <p:nvPr/>
        </p:nvSpPr>
        <p:spPr>
          <a:xfrm>
            <a:off x="7385050" y="2527921"/>
            <a:ext cx="44896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5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</a:t>
            </a:r>
          </a:p>
        </p:txBody>
      </p:sp>
      <p:sp>
        <p:nvSpPr>
          <p:cNvPr id="8" name="텍스트 8: 청주도심"/>
          <p:cNvSpPr txBox="1"/>
          <p:nvPr/>
        </p:nvSpPr>
        <p:spPr>
          <a:xfrm>
            <a:off x="8135366" y="2636380"/>
            <a:ext cx="51938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청주도심</a:t>
            </a:r>
          </a:p>
        </p:txBody>
      </p:sp>
      <p:sp>
        <p:nvSpPr>
          <p:cNvPr id="9" name="텍스트 9: 청주공항"/>
          <p:cNvSpPr txBox="1"/>
          <p:nvPr/>
        </p:nvSpPr>
        <p:spPr>
          <a:xfrm>
            <a:off x="8916669" y="2636380"/>
            <a:ext cx="520298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2" b="0" spc="-11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청주공항</a:t>
            </a:r>
          </a:p>
        </p:txBody>
      </p:sp>
      <p:sp>
        <p:nvSpPr>
          <p:cNvPr id="10" name="텍스트 10: (광역철도 환승거점)"/>
          <p:cNvSpPr txBox="1"/>
          <p:nvPr/>
        </p:nvSpPr>
        <p:spPr>
          <a:xfrm>
            <a:off x="7161021" y="3226626"/>
            <a:ext cx="92596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95" b="0" spc="-9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(광역철도 환승거점)</a:t>
            </a:r>
          </a:p>
        </p:txBody>
      </p:sp>
      <p:sp>
        <p:nvSpPr>
          <p:cNvPr id="11" name="텍스트 11: 77→50분"/>
          <p:cNvSpPr txBox="1"/>
          <p:nvPr/>
        </p:nvSpPr>
        <p:spPr>
          <a:xfrm>
            <a:off x="6816217" y="4131787"/>
            <a:ext cx="77667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44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77→50분</a:t>
            </a:r>
          </a:p>
        </p:txBody>
      </p:sp>
      <p:sp>
        <p:nvSpPr>
          <p:cNvPr id="12" name="텍스트 12: 과거 기준 27분 단축"/>
          <p:cNvSpPr txBox="1"/>
          <p:nvPr/>
        </p:nvSpPr>
        <p:spPr>
          <a:xfrm>
            <a:off x="7010654" y="3745216"/>
            <a:ext cx="1195481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8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과거 기준 </a:t>
            </a:r>
            <a:r>
              <a:rPr lang="ko-KR" altLang="en-US" sz="1248" b="1" spc="-82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27분 단축</a:t>
            </a:r>
          </a:p>
        </p:txBody>
      </p:sp>
      <p:sp>
        <p:nvSpPr>
          <p:cNvPr id="13" name="텍스트 13: CTX 개통 시"/>
          <p:cNvSpPr txBox="1"/>
          <p:nvPr/>
        </p:nvSpPr>
        <p:spPr>
          <a:xfrm>
            <a:off x="6217284" y="3743692"/>
            <a:ext cx="844581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1" spc="-92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CTX 개통 시</a:t>
            </a:r>
          </a:p>
        </p:txBody>
      </p:sp>
      <p:sp>
        <p:nvSpPr>
          <p:cNvPr id="14" name="텍스트 14: 대전"/>
          <p:cNvSpPr txBox="1"/>
          <p:nvPr/>
        </p:nvSpPr>
        <p:spPr>
          <a:xfrm>
            <a:off x="5055361" y="3769109"/>
            <a:ext cx="428040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1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대전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1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청사</a:t>
            </a:r>
          </a:p>
        </p:txBody>
      </p:sp>
      <p:sp>
        <p:nvSpPr>
          <p:cNvPr id="15" name="텍스트 15: 청주"/>
          <p:cNvSpPr txBox="1"/>
          <p:nvPr/>
        </p:nvSpPr>
        <p:spPr>
          <a:xfrm>
            <a:off x="8963532" y="3769109"/>
            <a:ext cx="427736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공항</a:t>
            </a:r>
          </a:p>
        </p:txBody>
      </p:sp>
      <p:sp>
        <p:nvSpPr>
          <p:cNvPr id="16" name="텍스트 16: 조치원"/>
          <p:cNvSpPr txBox="1"/>
          <p:nvPr/>
        </p:nvSpPr>
        <p:spPr>
          <a:xfrm>
            <a:off x="1830323" y="3597690"/>
            <a:ext cx="3592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조치원</a:t>
            </a:r>
          </a:p>
        </p:txBody>
      </p:sp>
      <p:sp>
        <p:nvSpPr>
          <p:cNvPr id="17" name="텍스트 17: 청주국제공항"/>
          <p:cNvSpPr txBox="1"/>
          <p:nvPr/>
        </p:nvSpPr>
        <p:spPr>
          <a:xfrm>
            <a:off x="3474084" y="2317276"/>
            <a:ext cx="69297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청주국제공항</a:t>
            </a:r>
          </a:p>
        </p:txBody>
      </p:sp>
      <p:sp>
        <p:nvSpPr>
          <p:cNvPr id="18" name="텍스트 18: 세종청사"/>
          <p:cNvSpPr txBox="1"/>
          <p:nvPr/>
        </p:nvSpPr>
        <p:spPr>
          <a:xfrm>
            <a:off x="1429258" y="4517043"/>
            <a:ext cx="47046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세종청사</a:t>
            </a:r>
          </a:p>
        </p:txBody>
      </p:sp>
      <p:sp>
        <p:nvSpPr>
          <p:cNvPr id="19" name="텍스트 19: 반석"/>
          <p:cNvSpPr txBox="1"/>
          <p:nvPr/>
        </p:nvSpPr>
        <p:spPr>
          <a:xfrm>
            <a:off x="2058923" y="5509447"/>
            <a:ext cx="24796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반석</a:t>
            </a:r>
          </a:p>
        </p:txBody>
      </p:sp>
      <p:sp>
        <p:nvSpPr>
          <p:cNvPr id="20" name="텍스트 20: 대전정부청사"/>
          <p:cNvSpPr txBox="1"/>
          <p:nvPr/>
        </p:nvSpPr>
        <p:spPr>
          <a:xfrm>
            <a:off x="2577083" y="6049552"/>
            <a:ext cx="69297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대전정부청사</a:t>
            </a:r>
          </a:p>
        </p:txBody>
      </p:sp>
      <p:sp>
        <p:nvSpPr>
          <p:cNvPr id="21" name="텍스트 21: 청주도심"/>
          <p:cNvSpPr txBox="1"/>
          <p:nvPr/>
        </p:nvSpPr>
        <p:spPr>
          <a:xfrm>
            <a:off x="3218052" y="3096040"/>
            <a:ext cx="47046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청주도심</a:t>
            </a:r>
          </a:p>
        </p:txBody>
      </p:sp>
      <p:sp>
        <p:nvSpPr>
          <p:cNvPr id="22" name="텍스트 22: CTX"/>
          <p:cNvSpPr txBox="1"/>
          <p:nvPr/>
        </p:nvSpPr>
        <p:spPr>
          <a:xfrm>
            <a:off x="2118995" y="4103994"/>
            <a:ext cx="278911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-5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CTX</a:t>
            </a:r>
          </a:p>
        </p:txBody>
      </p:sp>
      <p:sp>
        <p:nvSpPr>
          <p:cNvPr id="23" name="텍스트 23: 대전역"/>
          <p:cNvSpPr txBox="1"/>
          <p:nvPr/>
        </p:nvSpPr>
        <p:spPr>
          <a:xfrm>
            <a:off x="3510026" y="6160195"/>
            <a:ext cx="3592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대전역</a:t>
            </a:r>
          </a:p>
        </p:txBody>
      </p:sp>
      <p:sp>
        <p:nvSpPr>
          <p:cNvPr id="24" name="텍스트 24: 오송"/>
          <p:cNvSpPr txBox="1"/>
          <p:nvPr/>
        </p:nvSpPr>
        <p:spPr>
          <a:xfrm>
            <a:off x="2408173" y="2904619"/>
            <a:ext cx="42926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7" b="0" spc="-18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25" name="텍스트 25: CHAPTER 04  ·  APPENDIX │ CTX(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4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CTX(충청권 광역급행철도)</a:t>
            </a:r>
          </a:p>
        </p:txBody>
      </p:sp>
      <p:sp>
        <p:nvSpPr>
          <p:cNvPr id="26" name="텍스트 26: CTX 개통 계획, 개통 시 충청과 전국을 잇는 중부권"/>
          <p:cNvSpPr txBox="1"/>
          <p:nvPr/>
        </p:nvSpPr>
        <p:spPr>
          <a:xfrm>
            <a:off x="304800" y="629209"/>
            <a:ext cx="8674171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CTX 개통 계획, 개통 시 충청과 전국을 잇는 중부권 핵심 환승거점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대전-청주공항 간 50분대 생활권, 오송역에서 전국으로 연결</a:t>
            </a:r>
          </a:p>
        </p:txBody>
      </p:sp>
      <p:sp>
        <p:nvSpPr>
          <p:cNvPr id="27" name="텍스트 27: 56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천안~청주공항 복선전철 노선(예정)"/>
          <p:cNvSpPr txBox="1"/>
          <p:nvPr/>
        </p:nvSpPr>
        <p:spPr>
          <a:xfrm>
            <a:off x="5040121" y="1979535"/>
            <a:ext cx="2166037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0" spc="-11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천안~청주공항 복선전철 노선</a:t>
            </a:r>
            <a:r>
              <a:rPr lang="ko-KR" altLang="en-US" sz="948" b="0" spc="-11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(예정)</a:t>
            </a:r>
          </a:p>
        </p:txBody>
      </p:sp>
      <p:sp>
        <p:nvSpPr>
          <p:cNvPr id="3" name="텍스트 3: 오송"/>
          <p:cNvSpPr txBox="1"/>
          <p:nvPr/>
        </p:nvSpPr>
        <p:spPr>
          <a:xfrm>
            <a:off x="6894830" y="3331085"/>
            <a:ext cx="42926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7" b="0" spc="-18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4" name="텍스트 4: CHAPTER 04  ·  APPENDIX │ 천안~청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천안~청주공항 복선전철</a:t>
            </a:r>
          </a:p>
        </p:txBody>
      </p:sp>
      <p:sp>
        <p:nvSpPr>
          <p:cNvPr id="5" name="텍스트 5: 수도권 철도망을 청주공항까지 잇는 중부권 광역 복선전철"/>
          <p:cNvSpPr txBox="1"/>
          <p:nvPr/>
        </p:nvSpPr>
        <p:spPr>
          <a:xfrm>
            <a:off x="304800" y="629209"/>
            <a:ext cx="7631755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수도권 철도망을 청주공항까지 잇는 중부권 광역 복선전철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천안·오송·청주공항 연결로 수도권·공항 접근성 동시 강화</a:t>
            </a:r>
          </a:p>
        </p:txBody>
      </p:sp>
      <p:sp>
        <p:nvSpPr>
          <p:cNvPr id="6" name="텍스트 6: 57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안성"/>
          <p:cNvSpPr txBox="1"/>
          <p:nvPr/>
        </p:nvSpPr>
        <p:spPr>
          <a:xfrm>
            <a:off x="1466088" y="4151238"/>
            <a:ext cx="248233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5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안성</a:t>
            </a:r>
          </a:p>
        </p:txBody>
      </p:sp>
      <p:sp>
        <p:nvSpPr>
          <p:cNvPr id="3" name="텍스트 3: 구리"/>
          <p:cNvSpPr txBox="1"/>
          <p:nvPr/>
        </p:nvSpPr>
        <p:spPr>
          <a:xfrm>
            <a:off x="1468500" y="2064927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구리</a:t>
            </a:r>
          </a:p>
        </p:txBody>
      </p:sp>
      <p:sp>
        <p:nvSpPr>
          <p:cNvPr id="4" name="텍스트 4: 서울"/>
          <p:cNvSpPr txBox="1"/>
          <p:nvPr/>
        </p:nvSpPr>
        <p:spPr>
          <a:xfrm>
            <a:off x="816254" y="2292638"/>
            <a:ext cx="24948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0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</a:t>
            </a:r>
          </a:p>
        </p:txBody>
      </p:sp>
      <p:sp>
        <p:nvSpPr>
          <p:cNvPr id="5" name="텍스트 5: 경부고속도로"/>
          <p:cNvSpPr txBox="1"/>
          <p:nvPr/>
        </p:nvSpPr>
        <p:spPr>
          <a:xfrm>
            <a:off x="943660" y="3886138"/>
            <a:ext cx="7112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경부고속도로</a:t>
            </a:r>
          </a:p>
        </p:txBody>
      </p:sp>
      <p:sp>
        <p:nvSpPr>
          <p:cNvPr id="6" name="텍스트 6: 중부고속도로"/>
          <p:cNvSpPr txBox="1"/>
          <p:nvPr/>
        </p:nvSpPr>
        <p:spPr>
          <a:xfrm>
            <a:off x="1875154" y="3574606"/>
            <a:ext cx="7112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중부고속도로</a:t>
            </a:r>
          </a:p>
        </p:txBody>
      </p:sp>
      <p:sp>
        <p:nvSpPr>
          <p:cNvPr id="7" name="텍스트 7: 용인"/>
          <p:cNvSpPr txBox="1"/>
          <p:nvPr/>
        </p:nvSpPr>
        <p:spPr>
          <a:xfrm>
            <a:off x="1254556" y="3276761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용인</a:t>
            </a:r>
          </a:p>
        </p:txBody>
      </p:sp>
      <p:sp>
        <p:nvSpPr>
          <p:cNvPr id="8" name="텍스트 8: 성남"/>
          <p:cNvSpPr txBox="1"/>
          <p:nvPr/>
        </p:nvSpPr>
        <p:spPr>
          <a:xfrm>
            <a:off x="1160068" y="2819561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성남</a:t>
            </a:r>
          </a:p>
        </p:txBody>
      </p:sp>
      <p:sp>
        <p:nvSpPr>
          <p:cNvPr id="9" name="텍스트 9: 구리~안성"/>
          <p:cNvSpPr txBox="1"/>
          <p:nvPr/>
        </p:nvSpPr>
        <p:spPr>
          <a:xfrm>
            <a:off x="2984119" y="3062373"/>
            <a:ext cx="787930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3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구리~안성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8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(현재 운행 중)</a:t>
            </a:r>
          </a:p>
        </p:txBody>
      </p:sp>
      <p:sp>
        <p:nvSpPr>
          <p:cNvPr id="10" name="텍스트 10: 세종"/>
          <p:cNvSpPr txBox="1"/>
          <p:nvPr/>
        </p:nvSpPr>
        <p:spPr>
          <a:xfrm>
            <a:off x="1163116" y="5885265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세종</a:t>
            </a:r>
          </a:p>
        </p:txBody>
      </p:sp>
      <p:sp>
        <p:nvSpPr>
          <p:cNvPr id="11" name="텍스트 11: 세종~안성"/>
          <p:cNvSpPr txBox="1"/>
          <p:nvPr/>
        </p:nvSpPr>
        <p:spPr>
          <a:xfrm>
            <a:off x="2949067" y="4831103"/>
            <a:ext cx="827400" cy="6705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9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세종~안성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1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(현재 공사 중)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2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2028년 예정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25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시속 120km</a:t>
            </a:r>
          </a:p>
        </p:txBody>
      </p:sp>
      <p:sp>
        <p:nvSpPr>
          <p:cNvPr id="12" name="텍스트 12: 6.2km"/>
          <p:cNvSpPr txBox="1"/>
          <p:nvPr/>
        </p:nvSpPr>
        <p:spPr>
          <a:xfrm>
            <a:off x="1909317" y="5252500"/>
            <a:ext cx="44674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7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6.2km</a:t>
            </a:r>
          </a:p>
        </p:txBody>
      </p:sp>
      <p:sp>
        <p:nvSpPr>
          <p:cNvPr id="13" name="텍스트 13: 오송지선"/>
          <p:cNvSpPr txBox="1"/>
          <p:nvPr/>
        </p:nvSpPr>
        <p:spPr>
          <a:xfrm>
            <a:off x="1902205" y="5107974"/>
            <a:ext cx="47503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3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오송지선</a:t>
            </a:r>
          </a:p>
        </p:txBody>
      </p:sp>
      <p:sp>
        <p:nvSpPr>
          <p:cNvPr id="14" name="텍스트 14: 세종방면"/>
          <p:cNvSpPr txBox="1"/>
          <p:nvPr/>
        </p:nvSpPr>
        <p:spPr>
          <a:xfrm>
            <a:off x="5027929" y="5889233"/>
            <a:ext cx="475310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4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세종방면</a:t>
            </a:r>
          </a:p>
        </p:txBody>
      </p:sp>
      <p:sp>
        <p:nvSpPr>
          <p:cNvPr id="15" name="텍스트 15: 서울방면"/>
          <p:cNvSpPr txBox="1"/>
          <p:nvPr/>
        </p:nvSpPr>
        <p:spPr>
          <a:xfrm>
            <a:off x="4722621" y="4067082"/>
            <a:ext cx="47503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3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서울방면</a:t>
            </a:r>
          </a:p>
        </p:txBody>
      </p:sp>
      <p:sp>
        <p:nvSpPr>
          <p:cNvPr id="16" name="텍스트 16: 6.2km"/>
          <p:cNvSpPr txBox="1"/>
          <p:nvPr/>
        </p:nvSpPr>
        <p:spPr>
          <a:xfrm>
            <a:off x="6921754" y="4389662"/>
            <a:ext cx="44674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7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6.2km</a:t>
            </a:r>
          </a:p>
        </p:txBody>
      </p:sp>
      <p:sp>
        <p:nvSpPr>
          <p:cNvPr id="17" name="텍스트 17: 오송지선"/>
          <p:cNvSpPr txBox="1"/>
          <p:nvPr/>
        </p:nvSpPr>
        <p:spPr>
          <a:xfrm>
            <a:off x="6914388" y="4244837"/>
            <a:ext cx="475309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4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오송지선</a:t>
            </a:r>
          </a:p>
        </p:txBody>
      </p:sp>
      <p:sp>
        <p:nvSpPr>
          <p:cNvPr id="18" name="텍스트 18: 개통 시 이동시간 단축"/>
          <p:cNvSpPr txBox="1"/>
          <p:nvPr/>
        </p:nvSpPr>
        <p:spPr>
          <a:xfrm>
            <a:off x="4709795" y="2148333"/>
            <a:ext cx="132689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8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개통 시 이동시간 단축</a:t>
            </a:r>
          </a:p>
        </p:txBody>
      </p:sp>
      <p:sp>
        <p:nvSpPr>
          <p:cNvPr id="19" name="텍스트 19: 서울"/>
          <p:cNvSpPr txBox="1"/>
          <p:nvPr/>
        </p:nvSpPr>
        <p:spPr>
          <a:xfrm>
            <a:off x="4883530" y="2703832"/>
            <a:ext cx="427735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</a:t>
            </a:r>
          </a:p>
        </p:txBody>
      </p:sp>
      <p:sp>
        <p:nvSpPr>
          <p:cNvPr id="20" name="텍스트 20: 세종"/>
          <p:cNvSpPr txBox="1"/>
          <p:nvPr/>
        </p:nvSpPr>
        <p:spPr>
          <a:xfrm>
            <a:off x="8760586" y="2703832"/>
            <a:ext cx="42773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세종</a:t>
            </a:r>
          </a:p>
        </p:txBody>
      </p:sp>
      <p:sp>
        <p:nvSpPr>
          <p:cNvPr id="21" name="텍스트 21: 서울세종고속도로"/>
          <p:cNvSpPr txBox="1"/>
          <p:nvPr/>
        </p:nvSpPr>
        <p:spPr>
          <a:xfrm>
            <a:off x="1175918" y="4845067"/>
            <a:ext cx="105025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0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서울세종고속도로</a:t>
            </a:r>
          </a:p>
        </p:txBody>
      </p:sp>
      <p:sp>
        <p:nvSpPr>
          <p:cNvPr id="22" name="텍스트 22: 서울세종고속도로"/>
          <p:cNvSpPr txBox="1"/>
          <p:nvPr/>
        </p:nvSpPr>
        <p:spPr>
          <a:xfrm>
            <a:off x="6520942" y="2727342"/>
            <a:ext cx="105026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0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서울세종고속도로</a:t>
            </a:r>
          </a:p>
        </p:txBody>
      </p:sp>
      <p:sp>
        <p:nvSpPr>
          <p:cNvPr id="23" name="텍스트 23: 기존 소요시간 단축 : 108분 → 74분"/>
          <p:cNvSpPr txBox="1"/>
          <p:nvPr/>
        </p:nvSpPr>
        <p:spPr>
          <a:xfrm>
            <a:off x="5664072" y="3376772"/>
            <a:ext cx="259823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06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기존 소요시간 단축 : 108분 → 74분</a:t>
            </a:r>
          </a:p>
        </p:txBody>
      </p:sp>
      <p:sp>
        <p:nvSpPr>
          <p:cNvPr id="24" name="텍스트 24: CHAPTER 04  ·  APPENDIX │ 서울~세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서울~세종 고속도로</a:t>
            </a:r>
          </a:p>
        </p:txBody>
      </p:sp>
      <p:sp>
        <p:nvSpPr>
          <p:cNvPr id="25" name="텍스트 25: 철도에 이어 도로까지, 수도권과 가까워지는 오송"/>
          <p:cNvSpPr txBox="1"/>
          <p:nvPr/>
        </p:nvSpPr>
        <p:spPr>
          <a:xfrm>
            <a:off x="304800" y="629209"/>
            <a:ext cx="7454700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철도에 이어 도로까지, 수도권과 가까워지는 오송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KTX·SRT에 서울~세종 고속도로가 더해진 광역 이동망</a:t>
            </a:r>
          </a:p>
        </p:txBody>
      </p:sp>
      <p:sp>
        <p:nvSpPr>
          <p:cNvPr id="26" name="텍스트 26: 58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복합개발 사업대상지(예정)"/>
          <p:cNvSpPr txBox="1"/>
          <p:nvPr/>
        </p:nvSpPr>
        <p:spPr>
          <a:xfrm>
            <a:off x="1068019" y="2080737"/>
            <a:ext cx="228000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복합개발 사업대상지</a:t>
            </a:r>
            <a:r>
              <a:rPr lang="ko-KR" altLang="en-US" sz="948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(예정)</a:t>
            </a:r>
          </a:p>
        </p:txBody>
      </p:sp>
      <p:sp>
        <p:nvSpPr>
          <p:cNvPr id="3" name="텍스트 3: 총면적 : 215,541㎡"/>
          <p:cNvSpPr txBox="1"/>
          <p:nvPr/>
        </p:nvSpPr>
        <p:spPr>
          <a:xfrm>
            <a:off x="737920" y="5699310"/>
            <a:ext cx="1320276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2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총면적 : 215,541㎡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10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사업비 : 1조원 이상 추산</a:t>
            </a:r>
          </a:p>
        </p:txBody>
      </p:sp>
      <p:sp>
        <p:nvSpPr>
          <p:cNvPr id="4" name="텍스트 4: 개발부지"/>
          <p:cNvSpPr txBox="1"/>
          <p:nvPr/>
        </p:nvSpPr>
        <p:spPr>
          <a:xfrm>
            <a:off x="1881504" y="4136105"/>
            <a:ext cx="65322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개발부지</a:t>
            </a:r>
          </a:p>
        </p:txBody>
      </p:sp>
      <p:sp>
        <p:nvSpPr>
          <p:cNvPr id="5" name="텍스트 5: 교통 기능"/>
          <p:cNvSpPr txBox="1"/>
          <p:nvPr/>
        </p:nvSpPr>
        <p:spPr>
          <a:xfrm>
            <a:off x="4461002" y="2417955"/>
            <a:ext cx="525067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교통 기능</a:t>
            </a:r>
          </a:p>
        </p:txBody>
      </p:sp>
      <p:sp>
        <p:nvSpPr>
          <p:cNvPr id="6" name="텍스트 6: 환승 체계"/>
          <p:cNvSpPr txBox="1"/>
          <p:nvPr/>
        </p:nvSpPr>
        <p:spPr>
          <a:xfrm>
            <a:off x="4461002" y="2877359"/>
            <a:ext cx="52479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환승 체계</a:t>
            </a:r>
          </a:p>
        </p:txBody>
      </p:sp>
      <p:sp>
        <p:nvSpPr>
          <p:cNvPr id="7" name="텍스트 7: 상업·업무"/>
          <p:cNvSpPr txBox="1"/>
          <p:nvPr/>
        </p:nvSpPr>
        <p:spPr>
          <a:xfrm>
            <a:off x="4461002" y="3330622"/>
            <a:ext cx="53546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10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상업·업무</a:t>
            </a:r>
          </a:p>
        </p:txBody>
      </p:sp>
      <p:sp>
        <p:nvSpPr>
          <p:cNvPr id="8" name="텍스트 8: 유동 인구"/>
          <p:cNvSpPr txBox="1"/>
          <p:nvPr/>
        </p:nvSpPr>
        <p:spPr>
          <a:xfrm>
            <a:off x="4461002" y="3783205"/>
            <a:ext cx="525067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유동 인구</a:t>
            </a:r>
          </a:p>
        </p:txBody>
      </p:sp>
      <p:sp>
        <p:nvSpPr>
          <p:cNvPr id="9" name="텍스트 9: 도시 기능"/>
          <p:cNvSpPr txBox="1"/>
          <p:nvPr/>
        </p:nvSpPr>
        <p:spPr>
          <a:xfrm>
            <a:off x="4461002" y="4214497"/>
            <a:ext cx="525067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도시 기능</a:t>
            </a:r>
          </a:p>
        </p:txBody>
      </p:sp>
      <p:sp>
        <p:nvSpPr>
          <p:cNvPr id="10" name="텍스트 10: 단순 철도 이용 중심"/>
          <p:cNvSpPr txBox="1"/>
          <p:nvPr/>
        </p:nvSpPr>
        <p:spPr>
          <a:xfrm>
            <a:off x="5415660" y="2412239"/>
            <a:ext cx="119430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0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단순 철도 이용 중심</a:t>
            </a:r>
          </a:p>
        </p:txBody>
      </p:sp>
      <p:sp>
        <p:nvSpPr>
          <p:cNvPr id="11" name="텍스트 11: 개별 교통수단 분리"/>
          <p:cNvSpPr txBox="1"/>
          <p:nvPr/>
        </p:nvSpPr>
        <p:spPr>
          <a:xfrm>
            <a:off x="5416930" y="2872442"/>
            <a:ext cx="1161048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7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개별 교통수단 분리</a:t>
            </a:r>
          </a:p>
        </p:txBody>
      </p:sp>
      <p:sp>
        <p:nvSpPr>
          <p:cNvPr id="12" name="텍스트 12: 부족한 상업·업무시설"/>
          <p:cNvSpPr txBox="1"/>
          <p:nvPr/>
        </p:nvSpPr>
        <p:spPr>
          <a:xfrm>
            <a:off x="5415660" y="3323592"/>
            <a:ext cx="130860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9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부족한 상업·업무시설</a:t>
            </a:r>
          </a:p>
        </p:txBody>
      </p:sp>
      <p:sp>
        <p:nvSpPr>
          <p:cNvPr id="13" name="텍스트 13: 일일 이용객 중심"/>
          <p:cNvSpPr txBox="1"/>
          <p:nvPr/>
        </p:nvSpPr>
        <p:spPr>
          <a:xfrm>
            <a:off x="5417820" y="3772282"/>
            <a:ext cx="10266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7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일일 이용객 중심</a:t>
            </a:r>
          </a:p>
        </p:txBody>
      </p:sp>
      <p:sp>
        <p:nvSpPr>
          <p:cNvPr id="14" name="텍스트 14: 교통 기능 중심 역세권"/>
          <p:cNvSpPr txBox="1"/>
          <p:nvPr/>
        </p:nvSpPr>
        <p:spPr>
          <a:xfrm>
            <a:off x="5415660" y="4203575"/>
            <a:ext cx="132842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9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교통 기능 중심 역세권</a:t>
            </a:r>
          </a:p>
        </p:txBody>
      </p:sp>
      <p:sp>
        <p:nvSpPr>
          <p:cNvPr id="15" name="텍스트 15: 복합 교통·도시 기능 강화"/>
          <p:cNvSpPr txBox="1"/>
          <p:nvPr/>
        </p:nvSpPr>
        <p:spPr>
          <a:xfrm>
            <a:off x="7515732" y="2412239"/>
            <a:ext cx="151930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복합 교통·도시 기능 강화</a:t>
            </a:r>
          </a:p>
        </p:txBody>
      </p:sp>
      <p:sp>
        <p:nvSpPr>
          <p:cNvPr id="16" name="텍스트 16: 통합 환승 시스템"/>
          <p:cNvSpPr txBox="1"/>
          <p:nvPr/>
        </p:nvSpPr>
        <p:spPr>
          <a:xfrm>
            <a:off x="7515732" y="2872442"/>
            <a:ext cx="103760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0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통합 환승 시스템</a:t>
            </a:r>
          </a:p>
        </p:txBody>
      </p:sp>
      <p:sp>
        <p:nvSpPr>
          <p:cNvPr id="17" name="텍스트 17: 상업·업무시설 집약"/>
          <p:cNvSpPr txBox="1"/>
          <p:nvPr/>
        </p:nvSpPr>
        <p:spPr>
          <a:xfrm>
            <a:off x="7514843" y="3323592"/>
            <a:ext cx="1182116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8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상업·업무시설 집약</a:t>
            </a:r>
          </a:p>
        </p:txBody>
      </p:sp>
      <p:sp>
        <p:nvSpPr>
          <p:cNvPr id="18" name="텍스트 18: 환승+체류형 인구 증가"/>
          <p:cNvSpPr txBox="1"/>
          <p:nvPr/>
        </p:nvSpPr>
        <p:spPr>
          <a:xfrm>
            <a:off x="7514843" y="3772282"/>
            <a:ext cx="140462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1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환승+체류형 인구 증가</a:t>
            </a:r>
          </a:p>
        </p:txBody>
      </p:sp>
      <p:sp>
        <p:nvSpPr>
          <p:cNvPr id="19" name="텍스트 19: 중부권 복합거점 중심"/>
          <p:cNvSpPr txBox="1"/>
          <p:nvPr/>
        </p:nvSpPr>
        <p:spPr>
          <a:xfrm>
            <a:off x="7514843" y="4203575"/>
            <a:ext cx="1307084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7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중부권 복합거점 중심</a:t>
            </a:r>
          </a:p>
        </p:txBody>
      </p:sp>
      <p:sp>
        <p:nvSpPr>
          <p:cNvPr id="20" name="텍스트 20: 新오송역(미래)"/>
          <p:cNvSpPr txBox="1"/>
          <p:nvPr/>
        </p:nvSpPr>
        <p:spPr>
          <a:xfrm>
            <a:off x="7816595" y="1979677"/>
            <a:ext cx="82194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新오송역</a:t>
            </a:r>
            <a:r>
              <a:rPr lang="ko-KR" altLang="en-US" sz="852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(미래)</a:t>
            </a:r>
          </a:p>
        </p:txBody>
      </p:sp>
      <p:sp>
        <p:nvSpPr>
          <p:cNvPr id="21" name="텍스트 21: 舊오송역(현재)"/>
          <p:cNvSpPr txBox="1"/>
          <p:nvPr/>
        </p:nvSpPr>
        <p:spPr>
          <a:xfrm>
            <a:off x="5705855" y="1977645"/>
            <a:ext cx="83997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88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舊</a:t>
            </a:r>
            <a:r>
              <a:rPr lang="ko-KR" altLang="en-US" sz="1200" b="1" spc="-88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오송역</a:t>
            </a:r>
            <a:r>
              <a:rPr lang="ko-KR" altLang="en-US" sz="852" b="1" spc="-88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(현재)</a:t>
            </a:r>
          </a:p>
        </p:txBody>
      </p:sp>
      <p:sp>
        <p:nvSpPr>
          <p:cNvPr id="22" name="텍스트 22: 환승센터"/>
          <p:cNvSpPr txBox="1"/>
          <p:nvPr/>
        </p:nvSpPr>
        <p:spPr>
          <a:xfrm>
            <a:off x="6480683" y="5272088"/>
            <a:ext cx="427735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환승센터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복합개발</a:t>
            </a:r>
          </a:p>
        </p:txBody>
      </p:sp>
      <p:sp>
        <p:nvSpPr>
          <p:cNvPr id="23" name="텍스트 23: CHAPTER 04  ·  APPENDIX │ 오송역 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7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오송인가  │  오송역 환승센터 복합개발</a:t>
            </a:r>
          </a:p>
        </p:txBody>
      </p:sp>
      <p:sp>
        <p:nvSpPr>
          <p:cNvPr id="24" name="텍스트 24: 오송역 환승센터 복합개발, 단순 교통을 넘어 복합적 인"/>
          <p:cNvSpPr txBox="1"/>
          <p:nvPr/>
        </p:nvSpPr>
        <p:spPr>
          <a:xfrm>
            <a:off x="304800" y="629209"/>
            <a:ext cx="8447402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환승센터 복합개발, 단순 교통을 넘어 복합적 인프라 부여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상업·업무·숙박이 어우러진 1조원 규모 복합 랜드마크 계획</a:t>
            </a:r>
          </a:p>
        </p:txBody>
      </p:sp>
      <p:sp>
        <p:nvSpPr>
          <p:cNvPr id="25" name="텍스트 25: 59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26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27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28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29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30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BEFORE"/>
          <p:cNvSpPr txBox="1"/>
          <p:nvPr/>
        </p:nvSpPr>
        <p:spPr>
          <a:xfrm>
            <a:off x="886967" y="2302257"/>
            <a:ext cx="67584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BEFORE</a:t>
            </a:r>
          </a:p>
        </p:txBody>
      </p:sp>
      <p:sp>
        <p:nvSpPr>
          <p:cNvPr id="3" name="텍스트 3: AFTER"/>
          <p:cNvSpPr txBox="1"/>
          <p:nvPr/>
        </p:nvSpPr>
        <p:spPr>
          <a:xfrm>
            <a:off x="5566917" y="2302257"/>
            <a:ext cx="53837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4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AFTER</a:t>
            </a:r>
          </a:p>
        </p:txBody>
      </p:sp>
      <p:sp>
        <p:nvSpPr>
          <p:cNvPr id="4" name="텍스트 4: 동대구역 과거 현재 비교"/>
          <p:cNvSpPr txBox="1"/>
          <p:nvPr/>
        </p:nvSpPr>
        <p:spPr>
          <a:xfrm>
            <a:off x="608380" y="1979424"/>
            <a:ext cx="146095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7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동대구역 과거 현재 비교</a:t>
            </a:r>
          </a:p>
        </p:txBody>
      </p:sp>
      <p:sp>
        <p:nvSpPr>
          <p:cNvPr id="5" name="텍스트 5: 철도 이용 중심"/>
          <p:cNvSpPr txBox="1"/>
          <p:nvPr/>
        </p:nvSpPr>
        <p:spPr>
          <a:xfrm>
            <a:off x="1315211" y="4577496"/>
            <a:ext cx="1188272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9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철도 이용 중심</a:t>
            </a:r>
          </a:p>
        </p:txBody>
      </p:sp>
      <p:sp>
        <p:nvSpPr>
          <p:cNvPr id="6" name="텍스트 6: 개별 교통수단 환승"/>
          <p:cNvSpPr txBox="1"/>
          <p:nvPr/>
        </p:nvSpPr>
        <p:spPr>
          <a:xfrm>
            <a:off x="1315211" y="5061874"/>
            <a:ext cx="154824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8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개별 교통수단 환승</a:t>
            </a:r>
          </a:p>
        </p:txBody>
      </p:sp>
      <p:sp>
        <p:nvSpPr>
          <p:cNvPr id="7" name="텍스트 7: 역 기능 중심"/>
          <p:cNvSpPr txBox="1"/>
          <p:nvPr/>
        </p:nvSpPr>
        <p:spPr>
          <a:xfrm>
            <a:off x="1315211" y="5541020"/>
            <a:ext cx="100844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80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역 기능 중심</a:t>
            </a:r>
          </a:p>
        </p:txBody>
      </p:sp>
      <p:sp>
        <p:nvSpPr>
          <p:cNvPr id="8" name="텍스트 8: 상업·업무 기능 제한"/>
          <p:cNvSpPr txBox="1"/>
          <p:nvPr/>
        </p:nvSpPr>
        <p:spPr>
          <a:xfrm>
            <a:off x="1315211" y="6020775"/>
            <a:ext cx="160767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5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상업·업무 기능 제한</a:t>
            </a:r>
          </a:p>
        </p:txBody>
      </p:sp>
      <p:sp>
        <p:nvSpPr>
          <p:cNvPr id="9" name="텍스트 9: 복합환승체계 구축"/>
          <p:cNvSpPr txBox="1"/>
          <p:nvPr/>
        </p:nvSpPr>
        <p:spPr>
          <a:xfrm>
            <a:off x="5933821" y="4577496"/>
            <a:ext cx="150259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2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복합환승체계 구축</a:t>
            </a:r>
          </a:p>
        </p:txBody>
      </p:sp>
      <p:sp>
        <p:nvSpPr>
          <p:cNvPr id="10" name="텍스트 10: 상업시설 집적"/>
          <p:cNvSpPr txBox="1"/>
          <p:nvPr/>
        </p:nvSpPr>
        <p:spPr>
          <a:xfrm>
            <a:off x="5933821" y="5061874"/>
            <a:ext cx="114445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3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상업시설 집적</a:t>
            </a:r>
          </a:p>
        </p:txBody>
      </p:sp>
      <p:sp>
        <p:nvSpPr>
          <p:cNvPr id="11" name="텍스트 11: 업무·숙박 기능 확장"/>
          <p:cNvSpPr txBox="1"/>
          <p:nvPr/>
        </p:nvSpPr>
        <p:spPr>
          <a:xfrm>
            <a:off x="5933821" y="5541020"/>
            <a:ext cx="1607753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5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업무·숙박 기능 확장</a:t>
            </a:r>
          </a:p>
        </p:txBody>
      </p:sp>
      <p:sp>
        <p:nvSpPr>
          <p:cNvPr id="12" name="텍스트 12: 체류형 복합공간 조성"/>
          <p:cNvSpPr txBox="1"/>
          <p:nvPr/>
        </p:nvSpPr>
        <p:spPr>
          <a:xfrm>
            <a:off x="5933821" y="6020775"/>
            <a:ext cx="172662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6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체류형 복합공간 조성</a:t>
            </a:r>
          </a:p>
        </p:txBody>
      </p:sp>
      <p:sp>
        <p:nvSpPr>
          <p:cNvPr id="13" name="텍스트 13: 철도 기능에 한정"/>
          <p:cNvSpPr txBox="1"/>
          <p:nvPr/>
        </p:nvSpPr>
        <p:spPr>
          <a:xfrm>
            <a:off x="3135122" y="4614338"/>
            <a:ext cx="90579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철도 기능에 한정</a:t>
            </a:r>
          </a:p>
        </p:txBody>
      </p:sp>
      <p:sp>
        <p:nvSpPr>
          <p:cNvPr id="14" name="텍스트 14: 교통수단 간 연계 미흡"/>
          <p:cNvSpPr txBox="1"/>
          <p:nvPr/>
        </p:nvSpPr>
        <p:spPr>
          <a:xfrm>
            <a:off x="3135122" y="5095922"/>
            <a:ext cx="116945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교통수단 간 연계 미흡</a:t>
            </a:r>
          </a:p>
        </p:txBody>
      </p:sp>
      <p:sp>
        <p:nvSpPr>
          <p:cNvPr id="15" name="텍스트 15: 역 시설 중심의 제한적 기능"/>
          <p:cNvSpPr txBox="1"/>
          <p:nvPr/>
        </p:nvSpPr>
        <p:spPr>
          <a:xfrm>
            <a:off x="3135122" y="5573600"/>
            <a:ext cx="1433372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역 시설 중심의 제한적 기능</a:t>
            </a:r>
          </a:p>
        </p:txBody>
      </p:sp>
      <p:sp>
        <p:nvSpPr>
          <p:cNvPr id="16" name="텍스트 16: 상업·업무 기능 미흡"/>
          <p:cNvSpPr txBox="1"/>
          <p:nvPr/>
        </p:nvSpPr>
        <p:spPr>
          <a:xfrm>
            <a:off x="3135122" y="6059446"/>
            <a:ext cx="106277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7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상업·업무 기능 미흡</a:t>
            </a:r>
          </a:p>
        </p:txBody>
      </p:sp>
      <p:sp>
        <p:nvSpPr>
          <p:cNvPr id="17" name="텍스트 17: 철도·버스·택시 연계"/>
          <p:cNvSpPr txBox="1"/>
          <p:nvPr/>
        </p:nvSpPr>
        <p:spPr>
          <a:xfrm>
            <a:off x="7841615" y="4614338"/>
            <a:ext cx="107331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10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철도·버스·택시 연계</a:t>
            </a:r>
          </a:p>
        </p:txBody>
      </p:sp>
      <p:sp>
        <p:nvSpPr>
          <p:cNvPr id="18" name="텍스트 18: 백화점·쇼핑·문화 집약"/>
          <p:cNvSpPr txBox="1"/>
          <p:nvPr/>
        </p:nvSpPr>
        <p:spPr>
          <a:xfrm>
            <a:off x="7841615" y="5095922"/>
            <a:ext cx="119065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5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백화점·쇼핑·문화 집약</a:t>
            </a:r>
          </a:p>
        </p:txBody>
      </p:sp>
      <p:sp>
        <p:nvSpPr>
          <p:cNvPr id="19" name="텍스트 19: 업무시설·호텔 기능 확대"/>
          <p:cNvSpPr txBox="1"/>
          <p:nvPr/>
        </p:nvSpPr>
        <p:spPr>
          <a:xfrm>
            <a:off x="7841615" y="5573600"/>
            <a:ext cx="1297608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3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업무시설·호텔 기능 확대</a:t>
            </a:r>
          </a:p>
        </p:txBody>
      </p:sp>
      <p:sp>
        <p:nvSpPr>
          <p:cNvPr id="20" name="텍스트 20: 체류·여가 결합된 복합공간"/>
          <p:cNvSpPr txBox="1"/>
          <p:nvPr/>
        </p:nvSpPr>
        <p:spPr>
          <a:xfrm>
            <a:off x="7841615" y="6059446"/>
            <a:ext cx="141468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2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체류·여가 결합된 복합공간</a:t>
            </a:r>
          </a:p>
        </p:txBody>
      </p:sp>
      <p:sp>
        <p:nvSpPr>
          <p:cNvPr id="21" name="텍스트 21: CHAPTER 04  ·  APPENDIX │ 복합개발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5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오송인가  │  복합개발 사례</a:t>
            </a:r>
          </a:p>
        </p:txBody>
      </p:sp>
      <p:sp>
        <p:nvSpPr>
          <p:cNvPr id="22" name="텍스트 22: 상업·업무시설이 결합된 동대구역 복합개발 성공"/>
          <p:cNvSpPr txBox="1"/>
          <p:nvPr/>
        </p:nvSpPr>
        <p:spPr>
          <a:xfrm>
            <a:off x="304800" y="629209"/>
            <a:ext cx="6665272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상업·업무시설이 결합된 동대구역 복합개발 성공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복합환승거점을 중심으로 도시 기능이 확장된 사례</a:t>
            </a:r>
          </a:p>
        </p:txBody>
      </p:sp>
      <p:sp>
        <p:nvSpPr>
          <p:cNvPr id="23" name="텍스트 23: 6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24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25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26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27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28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한국보건산업진흥원"/>
          <p:cNvSpPr txBox="1"/>
          <p:nvPr/>
        </p:nvSpPr>
        <p:spPr>
          <a:xfrm>
            <a:off x="1336547" y="5272902"/>
            <a:ext cx="1026999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한국보건산업진흥원</a:t>
            </a:r>
          </a:p>
        </p:txBody>
      </p:sp>
      <p:sp>
        <p:nvSpPr>
          <p:cNvPr id="3" name="텍스트 3: 국립보건연구원"/>
          <p:cNvSpPr txBox="1"/>
          <p:nvPr/>
        </p:nvSpPr>
        <p:spPr>
          <a:xfrm>
            <a:off x="2500629" y="4809905"/>
            <a:ext cx="80422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국립보건연구원</a:t>
            </a:r>
          </a:p>
        </p:txBody>
      </p:sp>
      <p:sp>
        <p:nvSpPr>
          <p:cNvPr id="4" name="텍스트 4: 한국보건복지인재원"/>
          <p:cNvSpPr txBox="1"/>
          <p:nvPr/>
        </p:nvSpPr>
        <p:spPr>
          <a:xfrm>
            <a:off x="2034539" y="6134286"/>
            <a:ext cx="102672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한국보건복지인재원</a:t>
            </a:r>
          </a:p>
        </p:txBody>
      </p:sp>
      <p:sp>
        <p:nvSpPr>
          <p:cNvPr id="5" name="텍스트 5: 질병관리청"/>
          <p:cNvSpPr txBox="1"/>
          <p:nvPr/>
        </p:nvSpPr>
        <p:spPr>
          <a:xfrm>
            <a:off x="4271136" y="4379248"/>
            <a:ext cx="58172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질병관리청</a:t>
            </a:r>
          </a:p>
        </p:txBody>
      </p:sp>
      <p:sp>
        <p:nvSpPr>
          <p:cNvPr id="6" name="텍스트 6: 식품의약품안전평가원"/>
          <p:cNvSpPr txBox="1"/>
          <p:nvPr/>
        </p:nvSpPr>
        <p:spPr>
          <a:xfrm>
            <a:off x="5004561" y="3143538"/>
            <a:ext cx="113798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식품의약품안전평가원</a:t>
            </a:r>
          </a:p>
        </p:txBody>
      </p:sp>
      <p:sp>
        <p:nvSpPr>
          <p:cNvPr id="7" name="텍스트 7: 식품의약품안전처"/>
          <p:cNvSpPr txBox="1"/>
          <p:nvPr/>
        </p:nvSpPr>
        <p:spPr>
          <a:xfrm>
            <a:off x="7163054" y="3846483"/>
            <a:ext cx="91547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식품의약품안전처</a:t>
            </a:r>
          </a:p>
        </p:txBody>
      </p:sp>
      <p:sp>
        <p:nvSpPr>
          <p:cNvPr id="8" name="텍스트 8: 국책기관 이전"/>
          <p:cNvSpPr txBox="1"/>
          <p:nvPr/>
        </p:nvSpPr>
        <p:spPr>
          <a:xfrm>
            <a:off x="3836542" y="2452341"/>
            <a:ext cx="93528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9" b="0" spc="-13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국책기관 이전</a:t>
            </a:r>
          </a:p>
        </p:txBody>
      </p:sp>
      <p:sp>
        <p:nvSpPr>
          <p:cNvPr id="9" name="텍스트 9: 6대"/>
          <p:cNvSpPr txBox="1"/>
          <p:nvPr/>
        </p:nvSpPr>
        <p:spPr>
          <a:xfrm>
            <a:off x="5968872" y="1981283"/>
            <a:ext cx="545815" cy="4041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1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2" b="1" spc="-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6대</a:t>
            </a:r>
          </a:p>
        </p:txBody>
      </p:sp>
      <p:sp>
        <p:nvSpPr>
          <p:cNvPr id="10" name="텍스트 10: 보건의료 핵심기관"/>
          <p:cNvSpPr txBox="1"/>
          <p:nvPr/>
        </p:nvSpPr>
        <p:spPr>
          <a:xfrm>
            <a:off x="5631179" y="2452341"/>
            <a:ext cx="122484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6" b="0" spc="-13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보건의료 핵심기관</a:t>
            </a:r>
          </a:p>
        </p:txBody>
      </p:sp>
      <p:sp>
        <p:nvSpPr>
          <p:cNvPr id="11" name="텍스트 11: 19개 동"/>
          <p:cNvSpPr txBox="1"/>
          <p:nvPr/>
        </p:nvSpPr>
        <p:spPr>
          <a:xfrm>
            <a:off x="7606918" y="1981283"/>
            <a:ext cx="1140429" cy="4041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1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2" b="1" spc="-10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19개 동</a:t>
            </a:r>
          </a:p>
        </p:txBody>
      </p:sp>
      <p:sp>
        <p:nvSpPr>
          <p:cNvPr id="12" name="텍스트 12: 행정·연구시설 집적"/>
          <p:cNvSpPr txBox="1"/>
          <p:nvPr/>
        </p:nvSpPr>
        <p:spPr>
          <a:xfrm>
            <a:off x="7518527" y="2452341"/>
            <a:ext cx="127691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2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행정·연구시설 집적</a:t>
            </a:r>
          </a:p>
        </p:txBody>
      </p:sp>
      <p:sp>
        <p:nvSpPr>
          <p:cNvPr id="13" name="텍스트 13: 2010년"/>
          <p:cNvSpPr txBox="1"/>
          <p:nvPr/>
        </p:nvSpPr>
        <p:spPr>
          <a:xfrm>
            <a:off x="3696589" y="1981283"/>
            <a:ext cx="1218280" cy="4041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1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2" b="1" spc="7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2010년</a:t>
            </a:r>
          </a:p>
        </p:txBody>
      </p:sp>
      <p:sp>
        <p:nvSpPr>
          <p:cNvPr id="14" name="텍스트 14: CHAPTER 04  ·  APPENDIX │ 국가 바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국가 바이오 산업이 집적된 K-BIO 밸리</a:t>
            </a:r>
          </a:p>
        </p:txBody>
      </p:sp>
      <p:sp>
        <p:nvSpPr>
          <p:cNvPr id="15" name="텍스트 15: 6대 국책기관 이전으로 시작된 오송 바이오클러스터"/>
          <p:cNvSpPr txBox="1"/>
          <p:nvPr/>
        </p:nvSpPr>
        <p:spPr>
          <a:xfrm>
            <a:off x="304800" y="629209"/>
            <a:ext cx="7404412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6대 국책기관 이전으로 시작된 오송 바이오클러스터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국책기관·기업·연구시설이 집적된 바이오산업 핵심 기반</a:t>
            </a:r>
          </a:p>
        </p:txBody>
      </p:sp>
      <p:sp>
        <p:nvSpPr>
          <p:cNvPr id="16" name="텍스트 16: 오송신도시"/>
          <p:cNvSpPr txBox="1"/>
          <p:nvPr/>
        </p:nvSpPr>
        <p:spPr>
          <a:xfrm>
            <a:off x="647700" y="1886659"/>
            <a:ext cx="2604323" cy="9151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오송신도시</a:t>
            </a:r>
          </a:p>
          <a:p>
            <a:pPr algn="l">
              <a:lnSpc>
                <a:spcPts val="36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의료보건 행정타운</a:t>
            </a:r>
          </a:p>
        </p:txBody>
      </p:sp>
      <p:sp>
        <p:nvSpPr>
          <p:cNvPr id="17" name="텍스트 17: 6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서울대병원 R&amp;D 임상병원 (약 600병상 규모)"/>
          <p:cNvSpPr txBox="1"/>
          <p:nvPr/>
        </p:nvSpPr>
        <p:spPr>
          <a:xfrm>
            <a:off x="5207253" y="2641774"/>
            <a:ext cx="247203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서울대병원 R&amp;D 임상병원 (약 600병상 규모)</a:t>
            </a:r>
          </a:p>
        </p:txBody>
      </p:sp>
      <p:sp>
        <p:nvSpPr>
          <p:cNvPr id="3" name="텍스트 3: (유치 타당성 검증 완료)"/>
          <p:cNvSpPr txBox="1"/>
          <p:nvPr/>
        </p:nvSpPr>
        <p:spPr>
          <a:xfrm>
            <a:off x="6022847" y="2802479"/>
            <a:ext cx="839980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7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(유치 타당성 검증 완료)</a:t>
            </a:r>
          </a:p>
        </p:txBody>
      </p:sp>
      <p:sp>
        <p:nvSpPr>
          <p:cNvPr id="4" name="텍스트 4: KAIST 바이오메디컬 캠퍼스 1단계"/>
          <p:cNvSpPr txBox="1"/>
          <p:nvPr/>
        </p:nvSpPr>
        <p:spPr>
          <a:xfrm>
            <a:off x="5318505" y="4579286"/>
            <a:ext cx="188865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KAIST 바이오메디컬 캠퍼스 1단계</a:t>
            </a:r>
          </a:p>
        </p:txBody>
      </p:sp>
      <p:sp>
        <p:nvSpPr>
          <p:cNvPr id="5" name="텍스트 5: 예정사항으로 사업진행상황에 따라 변경될 수 있습니다."/>
          <p:cNvSpPr txBox="1"/>
          <p:nvPr/>
        </p:nvSpPr>
        <p:spPr>
          <a:xfrm>
            <a:off x="7026909" y="6034223"/>
            <a:ext cx="1931504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85" b="0" spc="-7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예정사항으로 사업진행상황에 따라 변경될 수 있습니다.</a:t>
            </a:r>
          </a:p>
        </p:txBody>
      </p:sp>
      <p:sp>
        <p:nvSpPr>
          <p:cNvPr id="6" name="텍스트 6: 카이스트 바이오메디컬 캠퍼스"/>
          <p:cNvSpPr txBox="1"/>
          <p:nvPr/>
        </p:nvSpPr>
        <p:spPr>
          <a:xfrm>
            <a:off x="1029004" y="5431060"/>
            <a:ext cx="167920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6" b="1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카이스트 바이오메디컬 캠퍼스</a:t>
            </a:r>
          </a:p>
        </p:txBody>
      </p:sp>
      <p:sp>
        <p:nvSpPr>
          <p:cNvPr id="7" name="텍스트 7: 바이오 R&amp;D·전문인재 양성 거점"/>
          <p:cNvSpPr txBox="1"/>
          <p:nvPr/>
        </p:nvSpPr>
        <p:spPr>
          <a:xfrm>
            <a:off x="1073200" y="5744640"/>
            <a:ext cx="1590146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7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바이오 R&amp;D·전문인재 양성 거점</a:t>
            </a:r>
          </a:p>
        </p:txBody>
      </p:sp>
      <p:sp>
        <p:nvSpPr>
          <p:cNvPr id="8" name="텍스트 8: 개발 개요"/>
          <p:cNvSpPr txBox="1"/>
          <p:nvPr/>
        </p:nvSpPr>
        <p:spPr>
          <a:xfrm>
            <a:off x="1087831" y="2357152"/>
            <a:ext cx="54659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개발 개요</a:t>
            </a:r>
          </a:p>
        </p:txBody>
      </p:sp>
      <p:sp>
        <p:nvSpPr>
          <p:cNvPr id="9" name="텍스트 9: 사업명"/>
          <p:cNvSpPr txBox="1"/>
          <p:nvPr/>
        </p:nvSpPr>
        <p:spPr>
          <a:xfrm>
            <a:off x="1402714" y="2617121"/>
            <a:ext cx="39567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사업명</a:t>
            </a:r>
          </a:p>
        </p:txBody>
      </p:sp>
      <p:sp>
        <p:nvSpPr>
          <p:cNvPr id="10" name="텍스트 10: 오송제3생명과학 국가산업단지"/>
          <p:cNvSpPr txBox="1"/>
          <p:nvPr/>
        </p:nvSpPr>
        <p:spPr>
          <a:xfrm>
            <a:off x="2598166" y="2617121"/>
            <a:ext cx="174462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2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오송제3생명과학 국가산업단지</a:t>
            </a:r>
          </a:p>
        </p:txBody>
      </p:sp>
      <p:sp>
        <p:nvSpPr>
          <p:cNvPr id="11" name="텍스트 11: 시행자"/>
          <p:cNvSpPr txBox="1"/>
          <p:nvPr/>
        </p:nvSpPr>
        <p:spPr>
          <a:xfrm>
            <a:off x="1402714" y="2913666"/>
            <a:ext cx="39567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시행자</a:t>
            </a:r>
          </a:p>
        </p:txBody>
      </p:sp>
      <p:sp>
        <p:nvSpPr>
          <p:cNvPr id="12" name="텍스트 12: 한국토지주택공사"/>
          <p:cNvSpPr txBox="1"/>
          <p:nvPr/>
        </p:nvSpPr>
        <p:spPr>
          <a:xfrm>
            <a:off x="2965450" y="2913666"/>
            <a:ext cx="100839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5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한국토지주택공사</a:t>
            </a:r>
          </a:p>
        </p:txBody>
      </p:sp>
      <p:sp>
        <p:nvSpPr>
          <p:cNvPr id="13" name="텍스트 13: 총 면적"/>
          <p:cNvSpPr txBox="1"/>
          <p:nvPr/>
        </p:nvSpPr>
        <p:spPr>
          <a:xfrm>
            <a:off x="1388999" y="3210592"/>
            <a:ext cx="4246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4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총 면적</a:t>
            </a:r>
          </a:p>
        </p:txBody>
      </p:sp>
      <p:sp>
        <p:nvSpPr>
          <p:cNvPr id="14" name="텍스트 14: 4,140천㎡"/>
          <p:cNvSpPr txBox="1"/>
          <p:nvPr/>
        </p:nvSpPr>
        <p:spPr>
          <a:xfrm>
            <a:off x="3125470" y="3210592"/>
            <a:ext cx="69018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4,140천㎡</a:t>
            </a:r>
          </a:p>
        </p:txBody>
      </p:sp>
      <p:sp>
        <p:nvSpPr>
          <p:cNvPr id="15" name="텍스트 15: 사업비"/>
          <p:cNvSpPr txBox="1"/>
          <p:nvPr/>
        </p:nvSpPr>
        <p:spPr>
          <a:xfrm>
            <a:off x="1402714" y="3507137"/>
            <a:ext cx="39567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사업비</a:t>
            </a:r>
          </a:p>
        </p:txBody>
      </p:sp>
      <p:sp>
        <p:nvSpPr>
          <p:cNvPr id="16" name="텍스트 16: 2조 3,481억원"/>
          <p:cNvSpPr txBox="1"/>
          <p:nvPr/>
        </p:nvSpPr>
        <p:spPr>
          <a:xfrm>
            <a:off x="3008122" y="3507137"/>
            <a:ext cx="92475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2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2조 3,481억원</a:t>
            </a:r>
          </a:p>
        </p:txBody>
      </p:sp>
      <p:sp>
        <p:nvSpPr>
          <p:cNvPr id="17" name="텍스트 17: 생산 유발"/>
          <p:cNvSpPr txBox="1"/>
          <p:nvPr/>
        </p:nvSpPr>
        <p:spPr>
          <a:xfrm>
            <a:off x="1328038" y="3804063"/>
            <a:ext cx="54654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생산 유발</a:t>
            </a:r>
          </a:p>
        </p:txBody>
      </p:sp>
      <p:sp>
        <p:nvSpPr>
          <p:cNvPr id="18" name="텍스트 18: 1조 7,968억원"/>
          <p:cNvSpPr txBox="1"/>
          <p:nvPr/>
        </p:nvSpPr>
        <p:spPr>
          <a:xfrm>
            <a:off x="3002026" y="3804063"/>
            <a:ext cx="93389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1조 7,968억원</a:t>
            </a:r>
          </a:p>
        </p:txBody>
      </p:sp>
      <p:sp>
        <p:nvSpPr>
          <p:cNvPr id="19" name="텍스트 19: 고용 유발"/>
          <p:cNvSpPr txBox="1"/>
          <p:nvPr/>
        </p:nvSpPr>
        <p:spPr>
          <a:xfrm>
            <a:off x="1328038" y="4100608"/>
            <a:ext cx="54654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고용 유발</a:t>
            </a:r>
          </a:p>
        </p:txBody>
      </p:sp>
      <p:sp>
        <p:nvSpPr>
          <p:cNvPr id="20" name="텍스트 20: 1만 1,562명"/>
          <p:cNvSpPr txBox="1"/>
          <p:nvPr/>
        </p:nvSpPr>
        <p:spPr>
          <a:xfrm>
            <a:off x="3064510" y="4100608"/>
            <a:ext cx="81045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1만 1,562명</a:t>
            </a:r>
          </a:p>
        </p:txBody>
      </p:sp>
      <p:sp>
        <p:nvSpPr>
          <p:cNvPr id="21" name="텍스트 21: 서울대병원 R&amp;D 임상병원"/>
          <p:cNvSpPr txBox="1"/>
          <p:nvPr/>
        </p:nvSpPr>
        <p:spPr>
          <a:xfrm>
            <a:off x="3115945" y="5429282"/>
            <a:ext cx="15203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10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서울대병원 R&amp;D 임상병원</a:t>
            </a:r>
          </a:p>
        </p:txBody>
      </p:sp>
      <p:sp>
        <p:nvSpPr>
          <p:cNvPr id="22" name="텍스트 22: 신약 임상시험·의료연구 거점"/>
          <p:cNvSpPr txBox="1"/>
          <p:nvPr/>
        </p:nvSpPr>
        <p:spPr>
          <a:xfrm>
            <a:off x="3181476" y="5742812"/>
            <a:ext cx="1390477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3" b="0" spc="-9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신약 임상시험·의료연구 거점</a:t>
            </a:r>
          </a:p>
        </p:txBody>
      </p:sp>
      <p:sp>
        <p:nvSpPr>
          <p:cNvPr id="23" name="텍스트 23: CHAPTER 04  ·  APPENDIX │ 오송제3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오송인가  │  오송제3생명과학단지</a:t>
            </a:r>
          </a:p>
        </p:txBody>
      </p:sp>
      <p:sp>
        <p:nvSpPr>
          <p:cNvPr id="24" name="텍스트 24: 제3생명과학 국가산단, 바이오 연구·임상 클러스터 구축"/>
          <p:cNvSpPr txBox="1"/>
          <p:nvPr/>
        </p:nvSpPr>
        <p:spPr>
          <a:xfrm>
            <a:off x="304800" y="629209"/>
            <a:ext cx="7797603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제3생명과학 국가산단, 바이오 연구·임상 클러스터 구축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KAIST 바이오 캠퍼스·서울대병원 임상연구병원 설립 예정</a:t>
            </a:r>
          </a:p>
        </p:txBody>
      </p:sp>
      <p:sp>
        <p:nvSpPr>
          <p:cNvPr id="25" name="텍스트 25: 62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26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27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28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29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30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바이오영재학교 예시 조감도"/>
          <p:cNvSpPr txBox="1"/>
          <p:nvPr/>
        </p:nvSpPr>
        <p:spPr>
          <a:xfrm>
            <a:off x="642518" y="1979424"/>
            <a:ext cx="169453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바이오영재학교 예시 조감도</a:t>
            </a:r>
          </a:p>
        </p:txBody>
      </p:sp>
      <p:sp>
        <p:nvSpPr>
          <p:cNvPr id="3" name="텍스트 3: 22,500㎡ / 15,990㎡ / 지하 1층~지상 5"/>
          <p:cNvSpPr txBox="1"/>
          <p:nvPr/>
        </p:nvSpPr>
        <p:spPr>
          <a:xfrm>
            <a:off x="2029967" y="5085338"/>
            <a:ext cx="2055158" cy="1448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spc="-62" dirty="0">
                <a:solidFill>
                  <a:srgbClr val="000000">
                    <a:alpha val="0"/>
                  </a:srgbClr>
                </a:solidFill>
                <a:latin typeface="맑은 고딕"/>
                <a:ea typeface="맑은 고딕"/>
                <a:cs typeface="맑은 고딕"/>
              </a:rPr>
              <a:t>22,500</a:t>
            </a:r>
            <a:r>
              <a:rPr lang="ko-KR" altLang="en-US" sz="950" b="0" spc="-62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㎡ / </a:t>
            </a:r>
            <a:r>
              <a:rPr lang="ko-KR" altLang="en-US" sz="950" b="0" spc="-62" dirty="0">
                <a:solidFill>
                  <a:srgbClr val="000000">
                    <a:alpha val="0"/>
                  </a:srgbClr>
                </a:solidFill>
                <a:latin typeface="맑은 고딕"/>
                <a:ea typeface="맑은 고딕"/>
                <a:cs typeface="맑은 고딕"/>
              </a:rPr>
              <a:t>15,990㎡ / 지하 1층~지상 5층</a:t>
            </a:r>
          </a:p>
        </p:txBody>
      </p:sp>
      <p:sp>
        <p:nvSpPr>
          <p:cNvPr id="4" name="텍스트 4: 상기 사업개요, 조감도 및 추진일정은 관계기관의 계획과"/>
          <p:cNvSpPr txBox="1"/>
          <p:nvPr/>
        </p:nvSpPr>
        <p:spPr>
          <a:xfrm>
            <a:off x="1481074" y="6123834"/>
            <a:ext cx="3429850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87" b="0" spc="-7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상기 사업개요, 조감도 및 추진일정은 관계기관의 계획과 사업 추진 과정에 따라 변경될 수 있습니다.</a:t>
            </a:r>
          </a:p>
        </p:txBody>
      </p:sp>
      <p:sp>
        <p:nvSpPr>
          <p:cNvPr id="5" name="텍스트 5: (중략)"/>
          <p:cNvSpPr txBox="1"/>
          <p:nvPr/>
        </p:nvSpPr>
        <p:spPr>
          <a:xfrm>
            <a:off x="7076185" y="3405935"/>
            <a:ext cx="315266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7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(중략)</a:t>
            </a:r>
          </a:p>
        </p:txBody>
      </p:sp>
      <p:sp>
        <p:nvSpPr>
          <p:cNvPr id="6" name="텍스트 6: 현재 AI 바이오 영재학교 건립 사업은 순조롭게 진행 "/>
          <p:cNvSpPr txBox="1"/>
          <p:nvPr/>
        </p:nvSpPr>
        <p:spPr>
          <a:xfrm>
            <a:off x="5218176" y="3695245"/>
            <a:ext cx="4031900" cy="4343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현재 AI 바이오 영재학교 건립 사업은 순조롭게 진행 중이다. 2024년 말 용역에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2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들어간 설계가 올해 상반기 중 마무리되면 부지 이관, 총사업비 조정 등을 거쳐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8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오는 9월 첫삽을 뜰 것으로 예상된다.</a:t>
            </a:r>
          </a:p>
        </p:txBody>
      </p:sp>
      <p:sp>
        <p:nvSpPr>
          <p:cNvPr id="7" name="텍스트 7: (중략)"/>
          <p:cNvSpPr txBox="1"/>
          <p:nvPr/>
        </p:nvSpPr>
        <p:spPr>
          <a:xfrm>
            <a:off x="7076185" y="4274615"/>
            <a:ext cx="315266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7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(중략)</a:t>
            </a:r>
          </a:p>
        </p:txBody>
      </p:sp>
      <p:sp>
        <p:nvSpPr>
          <p:cNvPr id="8" name="텍스트 8: AI 바이오 영재학교는 청주시 흥덕구 오송읍 연제리 첨"/>
          <p:cNvSpPr txBox="1"/>
          <p:nvPr/>
        </p:nvSpPr>
        <p:spPr>
          <a:xfrm>
            <a:off x="5218176" y="4564181"/>
            <a:ext cx="3663091" cy="2895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5" b="0" spc="-9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AI 바이오 영재학교는 청주시 흥덕구 오송읍 연제리 첨단의료복합단지 일원에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5" b="0" spc="-9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지어진다.</a:t>
            </a:r>
          </a:p>
        </p:txBody>
      </p:sp>
      <p:sp>
        <p:nvSpPr>
          <p:cNvPr id="9" name="텍스트 9: 2만2천500㎡ 부지에 연면적 1만5천990㎡, 지하 "/>
          <p:cNvSpPr txBox="1"/>
          <p:nvPr/>
        </p:nvSpPr>
        <p:spPr>
          <a:xfrm>
            <a:off x="5218176" y="4998520"/>
            <a:ext cx="3899311" cy="4343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6" b="0" spc="-5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2만2천500㎡ 부지에 연면적 1만5천990㎡, 지하 1층, 지상 5층 규모로 학급 당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6" b="0" spc="-8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학생 수는 10명이며 5개 학급이다. 자연 과학, 디지털 정보, AI 바이오 융복합 전문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6" b="0" spc="-9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심화 교과 등을 무학년·졸업 학점제로 운영한다.</a:t>
            </a:r>
          </a:p>
        </p:txBody>
      </p:sp>
      <p:sp>
        <p:nvSpPr>
          <p:cNvPr id="10" name="텍스트 10: AI 바이오 영재학교는 2027년 3월 개교를 목표로 "/>
          <p:cNvSpPr txBox="1"/>
          <p:nvPr/>
        </p:nvSpPr>
        <p:spPr>
          <a:xfrm>
            <a:off x="5218176" y="5577665"/>
            <a:ext cx="3940460" cy="2895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7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AI 바이오 영재학교는 2027년 3월 개교를 목표로 잡았으나 사업비 확보, 중투심사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7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등으로 지연돼 이르면 2028년 가능할 것으로 전망된다.</a:t>
            </a:r>
          </a:p>
        </p:txBody>
      </p:sp>
      <p:sp>
        <p:nvSpPr>
          <p:cNvPr id="11" name="텍스트 11: 노화 정복의 꿈 충북 오송에서 시작된다"/>
          <p:cNvSpPr txBox="1"/>
          <p:nvPr/>
        </p:nvSpPr>
        <p:spPr>
          <a:xfrm>
            <a:off x="5578094" y="2899570"/>
            <a:ext cx="3311717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80" b="1" spc="-17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노화 정복의 꿈 충북 오송에서 시작된다</a:t>
            </a:r>
          </a:p>
        </p:txBody>
      </p:sp>
      <p:sp>
        <p:nvSpPr>
          <p:cNvPr id="12" name="텍스트 12: CHAPTER 04  ·  APPENDIX │ 카이스트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5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카이스트 AI BIO 영재학교</a:t>
            </a:r>
          </a:p>
        </p:txBody>
      </p:sp>
      <p:sp>
        <p:nvSpPr>
          <p:cNvPr id="13" name="텍스트 13: KAIST 부설 AI BIO 영재학교, 오송에 들어선다"/>
          <p:cNvSpPr txBox="1"/>
          <p:nvPr/>
        </p:nvSpPr>
        <p:spPr>
          <a:xfrm>
            <a:off x="304800" y="629209"/>
            <a:ext cx="7225109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KAIST 부설 AI BIO 영재학교, 오송에 들어선다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학습·연구동과 기숙사를 갖춘 AI·바이오 전문 교육시설</a:t>
            </a:r>
          </a:p>
        </p:txBody>
      </p:sp>
      <p:sp>
        <p:nvSpPr>
          <p:cNvPr id="14" name="텍스트 14: 63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유영호 [셀트리온제약 대표이사]"/>
          <p:cNvSpPr txBox="1"/>
          <p:nvPr/>
        </p:nvSpPr>
        <p:spPr>
          <a:xfrm>
            <a:off x="6807961" y="5725474"/>
            <a:ext cx="2170783" cy="2066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1" b="0" spc="-13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유영호 [셀트리온제약 대표이사]</a:t>
            </a:r>
          </a:p>
        </p:txBody>
      </p:sp>
      <p:sp>
        <p:nvSpPr>
          <p:cNvPr id="3" name="텍스트 3: 2028"/>
          <p:cNvSpPr txBox="1"/>
          <p:nvPr/>
        </p:nvSpPr>
        <p:spPr>
          <a:xfrm>
            <a:off x="705002" y="2434084"/>
            <a:ext cx="63507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11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2028</a:t>
            </a:r>
          </a:p>
        </p:txBody>
      </p:sp>
      <p:sp>
        <p:nvSpPr>
          <p:cNvPr id="4" name="텍스트 4: 2032"/>
          <p:cNvSpPr txBox="1"/>
          <p:nvPr/>
        </p:nvSpPr>
        <p:spPr>
          <a:xfrm>
            <a:off x="3400044" y="2434084"/>
            <a:ext cx="63507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11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2032</a:t>
            </a:r>
          </a:p>
        </p:txBody>
      </p:sp>
      <p:sp>
        <p:nvSpPr>
          <p:cNvPr id="5" name="텍스트 5: 투자 추진 로드맵"/>
          <p:cNvSpPr txBox="1"/>
          <p:nvPr/>
        </p:nvSpPr>
        <p:spPr>
          <a:xfrm>
            <a:off x="690676" y="2123904"/>
            <a:ext cx="102840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9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투자 추진 로드맵</a:t>
            </a:r>
          </a:p>
        </p:txBody>
      </p:sp>
      <p:sp>
        <p:nvSpPr>
          <p:cNvPr id="6" name="텍스트 6: 1단계 (3만평·1조원)"/>
          <p:cNvSpPr txBox="1"/>
          <p:nvPr/>
        </p:nvSpPr>
        <p:spPr>
          <a:xfrm>
            <a:off x="1371853" y="2586261"/>
            <a:ext cx="1855035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0" spc="-87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1단계 (3만평·1조원)</a:t>
            </a:r>
          </a:p>
        </p:txBody>
      </p:sp>
      <p:sp>
        <p:nvSpPr>
          <p:cNvPr id="7" name="텍스트 7: 2단계 (3만평·1조원)"/>
          <p:cNvSpPr txBox="1"/>
          <p:nvPr/>
        </p:nvSpPr>
        <p:spPr>
          <a:xfrm>
            <a:off x="4457700" y="2586261"/>
            <a:ext cx="1854908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0" spc="-87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2단계 (3만평·1조원)</a:t>
            </a:r>
          </a:p>
        </p:txBody>
      </p:sp>
      <p:sp>
        <p:nvSpPr>
          <p:cNvPr id="8" name="텍스트 8: 착공"/>
          <p:cNvSpPr txBox="1"/>
          <p:nvPr/>
        </p:nvSpPr>
        <p:spPr>
          <a:xfrm>
            <a:off x="818388" y="3057826"/>
            <a:ext cx="260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착공</a:t>
            </a:r>
          </a:p>
        </p:txBody>
      </p:sp>
      <p:sp>
        <p:nvSpPr>
          <p:cNvPr id="9" name="텍스트 9: 1단계 완공 목표"/>
          <p:cNvSpPr txBox="1"/>
          <p:nvPr/>
        </p:nvSpPr>
        <p:spPr>
          <a:xfrm>
            <a:off x="3199764" y="3057826"/>
            <a:ext cx="876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1단계 완공 목표</a:t>
            </a:r>
          </a:p>
        </p:txBody>
      </p:sp>
      <p:sp>
        <p:nvSpPr>
          <p:cNvPr id="10" name="텍스트 10: 6만평 규모 생산시설 계획"/>
          <p:cNvSpPr txBox="1"/>
          <p:nvPr/>
        </p:nvSpPr>
        <p:spPr>
          <a:xfrm>
            <a:off x="3908171" y="3892077"/>
            <a:ext cx="2086162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5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6만평 규모 생산시설 계획</a:t>
            </a:r>
          </a:p>
        </p:txBody>
      </p:sp>
      <p:sp>
        <p:nvSpPr>
          <p:cNvPr id="11" name="텍스트 11: 오송제3생명과학단지"/>
          <p:cNvSpPr txBox="1"/>
          <p:nvPr/>
        </p:nvSpPr>
        <p:spPr>
          <a:xfrm>
            <a:off x="1837689" y="4532741"/>
            <a:ext cx="1498254" cy="2066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8" b="0" spc="-13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오송제3생명과학단지</a:t>
            </a:r>
          </a:p>
        </p:txBody>
      </p:sp>
      <p:sp>
        <p:nvSpPr>
          <p:cNvPr id="12" name="텍스트 12: 앵커 기업 생산시설 개설 시"/>
          <p:cNvSpPr txBox="1"/>
          <p:nvPr/>
        </p:nvSpPr>
        <p:spPr>
          <a:xfrm>
            <a:off x="3944873" y="5437881"/>
            <a:ext cx="1989236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3" b="0" spc="-1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앵커 기업 생산시설 개설 시</a:t>
            </a:r>
          </a:p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3" b="0" spc="-1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多 소부장기업 유입 효과 기대</a:t>
            </a:r>
          </a:p>
        </p:txBody>
      </p:sp>
      <p:sp>
        <p:nvSpPr>
          <p:cNvPr id="13" name="텍스트 13: 규모 및 미래 전망"/>
          <p:cNvSpPr txBox="1"/>
          <p:nvPr/>
        </p:nvSpPr>
        <p:spPr>
          <a:xfrm>
            <a:off x="690676" y="3428748"/>
            <a:ext cx="106014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1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규모 및 미래 전망</a:t>
            </a:r>
          </a:p>
        </p:txBody>
      </p:sp>
      <p:sp>
        <p:nvSpPr>
          <p:cNvPr id="14" name="텍스트 14: 예정사항으로 사업진행상황에 따라 변경될 수 있습니다."/>
          <p:cNvSpPr txBox="1"/>
          <p:nvPr/>
        </p:nvSpPr>
        <p:spPr>
          <a:xfrm>
            <a:off x="4193413" y="5144232"/>
            <a:ext cx="1931631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85" b="0" spc="-7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예정사항으로 사업진행상황에 따라 변경될 수 있습니다.</a:t>
            </a:r>
          </a:p>
        </p:txBody>
      </p:sp>
      <p:sp>
        <p:nvSpPr>
          <p:cNvPr id="15" name="텍스트 15: 오송 2조원 투자협약 ··· 신규 고용 700명"/>
          <p:cNvSpPr txBox="1"/>
          <p:nvPr/>
        </p:nvSpPr>
        <p:spPr>
          <a:xfrm>
            <a:off x="4450079" y="2012604"/>
            <a:ext cx="3346892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0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 2조원 투자협약 ··· 신규 고용 700명</a:t>
            </a:r>
          </a:p>
        </p:txBody>
      </p:sp>
      <p:sp>
        <p:nvSpPr>
          <p:cNvPr id="16" name="텍스트 16: 2026.10.02 충북도·청주시·셀트리온그룹 투자협약"/>
          <p:cNvSpPr txBox="1"/>
          <p:nvPr/>
        </p:nvSpPr>
        <p:spPr>
          <a:xfrm>
            <a:off x="4384294" y="2358947"/>
            <a:ext cx="2559589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49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2026.10.02 충북도·청주시·셀트리온그룹 투자협약</a:t>
            </a:r>
          </a:p>
        </p:txBody>
      </p:sp>
      <p:sp>
        <p:nvSpPr>
          <p:cNvPr id="17" name="텍스트 17: CHAPTER 04  ·  APPENDIX │ 민간 투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5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오송인가  │  민간 투자</a:t>
            </a:r>
          </a:p>
        </p:txBody>
      </p:sp>
      <p:sp>
        <p:nvSpPr>
          <p:cNvPr id="18" name="텍스트 18: 셀트리온그룹 2조원 투자협약 체결, 오송 ‘바이오 거점"/>
          <p:cNvSpPr txBox="1"/>
          <p:nvPr/>
        </p:nvSpPr>
        <p:spPr>
          <a:xfrm>
            <a:off x="304800" y="629209"/>
            <a:ext cx="7877121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셀트리온그룹 2조원 투자협약 체결, 오송 ‘바이오 거점’ 도약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6만평 의약품 생산시설 조성, 신규 고용 700명 기대</a:t>
            </a:r>
          </a:p>
        </p:txBody>
      </p:sp>
      <p:sp>
        <p:nvSpPr>
          <p:cNvPr id="19" name="텍스트 19: 6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20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21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22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23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24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상당구"/>
          <p:cNvSpPr txBox="1"/>
          <p:nvPr/>
        </p:nvSpPr>
        <p:spPr>
          <a:xfrm>
            <a:off x="6403975" y="3931753"/>
            <a:ext cx="978144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20,537개소</a:t>
            </a:r>
          </a:p>
        </p:txBody>
      </p:sp>
      <p:sp>
        <p:nvSpPr>
          <p:cNvPr id="3" name="텍스트 3: 흥덕구"/>
          <p:cNvSpPr txBox="1"/>
          <p:nvPr/>
        </p:nvSpPr>
        <p:spPr>
          <a:xfrm>
            <a:off x="4725415" y="3502027"/>
            <a:ext cx="1247916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0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2" b="0" spc="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31,678개소</a:t>
            </a:r>
          </a:p>
        </p:txBody>
      </p:sp>
      <p:sp>
        <p:nvSpPr>
          <p:cNvPr id="4" name="텍스트 4: 청원구"/>
          <p:cNvSpPr txBox="1"/>
          <p:nvPr/>
        </p:nvSpPr>
        <p:spPr>
          <a:xfrm>
            <a:off x="5886703" y="2976886"/>
            <a:ext cx="977839" cy="4272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4" b="0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  <a:p>
            <a:pPr algn="ctr">
              <a:lnSpc>
                <a:spcPts val="16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2" b="0" spc="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25,033개소</a:t>
            </a:r>
          </a:p>
        </p:txBody>
      </p:sp>
      <p:sp>
        <p:nvSpPr>
          <p:cNvPr id="5" name="텍스트 5: 서원구"/>
          <p:cNvSpPr txBox="1"/>
          <p:nvPr/>
        </p:nvSpPr>
        <p:spPr>
          <a:xfrm>
            <a:off x="5445378" y="4332818"/>
            <a:ext cx="978093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20,031개소</a:t>
            </a:r>
          </a:p>
        </p:txBody>
      </p:sp>
      <p:sp>
        <p:nvSpPr>
          <p:cNvPr id="6" name="텍스트 6: 사업체 97,279개소"/>
          <p:cNvSpPr txBox="1"/>
          <p:nvPr/>
        </p:nvSpPr>
        <p:spPr>
          <a:xfrm>
            <a:off x="1203045" y="3793338"/>
            <a:ext cx="3289197" cy="5416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사업체 </a:t>
            </a:r>
            <a:r>
              <a:rPr lang="ko-KR" altLang="en-US" sz="3554" b="1" spc="-7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97,279</a:t>
            </a:r>
            <a:r>
              <a:rPr lang="ko-KR" altLang="en-US" sz="2798" b="1" spc="-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개소</a:t>
            </a:r>
          </a:p>
        </p:txBody>
      </p:sp>
      <p:sp>
        <p:nvSpPr>
          <p:cNvPr id="7" name="텍스트 7: 종사자 411,986명"/>
          <p:cNvSpPr txBox="1"/>
          <p:nvPr/>
        </p:nvSpPr>
        <p:spPr>
          <a:xfrm>
            <a:off x="1206093" y="4334912"/>
            <a:ext cx="3281385" cy="5413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6" b="1" spc="-2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종사자 </a:t>
            </a:r>
            <a:r>
              <a:rPr lang="ko-KR" altLang="en-US" sz="3552" b="1" spc="-21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411,986</a:t>
            </a:r>
            <a:r>
              <a:rPr lang="ko-KR" altLang="en-US" sz="2796" b="1" spc="-2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명</a:t>
            </a:r>
          </a:p>
        </p:txBody>
      </p:sp>
      <p:sp>
        <p:nvSpPr>
          <p:cNvPr id="8" name="텍스트 8: CHAPTER 04  ·  APPENDIX │ 청주시 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청주시 산업 현황</a:t>
            </a:r>
          </a:p>
        </p:txBody>
      </p:sp>
      <p:sp>
        <p:nvSpPr>
          <p:cNvPr id="9" name="텍스트 9: 대형 기업의 투자 유치로 산업투자가 모인 청주"/>
          <p:cNvSpPr txBox="1"/>
          <p:nvPr/>
        </p:nvSpPr>
        <p:spPr>
          <a:xfrm>
            <a:off x="304800" y="629209"/>
            <a:ext cx="6130237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대형 기업의 투자 유치로 산업투자가 모인 청주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9만 7천여 사업체와 41만여 일자리로 성장 중</a:t>
            </a:r>
          </a:p>
        </p:txBody>
      </p:sp>
      <p:sp>
        <p:nvSpPr>
          <p:cNvPr id="10" name="텍스트 10: 65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5  ·  PART A │ 바뀐 법, 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4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바뀐 법, 우리에게 미치는 영향</a:t>
            </a:r>
          </a:p>
        </p:txBody>
      </p:sp>
      <p:sp>
        <p:nvSpPr>
          <p:cNvPr id="3" name="텍스트 3: 개정 법령 8건 중, 헬로우시티 즉시 적용 2건"/>
          <p:cNvSpPr txBox="1"/>
          <p:nvPr/>
        </p:nvSpPr>
        <p:spPr>
          <a:xfrm>
            <a:off x="304800" y="629209"/>
            <a:ext cx="6442771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개정 법령 8건 중, 헬로우시티 즉시 적용 2건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6개월 후 적용 4건, 해당 없음 1건·정부 추진 1건</a:t>
            </a:r>
          </a:p>
        </p:txBody>
      </p:sp>
      <p:sp>
        <p:nvSpPr>
          <p:cNvPr id="4" name="텍스트 4: 구분"/>
          <p:cNvSpPr txBox="1"/>
          <p:nvPr/>
        </p:nvSpPr>
        <p:spPr>
          <a:xfrm>
            <a:off x="381000" y="1965708"/>
            <a:ext cx="261035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1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5" name="텍스트 5: 개정 내용"/>
          <p:cNvSpPr txBox="1"/>
          <p:nvPr/>
        </p:nvSpPr>
        <p:spPr>
          <a:xfrm>
            <a:off x="1549653" y="1965708"/>
            <a:ext cx="524687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개정 내용</a:t>
            </a:r>
          </a:p>
        </p:txBody>
      </p:sp>
      <p:sp>
        <p:nvSpPr>
          <p:cNvPr id="6" name="텍스트 6: 시행"/>
          <p:cNvSpPr txBox="1"/>
          <p:nvPr/>
        </p:nvSpPr>
        <p:spPr>
          <a:xfrm>
            <a:off x="4877689" y="1965708"/>
            <a:ext cx="261035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1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시행</a:t>
            </a:r>
          </a:p>
        </p:txBody>
      </p:sp>
      <p:sp>
        <p:nvSpPr>
          <p:cNvPr id="7" name="텍스트 7: 오송역 헬로우시티 영향"/>
          <p:cNvSpPr txBox="1"/>
          <p:nvPr/>
        </p:nvSpPr>
        <p:spPr>
          <a:xfrm>
            <a:off x="6020689" y="1965708"/>
            <a:ext cx="1258111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헬로우시티 영향</a:t>
            </a:r>
          </a:p>
        </p:txBody>
      </p:sp>
      <p:sp>
        <p:nvSpPr>
          <p:cNvPr id="8" name="텍스트 8: 즉시 적용"/>
          <p:cNvSpPr txBox="1"/>
          <p:nvPr/>
        </p:nvSpPr>
        <p:spPr>
          <a:xfrm>
            <a:off x="381000" y="2251884"/>
            <a:ext cx="524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즉시 적용</a:t>
            </a:r>
          </a:p>
        </p:txBody>
      </p:sp>
      <p:sp>
        <p:nvSpPr>
          <p:cNvPr id="9" name="텍스트 9: 조합원 자격 기준 정비 (충원·세대주·분양권·상속)"/>
          <p:cNvSpPr txBox="1"/>
          <p:nvPr/>
        </p:nvSpPr>
        <p:spPr>
          <a:xfrm>
            <a:off x="1549653" y="2251884"/>
            <a:ext cx="258794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102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조합원 자격 기준 정비 (충원·세대주·분양권·상속)</a:t>
            </a:r>
          </a:p>
        </p:txBody>
      </p:sp>
      <p:sp>
        <p:nvSpPr>
          <p:cNvPr id="10" name="텍스트 10: 2026.6.23"/>
          <p:cNvSpPr txBox="1"/>
          <p:nvPr/>
        </p:nvSpPr>
        <p:spPr>
          <a:xfrm>
            <a:off x="4877689" y="2251884"/>
            <a:ext cx="71889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43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2026.6.23</a:t>
            </a:r>
          </a:p>
        </p:txBody>
      </p:sp>
      <p:sp>
        <p:nvSpPr>
          <p:cNvPr id="11" name="텍스트 11: 10.8 모집 상담·자격 심사 즉시 적용"/>
          <p:cNvSpPr txBox="1"/>
          <p:nvPr/>
        </p:nvSpPr>
        <p:spPr>
          <a:xfrm>
            <a:off x="6020689" y="2251884"/>
            <a:ext cx="192535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83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10.8 모집 상담·자격 심사 즉시 적용</a:t>
            </a:r>
          </a:p>
        </p:txBody>
      </p:sp>
      <p:sp>
        <p:nvSpPr>
          <p:cNvPr id="12" name="텍스트 12: 사업계획승인 토지 소유권 95% → 80%"/>
          <p:cNvSpPr txBox="1"/>
          <p:nvPr/>
        </p:nvSpPr>
        <p:spPr>
          <a:xfrm>
            <a:off x="1549653" y="2544238"/>
            <a:ext cx="217342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83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사업계획승인 토지 소유권 95% → 80%</a:t>
            </a:r>
          </a:p>
        </p:txBody>
      </p:sp>
      <p:sp>
        <p:nvSpPr>
          <p:cNvPr id="13" name="텍스트 13: 공포 즉시"/>
          <p:cNvSpPr txBox="1"/>
          <p:nvPr/>
        </p:nvSpPr>
        <p:spPr>
          <a:xfrm>
            <a:off x="4877689" y="2544238"/>
            <a:ext cx="524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공포 즉시</a:t>
            </a:r>
          </a:p>
        </p:txBody>
      </p:sp>
      <p:sp>
        <p:nvSpPr>
          <p:cNvPr id="14" name="텍스트 14: 사업승인·매도청구 시점 단축 (유리)"/>
          <p:cNvSpPr txBox="1"/>
          <p:nvPr/>
        </p:nvSpPr>
        <p:spPr>
          <a:xfrm>
            <a:off x="6020689" y="2544238"/>
            <a:ext cx="188678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사업승인·매도청구 시점 단축 (유리)</a:t>
            </a:r>
          </a:p>
        </p:txBody>
      </p:sp>
      <p:sp>
        <p:nvSpPr>
          <p:cNvPr id="15" name="텍스트 15: 6개월 후"/>
          <p:cNvSpPr txBox="1"/>
          <p:nvPr/>
        </p:nvSpPr>
        <p:spPr>
          <a:xfrm>
            <a:off x="381000" y="2836211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84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6개월 후</a:t>
            </a:r>
          </a:p>
        </p:txBody>
      </p:sp>
      <p:sp>
        <p:nvSpPr>
          <p:cNvPr id="16" name="텍스트 16: 시공사·업무대행사 토지 매도청구 (보유 기간 무관)"/>
          <p:cNvSpPr txBox="1"/>
          <p:nvPr/>
        </p:nvSpPr>
        <p:spPr>
          <a:xfrm>
            <a:off x="1549653" y="2836211"/>
            <a:ext cx="264272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5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시공사·업무대행사 토지 매도청구 (보유 기간 무관)</a:t>
            </a:r>
          </a:p>
        </p:txBody>
      </p:sp>
      <p:sp>
        <p:nvSpPr>
          <p:cNvPr id="17" name="텍스트 17: 공포 6개월 후"/>
          <p:cNvSpPr txBox="1"/>
          <p:nvPr/>
        </p:nvSpPr>
        <p:spPr>
          <a:xfrm>
            <a:off x="4877689" y="2836211"/>
            <a:ext cx="759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공포 6개월 후</a:t>
            </a:r>
          </a:p>
        </p:txBody>
      </p:sp>
      <p:sp>
        <p:nvSpPr>
          <p:cNvPr id="18" name="텍스트 18: 잔여 토지 확보 협상력 강화 (유리)"/>
          <p:cNvSpPr txBox="1"/>
          <p:nvPr/>
        </p:nvSpPr>
        <p:spPr>
          <a:xfrm>
            <a:off x="6020689" y="2836211"/>
            <a:ext cx="178153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6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잔여 토지 확보 협상력 강화 (유리)</a:t>
            </a:r>
          </a:p>
        </p:txBody>
      </p:sp>
      <p:sp>
        <p:nvSpPr>
          <p:cNvPr id="19" name="텍스트 19: 공사비 증액 시 전문기관 검증·분쟁조정"/>
          <p:cNvSpPr txBox="1"/>
          <p:nvPr/>
        </p:nvSpPr>
        <p:spPr>
          <a:xfrm>
            <a:off x="1549653" y="3128438"/>
            <a:ext cx="205934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0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공사비 증액 시 전문기관 검증·분쟁조정</a:t>
            </a:r>
          </a:p>
        </p:txBody>
      </p:sp>
      <p:sp>
        <p:nvSpPr>
          <p:cNvPr id="20" name="텍스트 20: 공포 6개월 후"/>
          <p:cNvSpPr txBox="1"/>
          <p:nvPr/>
        </p:nvSpPr>
        <p:spPr>
          <a:xfrm>
            <a:off x="4877689" y="3128438"/>
            <a:ext cx="759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공포 6개월 후</a:t>
            </a:r>
          </a:p>
        </p:txBody>
      </p:sp>
      <p:sp>
        <p:nvSpPr>
          <p:cNvPr id="21" name="텍스트 21: 시공 계약·증액 협상 시 조합원 보호"/>
          <p:cNvSpPr txBox="1"/>
          <p:nvPr/>
        </p:nvSpPr>
        <p:spPr>
          <a:xfrm>
            <a:off x="6020689" y="3128438"/>
            <a:ext cx="185372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3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시공 계약·증액 협상 시 조합원 보호</a:t>
            </a:r>
          </a:p>
        </p:txBody>
      </p:sp>
      <p:sp>
        <p:nvSpPr>
          <p:cNvPr id="22" name="텍스트 22: 사업 완료 조합 해산 절차·부실 조합 정리"/>
          <p:cNvSpPr txBox="1"/>
          <p:nvPr/>
        </p:nvSpPr>
        <p:spPr>
          <a:xfrm>
            <a:off x="1549653" y="3420538"/>
            <a:ext cx="211725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2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사업 완료 조합 해산 절차·부실 조합 정리</a:t>
            </a:r>
          </a:p>
        </p:txBody>
      </p:sp>
      <p:sp>
        <p:nvSpPr>
          <p:cNvPr id="23" name="텍스트 23: 공포 6개월 후"/>
          <p:cNvSpPr txBox="1"/>
          <p:nvPr/>
        </p:nvSpPr>
        <p:spPr>
          <a:xfrm>
            <a:off x="4877689" y="3420538"/>
            <a:ext cx="759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공포 6개월 후</a:t>
            </a:r>
          </a:p>
        </p:txBody>
      </p:sp>
      <p:sp>
        <p:nvSpPr>
          <p:cNvPr id="24" name="텍스트 24: 준공 후 해산 일정 반영"/>
          <p:cNvSpPr txBox="1"/>
          <p:nvPr/>
        </p:nvSpPr>
        <p:spPr>
          <a:xfrm>
            <a:off x="6020689" y="3420538"/>
            <a:ext cx="119840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8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준공 후 해산 일정 반영</a:t>
            </a:r>
          </a:p>
        </p:txBody>
      </p:sp>
      <p:sp>
        <p:nvSpPr>
          <p:cNvPr id="25" name="텍스트 25: 원주민 특례 (사업지 내 2년 소유·1년 거주 시 가입"/>
          <p:cNvSpPr txBox="1"/>
          <p:nvPr/>
        </p:nvSpPr>
        <p:spPr>
          <a:xfrm>
            <a:off x="1549653" y="3712765"/>
            <a:ext cx="267168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8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원주민 특례 (사업지 내 2년 소유·1년 거주 시 가입)</a:t>
            </a:r>
          </a:p>
        </p:txBody>
      </p:sp>
      <p:sp>
        <p:nvSpPr>
          <p:cNvPr id="26" name="텍스트 26: 공포 6개월 후"/>
          <p:cNvSpPr txBox="1"/>
          <p:nvPr/>
        </p:nvSpPr>
        <p:spPr>
          <a:xfrm>
            <a:off x="4877689" y="3712765"/>
            <a:ext cx="759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공포 6개월 후</a:t>
            </a:r>
          </a:p>
        </p:txBody>
      </p:sp>
      <p:sp>
        <p:nvSpPr>
          <p:cNvPr id="27" name="텍스트 27: 사업지 내 주민 가입 대상 확대"/>
          <p:cNvSpPr txBox="1"/>
          <p:nvPr/>
        </p:nvSpPr>
        <p:spPr>
          <a:xfrm>
            <a:off x="6020689" y="3712765"/>
            <a:ext cx="157940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7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사업지 내 주민 가입 대상 확대</a:t>
            </a:r>
          </a:p>
        </p:txBody>
      </p:sp>
      <p:sp>
        <p:nvSpPr>
          <p:cNvPr id="28" name="텍스트 28: 해당 없음(예상)"/>
          <p:cNvSpPr txBox="1"/>
          <p:nvPr/>
        </p:nvSpPr>
        <p:spPr>
          <a:xfrm>
            <a:off x="381000" y="4004439"/>
            <a:ext cx="847436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8" b="1" spc="-106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해당 없음(예상)</a:t>
            </a:r>
          </a:p>
        </p:txBody>
      </p:sp>
      <p:sp>
        <p:nvSpPr>
          <p:cNvPr id="29" name="텍스트 29: 모집신고 강화 (매매계약 80%·지구단위계획)"/>
          <p:cNvSpPr txBox="1"/>
          <p:nvPr/>
        </p:nvSpPr>
        <p:spPr>
          <a:xfrm>
            <a:off x="1549653" y="4004439"/>
            <a:ext cx="2423366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8" b="0" spc="-9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모집신고 강화 (매매계약 80%·지구단위계획)</a:t>
            </a:r>
          </a:p>
        </p:txBody>
      </p:sp>
      <p:sp>
        <p:nvSpPr>
          <p:cNvPr id="30" name="텍스트 30: 신규 조합"/>
          <p:cNvSpPr txBox="1"/>
          <p:nvPr/>
        </p:nvSpPr>
        <p:spPr>
          <a:xfrm>
            <a:off x="4877689" y="4004439"/>
            <a:ext cx="524686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신규 조합</a:t>
            </a:r>
          </a:p>
        </p:txBody>
      </p:sp>
      <p:sp>
        <p:nvSpPr>
          <p:cNvPr id="31" name="텍스트 31: 시행 전 신고 수리 조합은 종전 기준 (정부 방침)"/>
          <p:cNvSpPr txBox="1"/>
          <p:nvPr/>
        </p:nvSpPr>
        <p:spPr>
          <a:xfrm>
            <a:off x="6020689" y="4004439"/>
            <a:ext cx="2453973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4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시행 전 신고 수리 조합은 종전 기준 (정부 방침)</a:t>
            </a:r>
          </a:p>
        </p:txBody>
      </p:sp>
      <p:sp>
        <p:nvSpPr>
          <p:cNvPr id="32" name="텍스트 32: 정부 추진 중"/>
          <p:cNvSpPr txBox="1"/>
          <p:nvPr/>
        </p:nvSpPr>
        <p:spPr>
          <a:xfrm>
            <a:off x="381000" y="4297092"/>
            <a:ext cx="67102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7" b="1" spc="-106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정부 추진 중</a:t>
            </a:r>
          </a:p>
        </p:txBody>
      </p:sp>
      <p:sp>
        <p:nvSpPr>
          <p:cNvPr id="33" name="텍스트 33: 철회 60일·2/3 정족수·대행사 등록제"/>
          <p:cNvSpPr txBox="1"/>
          <p:nvPr/>
        </p:nvSpPr>
        <p:spPr>
          <a:xfrm>
            <a:off x="1549653" y="4297092"/>
            <a:ext cx="200295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철회 60일·2/3 정족수·대행사 등록제</a:t>
            </a:r>
          </a:p>
        </p:txBody>
      </p:sp>
      <p:sp>
        <p:nvSpPr>
          <p:cNvPr id="34" name="텍스트 34: 정부안 2026.4"/>
          <p:cNvSpPr txBox="1"/>
          <p:nvPr/>
        </p:nvSpPr>
        <p:spPr>
          <a:xfrm>
            <a:off x="4877689" y="4297092"/>
            <a:ext cx="88839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18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정부안 2026.4</a:t>
            </a:r>
          </a:p>
        </p:txBody>
      </p:sp>
      <p:sp>
        <p:nvSpPr>
          <p:cNvPr id="35" name="텍스트 35: 법 반영 확정 전까지 현행 30일 기준 안내"/>
          <p:cNvSpPr txBox="1"/>
          <p:nvPr/>
        </p:nvSpPr>
        <p:spPr>
          <a:xfrm>
            <a:off x="6020689" y="4297092"/>
            <a:ext cx="216614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103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법 반영 확정 전까지 현행 30일 기준 안내</a:t>
            </a:r>
          </a:p>
        </p:txBody>
      </p:sp>
      <p:sp>
        <p:nvSpPr>
          <p:cNvPr id="36" name="텍스트 36: 확인 필요 ‘6개월 후’ 시점은 공포일 기준, 기존 조"/>
          <p:cNvSpPr txBox="1"/>
          <p:nvPr/>
        </p:nvSpPr>
        <p:spPr>
          <a:xfrm>
            <a:off x="304800" y="4600751"/>
            <a:ext cx="4431441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1" spc="-8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확인 필요 </a:t>
            </a:r>
            <a:r>
              <a:rPr lang="ko-KR" altLang="en-US" sz="948" b="0" spc="-87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‘6개월 후’ 시점은 공포일 기준, 기존 조합 경과조치는 공포 법률 부칙으로 최종 확인</a:t>
            </a:r>
          </a:p>
        </p:txBody>
      </p:sp>
      <p:sp>
        <p:nvSpPr>
          <p:cNvPr id="37" name="텍스트 37: 상담 활용"/>
          <p:cNvSpPr txBox="1"/>
          <p:nvPr/>
        </p:nvSpPr>
        <p:spPr>
          <a:xfrm>
            <a:off x="502919" y="5426046"/>
            <a:ext cx="64450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3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 활용</a:t>
            </a:r>
          </a:p>
        </p:txBody>
      </p:sp>
      <p:sp>
        <p:nvSpPr>
          <p:cNvPr id="38" name="텍스트 38: 영업 TIP"/>
          <p:cNvSpPr txBox="1"/>
          <p:nvPr/>
        </p:nvSpPr>
        <p:spPr>
          <a:xfrm>
            <a:off x="573023" y="5647966"/>
            <a:ext cx="50339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영업 TIP</a:t>
            </a:r>
          </a:p>
        </p:txBody>
      </p:sp>
      <p:sp>
        <p:nvSpPr>
          <p:cNvPr id="39" name="텍스트 39: 이렇게 말하면 유리"/>
          <p:cNvSpPr txBox="1"/>
          <p:nvPr/>
        </p:nvSpPr>
        <p:spPr>
          <a:xfrm>
            <a:off x="1524253" y="5031630"/>
            <a:ext cx="111731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이렇게 말하면 유리</a:t>
            </a:r>
          </a:p>
        </p:txBody>
      </p:sp>
      <p:sp>
        <p:nvSpPr>
          <p:cNvPr id="40" name="텍스트 40: • “지주택의 가장 큰 걱정이던 사업승인 요건이 95%"/>
          <p:cNvSpPr txBox="1"/>
          <p:nvPr/>
        </p:nvSpPr>
        <p:spPr>
          <a:xfrm>
            <a:off x="1524253" y="5267738"/>
            <a:ext cx="46330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87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0" spc="-87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“지주택의 가장 큰 걱정이던 사업승인 요건이 95%에서 80%로 낮아져, 사업 속도</a:t>
            </a:r>
          </a:p>
        </p:txBody>
      </p:sp>
      <p:sp>
        <p:nvSpPr>
          <p:cNvPr id="41" name="텍스트 41: 측면에서 유리해진 상황입니다.”"/>
          <p:cNvSpPr txBox="1"/>
          <p:nvPr/>
        </p:nvSpPr>
        <p:spPr>
          <a:xfrm>
            <a:off x="1664461" y="5465807"/>
            <a:ext cx="177886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9" b="0" spc="-11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측면에서 유리해진 상황입니다.”</a:t>
            </a:r>
          </a:p>
        </p:txBody>
      </p:sp>
      <p:sp>
        <p:nvSpPr>
          <p:cNvPr id="42" name="텍스트 42: • “공사비 검증·해산 절차 등 조합원 보호 장치도 법"/>
          <p:cNvSpPr txBox="1"/>
          <p:nvPr/>
        </p:nvSpPr>
        <p:spPr>
          <a:xfrm>
            <a:off x="1524253" y="5713920"/>
            <a:ext cx="419175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102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6" b="0" spc="-102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“공사비 검증·해산 절차 등 조합원 보호 장치도 법으로 강화되는 중입니다.”</a:t>
            </a:r>
          </a:p>
        </p:txBody>
      </p:sp>
      <p:sp>
        <p:nvSpPr>
          <p:cNvPr id="43" name="텍스트 43: 이렇게 말하면 위험"/>
          <p:cNvSpPr txBox="1"/>
          <p:nvPr/>
        </p:nvSpPr>
        <p:spPr>
          <a:xfrm>
            <a:off x="6681216" y="5031630"/>
            <a:ext cx="111756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이렇게 말하면 위험</a:t>
            </a:r>
          </a:p>
        </p:txBody>
      </p:sp>
      <p:sp>
        <p:nvSpPr>
          <p:cNvPr id="44" name="텍스트 44: • 정부 추진 중인 ‘철회 60일’을 이미 시행된"/>
          <p:cNvSpPr txBox="1"/>
          <p:nvPr/>
        </p:nvSpPr>
        <p:spPr>
          <a:xfrm>
            <a:off x="6681216" y="5266102"/>
            <a:ext cx="234493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73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정부 추진 중인 ‘철회 60일’을 이미 시행된</a:t>
            </a:r>
          </a:p>
        </p:txBody>
      </p:sp>
      <p:sp>
        <p:nvSpPr>
          <p:cNvPr id="45" name="텍스트 45: 것처럼 안내"/>
          <p:cNvSpPr txBox="1"/>
          <p:nvPr/>
        </p:nvSpPr>
        <p:spPr>
          <a:xfrm>
            <a:off x="6821423" y="5455078"/>
            <a:ext cx="64202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것처럼 안내</a:t>
            </a:r>
          </a:p>
        </p:txBody>
      </p:sp>
      <p:sp>
        <p:nvSpPr>
          <p:cNvPr id="46" name="텍스트 46: • ‘법 개정으로 사업승인 확정’처럼 결과 단정"/>
          <p:cNvSpPr txBox="1"/>
          <p:nvPr/>
        </p:nvSpPr>
        <p:spPr>
          <a:xfrm>
            <a:off x="6681216" y="5694295"/>
            <a:ext cx="237366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87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87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‘법 개정으로 사업승인 확정’처럼 결과 단정</a:t>
            </a:r>
          </a:p>
        </p:txBody>
      </p:sp>
      <p:sp>
        <p:nvSpPr>
          <p:cNvPr id="47" name="텍스트 47: 자료: 국가법령정보센터(주택법 시행령·시행규칙 2026"/>
          <p:cNvSpPr txBox="1"/>
          <p:nvPr/>
        </p:nvSpPr>
        <p:spPr>
          <a:xfrm>
            <a:off x="4825872" y="6453798"/>
            <a:ext cx="461102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47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자료: 국가법령정보센터(주택법 시행령·시행규칙 2026.6.23), 국토교통부 발표(2026.4.20, 8.26),</a:t>
            </a:r>
          </a:p>
        </p:txBody>
      </p:sp>
      <p:sp>
        <p:nvSpPr>
          <p:cNvPr id="48" name="텍스트 48: 한국경제·법률신문(2026.8)"/>
          <p:cNvSpPr txBox="1"/>
          <p:nvPr/>
        </p:nvSpPr>
        <p:spPr>
          <a:xfrm>
            <a:off x="8090661" y="6604674"/>
            <a:ext cx="134677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4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한국경제·법률신문(2026.8)</a:t>
            </a:r>
          </a:p>
        </p:txBody>
      </p:sp>
      <p:sp>
        <p:nvSpPr>
          <p:cNvPr id="49" name="텍스트 49: 68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5  ·  PART A │ 즉시 적용 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7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즉시 적용 ① 조합원 자격 기준 (시행령·시행규칙, 2026.6.23 시행)</a:t>
            </a:r>
          </a:p>
        </p:txBody>
      </p:sp>
      <p:sp>
        <p:nvSpPr>
          <p:cNvPr id="3" name="텍스트 3: 6월 23일부터 조합원 자격 기준 정비, 즉시 적용"/>
          <p:cNvSpPr txBox="1"/>
          <p:nvPr/>
        </p:nvSpPr>
        <p:spPr>
          <a:xfrm>
            <a:off x="304800" y="629209"/>
            <a:ext cx="7840274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6월 23일부터 조합원 자격 기준 정비, 즉시 적용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충원 ‘가입 신청일’ 기준, 세대주·상속 구제, 분양권은 유주택</a:t>
            </a:r>
          </a:p>
        </p:txBody>
      </p:sp>
      <p:sp>
        <p:nvSpPr>
          <p:cNvPr id="4" name="텍스트 4: 01"/>
          <p:cNvSpPr txBox="1"/>
          <p:nvPr/>
        </p:nvSpPr>
        <p:spPr>
          <a:xfrm>
            <a:off x="508101" y="2036099"/>
            <a:ext cx="29623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8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텍스트 5: 충원 조합원 자격 기준일"/>
          <p:cNvSpPr txBox="1"/>
          <p:nvPr/>
        </p:nvSpPr>
        <p:spPr>
          <a:xfrm>
            <a:off x="940003" y="2054575"/>
            <a:ext cx="171575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충원 조합원 자격 기준일</a:t>
            </a:r>
          </a:p>
        </p:txBody>
      </p:sp>
      <p:sp>
        <p:nvSpPr>
          <p:cNvPr id="6" name="텍스트 6: 기존 탈퇴·사망 등 결원 충원도 조합설립인가 신청일 기"/>
          <p:cNvSpPr txBox="1"/>
          <p:nvPr/>
        </p:nvSpPr>
        <p:spPr>
          <a:xfrm>
            <a:off x="508101" y="2399936"/>
            <a:ext cx="326376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1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기존 </a:t>
            </a:r>
            <a:r>
              <a:rPr lang="ko-KR" altLang="en-US" sz="1148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탈퇴·사망 등 결원 충원도 조합설립인가 신청일 기준</a:t>
            </a:r>
          </a:p>
        </p:txBody>
      </p:sp>
      <p:sp>
        <p:nvSpPr>
          <p:cNvPr id="7" name="텍스트 7: 개정 ‘조합 가입 신청일’ 기준 (신규 추가모집은 종전"/>
          <p:cNvSpPr txBox="1"/>
          <p:nvPr/>
        </p:nvSpPr>
        <p:spPr>
          <a:xfrm>
            <a:off x="508101" y="2669384"/>
            <a:ext cx="3963600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11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개정 </a:t>
            </a:r>
            <a:r>
              <a:rPr lang="ko-KR" altLang="en-US" sz="1154" b="0" spc="-114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‘조합 가입 신청일’ 기준 (신규 추가모집은 종전대로 인가 신청일)</a:t>
            </a:r>
          </a:p>
        </p:txBody>
      </p:sp>
      <p:sp>
        <p:nvSpPr>
          <p:cNvPr id="8" name="텍스트 8: 02"/>
          <p:cNvSpPr txBox="1"/>
          <p:nvPr/>
        </p:nvSpPr>
        <p:spPr>
          <a:xfrm>
            <a:off x="5138039" y="2036099"/>
            <a:ext cx="29623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8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9" name="텍스트 9: 세대주 자격 일시 상실"/>
          <p:cNvSpPr txBox="1"/>
          <p:nvPr/>
        </p:nvSpPr>
        <p:spPr>
          <a:xfrm>
            <a:off x="5569965" y="2054575"/>
            <a:ext cx="155873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8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세대주 자격 일시 상실</a:t>
            </a:r>
          </a:p>
        </p:txBody>
      </p:sp>
      <p:sp>
        <p:nvSpPr>
          <p:cNvPr id="10" name="텍스트 10: 기존 근무지 이전·결혼 등으로 세대주 상실 시 자격 상"/>
          <p:cNvSpPr txBox="1"/>
          <p:nvPr/>
        </p:nvSpPr>
        <p:spPr>
          <a:xfrm>
            <a:off x="5138039" y="2399936"/>
            <a:ext cx="316773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3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기존 </a:t>
            </a:r>
            <a:r>
              <a:rPr lang="ko-KR" altLang="en-US" sz="1151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근무지 이전·결혼 등으로 세대주 상실 시 자격 상실</a:t>
            </a:r>
          </a:p>
        </p:txBody>
      </p:sp>
      <p:sp>
        <p:nvSpPr>
          <p:cNvPr id="11" name="텍스트 11: 개정 부득이한 사유 후 세대주 회복 시 조합원 자격도 "/>
          <p:cNvSpPr txBox="1"/>
          <p:nvPr/>
        </p:nvSpPr>
        <p:spPr>
          <a:xfrm>
            <a:off x="5138039" y="2669384"/>
            <a:ext cx="3285346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8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개정 </a:t>
            </a:r>
            <a:r>
              <a:rPr lang="ko-KR" altLang="en-US" sz="1146" b="0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부득이한 사유 후 세대주 회복 시 조합원 자격도 회복</a:t>
            </a:r>
          </a:p>
        </p:txBody>
      </p:sp>
      <p:sp>
        <p:nvSpPr>
          <p:cNvPr id="12" name="텍스트 12: 03"/>
          <p:cNvSpPr txBox="1"/>
          <p:nvPr/>
        </p:nvSpPr>
        <p:spPr>
          <a:xfrm>
            <a:off x="508101" y="3535080"/>
            <a:ext cx="29623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8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3" name="텍스트 13: 분양권 보유 = 주택 소유"/>
          <p:cNvSpPr txBox="1"/>
          <p:nvPr/>
        </p:nvSpPr>
        <p:spPr>
          <a:xfrm>
            <a:off x="940003" y="3553556"/>
            <a:ext cx="171575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3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분양권 보유 = 주택 소유</a:t>
            </a:r>
          </a:p>
        </p:txBody>
      </p:sp>
      <p:sp>
        <p:nvSpPr>
          <p:cNvPr id="14" name="텍스트 14: 기존 청약 당첨자 지위 기준으로 주택 소유 판단"/>
          <p:cNvSpPr txBox="1"/>
          <p:nvPr/>
        </p:nvSpPr>
        <p:spPr>
          <a:xfrm>
            <a:off x="508101" y="3898917"/>
            <a:ext cx="2707126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기존 </a:t>
            </a:r>
            <a:r>
              <a:rPr lang="ko-KR" altLang="en-US" sz="1147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청약 당첨자 지위 기준으로 주택 소유 판단</a:t>
            </a:r>
          </a:p>
        </p:txBody>
      </p:sp>
      <p:sp>
        <p:nvSpPr>
          <p:cNvPr id="15" name="텍스트 15: 개정 분양권 등 보유 시 주택 소유로 판단 → 무주택 "/>
          <p:cNvSpPr txBox="1"/>
          <p:nvPr/>
        </p:nvSpPr>
        <p:spPr>
          <a:xfrm>
            <a:off x="508101" y="4168664"/>
            <a:ext cx="389470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9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개정 </a:t>
            </a:r>
            <a:r>
              <a:rPr lang="ko-KR" altLang="en-US" sz="1137" b="0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분양권 등 보유 시 주택 소유로 판단 → 무주택 심사 시 확인 필수</a:t>
            </a:r>
          </a:p>
        </p:txBody>
      </p:sp>
      <p:sp>
        <p:nvSpPr>
          <p:cNvPr id="16" name="텍스트 16: 04"/>
          <p:cNvSpPr txBox="1"/>
          <p:nvPr/>
        </p:nvSpPr>
        <p:spPr>
          <a:xfrm>
            <a:off x="5138039" y="3535080"/>
            <a:ext cx="29623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8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7" name="텍스트 17: 상속·유증·혼인 취득 주택"/>
          <p:cNvSpPr txBox="1"/>
          <p:nvPr/>
        </p:nvSpPr>
        <p:spPr>
          <a:xfrm>
            <a:off x="5569965" y="3553556"/>
            <a:ext cx="179038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3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상속·유증·혼인 취득 주택</a:t>
            </a:r>
          </a:p>
        </p:txBody>
      </p:sp>
      <p:sp>
        <p:nvSpPr>
          <p:cNvPr id="18" name="텍스트 18: 기존 전매제한 주택 취득 시 처분 곤란, 자격 상실 위"/>
          <p:cNvSpPr txBox="1"/>
          <p:nvPr/>
        </p:nvSpPr>
        <p:spPr>
          <a:xfrm>
            <a:off x="5138039" y="3898917"/>
            <a:ext cx="306409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2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기존 </a:t>
            </a:r>
            <a:r>
              <a:rPr lang="ko-KR" altLang="en-US" sz="1150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전매제한 주택 취득 시 처분 곤란, 자격 상실 위험</a:t>
            </a:r>
          </a:p>
        </p:txBody>
      </p:sp>
      <p:sp>
        <p:nvSpPr>
          <p:cNvPr id="19" name="텍스트 19: 개정 부적격 통보일 등부터 6개월 내 처분 시 자격 유"/>
          <p:cNvSpPr txBox="1"/>
          <p:nvPr/>
        </p:nvSpPr>
        <p:spPr>
          <a:xfrm>
            <a:off x="5138039" y="4168664"/>
            <a:ext cx="312505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11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개정 </a:t>
            </a:r>
            <a:r>
              <a:rPr lang="ko-KR" altLang="en-US" sz="1152" b="0" spc="-112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부적격 통보일 등부터 6개월 내 처분 시 자격 유지</a:t>
            </a:r>
          </a:p>
        </p:txBody>
      </p:sp>
      <p:sp>
        <p:nvSpPr>
          <p:cNvPr id="20" name="텍스트 20: 상담 활용"/>
          <p:cNvSpPr txBox="1"/>
          <p:nvPr/>
        </p:nvSpPr>
        <p:spPr>
          <a:xfrm>
            <a:off x="502919" y="5426046"/>
            <a:ext cx="64450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3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 활용</a:t>
            </a:r>
          </a:p>
        </p:txBody>
      </p:sp>
      <p:sp>
        <p:nvSpPr>
          <p:cNvPr id="21" name="텍스트 21: 영업 TIP"/>
          <p:cNvSpPr txBox="1"/>
          <p:nvPr/>
        </p:nvSpPr>
        <p:spPr>
          <a:xfrm>
            <a:off x="573023" y="5647966"/>
            <a:ext cx="50339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영업 TIP</a:t>
            </a:r>
          </a:p>
        </p:txBody>
      </p:sp>
      <p:sp>
        <p:nvSpPr>
          <p:cNvPr id="22" name="텍스트 22: 이렇게 말하면 유리"/>
          <p:cNvSpPr txBox="1"/>
          <p:nvPr/>
        </p:nvSpPr>
        <p:spPr>
          <a:xfrm>
            <a:off x="1524253" y="5031630"/>
            <a:ext cx="111731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이렇게 말하면 유리</a:t>
            </a:r>
          </a:p>
        </p:txBody>
      </p:sp>
      <p:sp>
        <p:nvSpPr>
          <p:cNvPr id="23" name="텍스트 23: • “결혼·근무지 이전으로 세대주가 잠시 바뀌어도, 다"/>
          <p:cNvSpPr txBox="1"/>
          <p:nvPr/>
        </p:nvSpPr>
        <p:spPr>
          <a:xfrm>
            <a:off x="1524253" y="5267738"/>
            <a:ext cx="446233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8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0" spc="-108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“결혼·근무지 이전으로 세대주가 잠시 바뀌어도, 다시 회복하시면 조합원 자격은</a:t>
            </a:r>
          </a:p>
        </p:txBody>
      </p:sp>
      <p:sp>
        <p:nvSpPr>
          <p:cNvPr id="24" name="텍스트 24: 유지됩니다.”"/>
          <p:cNvSpPr txBox="1"/>
          <p:nvPr/>
        </p:nvSpPr>
        <p:spPr>
          <a:xfrm>
            <a:off x="1664461" y="5465807"/>
            <a:ext cx="74064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88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유지됩니다.”</a:t>
            </a:r>
          </a:p>
        </p:txBody>
      </p:sp>
      <p:sp>
        <p:nvSpPr>
          <p:cNvPr id="25" name="텍스트 25: • “상속·혼인으로 집이 생겨도 6개월 안에 처분하시면"/>
          <p:cNvSpPr txBox="1"/>
          <p:nvPr/>
        </p:nvSpPr>
        <p:spPr>
          <a:xfrm>
            <a:off x="1524253" y="5713920"/>
            <a:ext cx="4377683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99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6" b="0" spc="-99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“상속·혼인으로 집이 생겨도 6개월 안에 처분하시면 자격 유지가 가능합니다.”</a:t>
            </a:r>
          </a:p>
        </p:txBody>
      </p:sp>
      <p:sp>
        <p:nvSpPr>
          <p:cNvPr id="26" name="텍스트 26: 이렇게 말하면 위험"/>
          <p:cNvSpPr txBox="1"/>
          <p:nvPr/>
        </p:nvSpPr>
        <p:spPr>
          <a:xfrm>
            <a:off x="6681216" y="5031630"/>
            <a:ext cx="111756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이렇게 말하면 위험</a:t>
            </a:r>
          </a:p>
        </p:txBody>
      </p:sp>
      <p:sp>
        <p:nvSpPr>
          <p:cNvPr id="27" name="텍스트 27: • 분양권 보유 고객을 ‘무주택’으로 안내 → 계약"/>
          <p:cNvSpPr txBox="1"/>
          <p:nvPr/>
        </p:nvSpPr>
        <p:spPr>
          <a:xfrm>
            <a:off x="6681216" y="5266102"/>
            <a:ext cx="249101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7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97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분양권 보유 고객을 ‘무주택’으로 안내 → 계약</a:t>
            </a:r>
          </a:p>
        </p:txBody>
      </p:sp>
      <p:sp>
        <p:nvSpPr>
          <p:cNvPr id="28" name="텍스트 28: 후 부적격 위험"/>
          <p:cNvSpPr txBox="1"/>
          <p:nvPr/>
        </p:nvSpPr>
        <p:spPr>
          <a:xfrm>
            <a:off x="6821423" y="5455078"/>
            <a:ext cx="78832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후 부적격 위험</a:t>
            </a:r>
          </a:p>
        </p:txBody>
      </p:sp>
      <p:sp>
        <p:nvSpPr>
          <p:cNvPr id="29" name="텍스트 29: • 자격 판단 없이 “누구나 가입 가능” 표현"/>
          <p:cNvSpPr txBox="1"/>
          <p:nvPr/>
        </p:nvSpPr>
        <p:spPr>
          <a:xfrm>
            <a:off x="6681216" y="5694295"/>
            <a:ext cx="222423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6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7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자격 판단 없이 “누구나 가입 가능” 표현</a:t>
            </a:r>
          </a:p>
        </p:txBody>
      </p:sp>
      <p:sp>
        <p:nvSpPr>
          <p:cNvPr id="30" name="텍스트 30: 자료: 국가법령정보센터(주택법 시행령 제21조, 시행규"/>
          <p:cNvSpPr txBox="1"/>
          <p:nvPr/>
        </p:nvSpPr>
        <p:spPr>
          <a:xfrm>
            <a:off x="4234307" y="6453798"/>
            <a:ext cx="520293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53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자료: 국가법령정보센터(주택법 시행령 제21조, 시행규칙 제8조, 2026.6.23), 국토교통부 입법예고(2025.6.24)</a:t>
            </a:r>
          </a:p>
        </p:txBody>
      </p:sp>
      <p:sp>
        <p:nvSpPr>
          <p:cNvPr id="31" name="텍스트 31: 69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5  ·  PART A │ 즉시 적용 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즉시 적용 ② 사업승인 80% · 매도청구 (주택법 개정, 2026.8.20 국회 통과)</a:t>
            </a:r>
          </a:p>
        </p:txBody>
      </p:sp>
      <p:sp>
        <p:nvSpPr>
          <p:cNvPr id="3" name="텍스트 3: 사업승인 토지 소유권 기준 95% → 80% 완화"/>
          <p:cNvSpPr txBox="1"/>
          <p:nvPr/>
        </p:nvSpPr>
        <p:spPr>
          <a:xfrm>
            <a:off x="304800" y="629209"/>
            <a:ext cx="7389173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사업승인 토지 소유권 기준 95% → 80% 완화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‘알박기’ 부담 감소, 시공사·대행사 토지도 매도청구 가능</a:t>
            </a:r>
          </a:p>
        </p:txBody>
      </p:sp>
      <p:sp>
        <p:nvSpPr>
          <p:cNvPr id="4" name="텍스트 4: 사업계획승인 토지 소유권 확보 기준"/>
          <p:cNvSpPr txBox="1"/>
          <p:nvPr/>
        </p:nvSpPr>
        <p:spPr>
          <a:xfrm>
            <a:off x="304800" y="1907382"/>
            <a:ext cx="254171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사업계획승인 토지 소유권 확보 기준</a:t>
            </a:r>
          </a:p>
        </p:txBody>
      </p:sp>
      <p:sp>
        <p:nvSpPr>
          <p:cNvPr id="5" name="텍스트 5: 기존"/>
          <p:cNvSpPr txBox="1"/>
          <p:nvPr/>
        </p:nvSpPr>
        <p:spPr>
          <a:xfrm>
            <a:off x="304800" y="2236756"/>
            <a:ext cx="27222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기존</a:t>
            </a:r>
          </a:p>
        </p:txBody>
      </p:sp>
      <p:sp>
        <p:nvSpPr>
          <p:cNvPr id="6" name="텍스트 6: 95%"/>
          <p:cNvSpPr txBox="1"/>
          <p:nvPr/>
        </p:nvSpPr>
        <p:spPr>
          <a:xfrm>
            <a:off x="4217161" y="2451215"/>
            <a:ext cx="531455" cy="2600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6" b="1" spc="99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95%</a:t>
            </a:r>
          </a:p>
        </p:txBody>
      </p:sp>
      <p:sp>
        <p:nvSpPr>
          <p:cNvPr id="7" name="텍스트 7: 개정 (공포 즉시 시행)"/>
          <p:cNvSpPr txBox="1"/>
          <p:nvPr/>
        </p:nvSpPr>
        <p:spPr>
          <a:xfrm>
            <a:off x="304800" y="2846610"/>
            <a:ext cx="1189154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1" b="1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개정 (공포 즉시 시행)</a:t>
            </a:r>
          </a:p>
        </p:txBody>
      </p:sp>
      <p:sp>
        <p:nvSpPr>
          <p:cNvPr id="8" name="텍스트 8: 80%"/>
          <p:cNvSpPr txBox="1"/>
          <p:nvPr/>
        </p:nvSpPr>
        <p:spPr>
          <a:xfrm>
            <a:off x="4217161" y="3061368"/>
            <a:ext cx="531151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1" spc="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9" name="텍스트 9: 기존 문제 마지막 5% 소수 토지주의 버티기(알박기)로"/>
          <p:cNvSpPr txBox="1"/>
          <p:nvPr/>
        </p:nvSpPr>
        <p:spPr>
          <a:xfrm>
            <a:off x="457200" y="3673364"/>
            <a:ext cx="4015074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11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기존 문제 </a:t>
            </a:r>
            <a:r>
              <a:rPr lang="ko-KR" altLang="en-US" sz="1152" b="0" spc="-11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마지막 5% 소수 토지주의 버티기(알박기)로 사업 장기 지연</a:t>
            </a:r>
          </a:p>
        </p:txBody>
      </p:sp>
      <p:sp>
        <p:nvSpPr>
          <p:cNvPr id="10" name="텍스트 10: 개정 효과 소유권 80%에서 사업승인 신청, 잔여 토지"/>
          <p:cNvSpPr txBox="1"/>
          <p:nvPr/>
        </p:nvSpPr>
        <p:spPr>
          <a:xfrm>
            <a:off x="457200" y="3959876"/>
            <a:ext cx="418423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10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개정 효과 </a:t>
            </a:r>
            <a:r>
              <a:rPr lang="ko-KR" altLang="en-US" sz="1152" b="0" spc="-108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소유권 80%에서 사업승인 신청, 잔여 토지는 매도청구로 확보</a:t>
            </a:r>
          </a:p>
        </p:txBody>
      </p:sp>
      <p:sp>
        <p:nvSpPr>
          <p:cNvPr id="11" name="텍스트 11: 헬로우시티 사업승인 신청 전 조합으로 80% 기준 적용"/>
          <p:cNvSpPr txBox="1"/>
          <p:nvPr/>
        </p:nvSpPr>
        <p:spPr>
          <a:xfrm>
            <a:off x="457200" y="4246388"/>
            <a:ext cx="3474054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104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헬로우시티 </a:t>
            </a:r>
            <a:r>
              <a:rPr lang="ko-KR" altLang="en-US" sz="1152" b="0" spc="-104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사업승인 신청 전 조합으로 80% 기준 적용 대상</a:t>
            </a:r>
          </a:p>
        </p:txBody>
      </p:sp>
      <p:sp>
        <p:nvSpPr>
          <p:cNvPr id="12" name="텍스트 12: 매도청구 범위 확대 · 공포 6개월 후 시행"/>
          <p:cNvSpPr txBox="1"/>
          <p:nvPr/>
        </p:nvSpPr>
        <p:spPr>
          <a:xfrm>
            <a:off x="5436361" y="1906571"/>
            <a:ext cx="212042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10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매도청구 범위 확대 · 공포 6개월 후 시행</a:t>
            </a:r>
          </a:p>
        </p:txBody>
      </p:sp>
      <p:sp>
        <p:nvSpPr>
          <p:cNvPr id="13" name="텍스트 13: 시공사 · 업무대행사 토지도 매도청구"/>
          <p:cNvSpPr txBox="1"/>
          <p:nvPr/>
        </p:nvSpPr>
        <p:spPr>
          <a:xfrm>
            <a:off x="5436361" y="2110029"/>
            <a:ext cx="2598502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7" b="1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시공사 · 업무대행사 토지도 매도청구</a:t>
            </a:r>
          </a:p>
        </p:txBody>
      </p:sp>
      <p:sp>
        <p:nvSpPr>
          <p:cNvPr id="14" name="텍스트 14: • 기존 장기 보유 토지는 매도청구 대상에서 제외되는 "/>
          <p:cNvSpPr txBox="1"/>
          <p:nvPr/>
        </p:nvSpPr>
        <p:spPr>
          <a:xfrm>
            <a:off x="5436361" y="2425589"/>
            <a:ext cx="336127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3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1" spc="-103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 기존 </a:t>
            </a:r>
            <a:r>
              <a:rPr lang="ko-KR" altLang="en-US" sz="1152" b="0" spc="-103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장기 보유 토지는 매도청구 대상에서 제외되는 제한</a:t>
            </a:r>
          </a:p>
        </p:txBody>
      </p:sp>
      <p:sp>
        <p:nvSpPr>
          <p:cNvPr id="15" name="텍스트 15: • 개정 시공사·대행사 보유 토지는 보유 기간 무관 매"/>
          <p:cNvSpPr txBox="1"/>
          <p:nvPr/>
        </p:nvSpPr>
        <p:spPr>
          <a:xfrm>
            <a:off x="5436361" y="2683145"/>
            <a:ext cx="369351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2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1" spc="-10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 개정 </a:t>
            </a:r>
            <a:r>
              <a:rPr lang="ko-KR" altLang="en-US" sz="1152" b="0" spc="-102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시공사·대행사 보유 토지는 보유 기간 무관 매도청구 가능</a:t>
            </a:r>
          </a:p>
        </p:txBody>
      </p:sp>
      <p:sp>
        <p:nvSpPr>
          <p:cNvPr id="16" name="텍스트 16: 매도청구 기본 절차 (주택법 제22조)"/>
          <p:cNvSpPr txBox="1"/>
          <p:nvPr/>
        </p:nvSpPr>
        <p:spPr>
          <a:xfrm>
            <a:off x="5436361" y="3583225"/>
            <a:ext cx="193554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94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매도청구 기본 절차 (주택법 제22조)</a:t>
            </a:r>
          </a:p>
        </p:txBody>
      </p:sp>
      <p:sp>
        <p:nvSpPr>
          <p:cNvPr id="17" name="텍스트 17: 사업승인 → 3개월 협의 → 시가 매도청구"/>
          <p:cNvSpPr txBox="1"/>
          <p:nvPr/>
        </p:nvSpPr>
        <p:spPr>
          <a:xfrm>
            <a:off x="5436361" y="3787363"/>
            <a:ext cx="282098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67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사업승인 → 3개월 협의 → 시가 매도청구</a:t>
            </a:r>
          </a:p>
        </p:txBody>
      </p:sp>
      <p:sp>
        <p:nvSpPr>
          <p:cNvPr id="18" name="텍스트 18: • 사업계획승인 이후 청구 가능"/>
          <p:cNvSpPr txBox="1"/>
          <p:nvPr/>
        </p:nvSpPr>
        <p:spPr>
          <a:xfrm>
            <a:off x="5436361" y="4102244"/>
            <a:ext cx="1803496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97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97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사업계획승인 이후 청구 가능</a:t>
            </a:r>
          </a:p>
        </p:txBody>
      </p:sp>
      <p:sp>
        <p:nvSpPr>
          <p:cNvPr id="19" name="텍스트 19: • 청구 전 토지주와 3개월 이상 협의 필수"/>
          <p:cNvSpPr txBox="1"/>
          <p:nvPr/>
        </p:nvSpPr>
        <p:spPr>
          <a:xfrm>
            <a:off x="5436361" y="4359800"/>
            <a:ext cx="2381346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9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9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청구 전 토지주와 3개월 이상 협의 필수</a:t>
            </a:r>
          </a:p>
        </p:txBody>
      </p:sp>
      <p:sp>
        <p:nvSpPr>
          <p:cNvPr id="20" name="텍스트 20: 상담 활용"/>
          <p:cNvSpPr txBox="1"/>
          <p:nvPr/>
        </p:nvSpPr>
        <p:spPr>
          <a:xfrm>
            <a:off x="502919" y="5426046"/>
            <a:ext cx="64450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3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 활용</a:t>
            </a:r>
          </a:p>
        </p:txBody>
      </p:sp>
      <p:sp>
        <p:nvSpPr>
          <p:cNvPr id="21" name="텍스트 21: 영업 TIP"/>
          <p:cNvSpPr txBox="1"/>
          <p:nvPr/>
        </p:nvSpPr>
        <p:spPr>
          <a:xfrm>
            <a:off x="573023" y="5647966"/>
            <a:ext cx="50339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영업 TIP</a:t>
            </a:r>
          </a:p>
        </p:txBody>
      </p:sp>
      <p:sp>
        <p:nvSpPr>
          <p:cNvPr id="22" name="텍스트 22: 이렇게 말하면 유리"/>
          <p:cNvSpPr txBox="1"/>
          <p:nvPr/>
        </p:nvSpPr>
        <p:spPr>
          <a:xfrm>
            <a:off x="1524253" y="5031630"/>
            <a:ext cx="111731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이렇게 말하면 유리</a:t>
            </a:r>
          </a:p>
        </p:txBody>
      </p:sp>
      <p:sp>
        <p:nvSpPr>
          <p:cNvPr id="23" name="텍스트 23: • “예전엔 땅 95%를 가져야 사업승인이 났지만, 이"/>
          <p:cNvSpPr txBox="1"/>
          <p:nvPr/>
        </p:nvSpPr>
        <p:spPr>
          <a:xfrm>
            <a:off x="1524253" y="5267738"/>
            <a:ext cx="4786950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88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0" spc="-88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“예전엔 땅 95%를 가져야 사업승인이 났지만, 이제 80%면 신청 가능해 사업 속도가</a:t>
            </a:r>
          </a:p>
        </p:txBody>
      </p:sp>
      <p:sp>
        <p:nvSpPr>
          <p:cNvPr id="24" name="텍스트 24: 빨라지는 구조입니다.”"/>
          <p:cNvSpPr txBox="1"/>
          <p:nvPr/>
        </p:nvSpPr>
        <p:spPr>
          <a:xfrm>
            <a:off x="1664461" y="5465807"/>
            <a:ext cx="126070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빨라지는 구조입니다.”</a:t>
            </a:r>
          </a:p>
        </p:txBody>
      </p:sp>
      <p:sp>
        <p:nvSpPr>
          <p:cNvPr id="25" name="텍스트 25: • “끝까지 안 파는 땅은 법으로 매도청구가 가능해, "/>
          <p:cNvSpPr txBox="1"/>
          <p:nvPr/>
        </p:nvSpPr>
        <p:spPr>
          <a:xfrm>
            <a:off x="1524253" y="5713920"/>
            <a:ext cx="4235530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110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6" b="0" spc="-11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“끝까지 안 파는 땅은 법으로 매도청구가 가능해, 알박기로 멈출 위험이 크게</a:t>
            </a:r>
          </a:p>
        </p:txBody>
      </p:sp>
      <p:sp>
        <p:nvSpPr>
          <p:cNvPr id="26" name="텍스트 26: 줄었습니다.”"/>
          <p:cNvSpPr txBox="1"/>
          <p:nvPr/>
        </p:nvSpPr>
        <p:spPr>
          <a:xfrm>
            <a:off x="1664461" y="5911120"/>
            <a:ext cx="74064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88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줄었습니다.”</a:t>
            </a:r>
          </a:p>
        </p:txBody>
      </p:sp>
      <p:sp>
        <p:nvSpPr>
          <p:cNvPr id="27" name="텍스트 27: 이렇게 말하면 위험"/>
          <p:cNvSpPr txBox="1"/>
          <p:nvPr/>
        </p:nvSpPr>
        <p:spPr>
          <a:xfrm>
            <a:off x="6681216" y="5031630"/>
            <a:ext cx="111756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이렇게 말하면 위험</a:t>
            </a:r>
          </a:p>
        </p:txBody>
      </p:sp>
      <p:sp>
        <p:nvSpPr>
          <p:cNvPr id="28" name="텍스트 28: • “사업승인 확정”, “입주 시기 확정” 등 단정"/>
          <p:cNvSpPr txBox="1"/>
          <p:nvPr/>
        </p:nvSpPr>
        <p:spPr>
          <a:xfrm>
            <a:off x="6681216" y="5266102"/>
            <a:ext cx="238128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62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62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“사업승인 확정”, “입주 시기 확정” 등 단정</a:t>
            </a:r>
          </a:p>
        </p:txBody>
      </p:sp>
      <p:sp>
        <p:nvSpPr>
          <p:cNvPr id="29" name="텍스트 29: 표현"/>
          <p:cNvSpPr txBox="1"/>
          <p:nvPr/>
        </p:nvSpPr>
        <p:spPr>
          <a:xfrm>
            <a:off x="6821423" y="5455078"/>
            <a:ext cx="26107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1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표현</a:t>
            </a:r>
          </a:p>
        </p:txBody>
      </p:sp>
      <p:sp>
        <p:nvSpPr>
          <p:cNvPr id="30" name="텍스트 30: • → “앞당겨질 수 있음”, “일정 단축 기대”로 안"/>
          <p:cNvSpPr txBox="1"/>
          <p:nvPr/>
        </p:nvSpPr>
        <p:spPr>
          <a:xfrm>
            <a:off x="6681216" y="5694295"/>
            <a:ext cx="261598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5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7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→ “앞당겨질 수 있음”, “일정 단축 기대”로 안내</a:t>
            </a:r>
          </a:p>
        </p:txBody>
      </p:sp>
      <p:sp>
        <p:nvSpPr>
          <p:cNvPr id="31" name="텍스트 31: 막대는 비율 도식 자료: 한국경제(2026.8.26, "/>
          <p:cNvSpPr txBox="1"/>
          <p:nvPr/>
        </p:nvSpPr>
        <p:spPr>
          <a:xfrm>
            <a:off x="4536313" y="6453798"/>
            <a:ext cx="490131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47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막대는 비율 도식 자료: 한국경제(2026.8.26, 국토교통부 발표), 국토교통부(2026.4.20), 주택법 제22조</a:t>
            </a:r>
          </a:p>
        </p:txBody>
      </p:sp>
      <p:sp>
        <p:nvSpPr>
          <p:cNvPr id="32" name="텍스트 32: 7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5  ·  PART B │ 지주택 사업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7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지주택 사업 6단계 한눈에</a:t>
            </a:r>
          </a:p>
        </p:txBody>
      </p:sp>
      <p:sp>
        <p:nvSpPr>
          <p:cNvPr id="3" name="텍스트 3: 토지 50% → 80%·15% → 80% → 100% "/>
          <p:cNvSpPr txBox="1"/>
          <p:nvPr/>
        </p:nvSpPr>
        <p:spPr>
          <a:xfrm>
            <a:off x="304800" y="629209"/>
            <a:ext cx="7675953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83" b="1" spc="-22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 50% → 80%·15% → 80% → 100% 확보에 따라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8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모집 → 조합설립 → 사업승인 → 착공 → 입주 → 해산</a:t>
            </a:r>
          </a:p>
        </p:txBody>
      </p:sp>
      <p:sp>
        <p:nvSpPr>
          <p:cNvPr id="4" name="텍스트 4: 1단계"/>
          <p:cNvSpPr txBox="1"/>
          <p:nvPr/>
        </p:nvSpPr>
        <p:spPr>
          <a:xfrm>
            <a:off x="869289" y="1987267"/>
            <a:ext cx="42474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1단계</a:t>
            </a:r>
          </a:p>
        </p:txBody>
      </p:sp>
      <p:sp>
        <p:nvSpPr>
          <p:cNvPr id="5" name="텍스트 5: 확보 요건"/>
          <p:cNvSpPr txBox="1"/>
          <p:nvPr/>
        </p:nvSpPr>
        <p:spPr>
          <a:xfrm>
            <a:off x="406603" y="2441355"/>
            <a:ext cx="49942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확보 요건</a:t>
            </a:r>
          </a:p>
        </p:txBody>
      </p:sp>
      <p:sp>
        <p:nvSpPr>
          <p:cNvPr id="6" name="텍스트 6: 토지 사용권원"/>
          <p:cNvSpPr txBox="1"/>
          <p:nvPr/>
        </p:nvSpPr>
        <p:spPr>
          <a:xfrm>
            <a:off x="406603" y="2617456"/>
            <a:ext cx="79370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1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토지 사용권원</a:t>
            </a:r>
          </a:p>
        </p:txBody>
      </p:sp>
      <p:sp>
        <p:nvSpPr>
          <p:cNvPr id="7" name="텍스트 7: 50%"/>
          <p:cNvSpPr txBox="1"/>
          <p:nvPr/>
        </p:nvSpPr>
        <p:spPr>
          <a:xfrm>
            <a:off x="406603" y="2830419"/>
            <a:ext cx="617981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11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8" name="텍스트 8: 절차"/>
          <p:cNvSpPr txBox="1"/>
          <p:nvPr/>
        </p:nvSpPr>
        <p:spPr>
          <a:xfrm>
            <a:off x="406603" y="3660809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</p:txBody>
      </p:sp>
      <p:sp>
        <p:nvSpPr>
          <p:cNvPr id="9" name="텍스트 9: 조합원 모집신고"/>
          <p:cNvSpPr txBox="1"/>
          <p:nvPr/>
        </p:nvSpPr>
        <p:spPr>
          <a:xfrm>
            <a:off x="406603" y="3837545"/>
            <a:ext cx="103965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9" b="1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 모집신고</a:t>
            </a:r>
          </a:p>
        </p:txBody>
      </p:sp>
      <p:sp>
        <p:nvSpPr>
          <p:cNvPr id="10" name="텍스트 10: 신고 수리 후 공개모집"/>
          <p:cNvSpPr txBox="1"/>
          <p:nvPr/>
        </p:nvSpPr>
        <p:spPr>
          <a:xfrm>
            <a:off x="406603" y="4090463"/>
            <a:ext cx="116907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신고 수리 후 공개모집</a:t>
            </a:r>
          </a:p>
        </p:txBody>
      </p:sp>
      <p:sp>
        <p:nvSpPr>
          <p:cNvPr id="11" name="텍스트 11: 헬로우시티 현재"/>
          <p:cNvSpPr txBox="1"/>
          <p:nvPr/>
        </p:nvSpPr>
        <p:spPr>
          <a:xfrm>
            <a:off x="627887" y="4511836"/>
            <a:ext cx="83196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7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헬로우시티 현재</a:t>
            </a:r>
          </a:p>
        </p:txBody>
      </p:sp>
      <p:sp>
        <p:nvSpPr>
          <p:cNvPr id="12" name="텍스트 12: 2단계"/>
          <p:cNvSpPr txBox="1"/>
          <p:nvPr/>
        </p:nvSpPr>
        <p:spPr>
          <a:xfrm>
            <a:off x="2425954" y="1987267"/>
            <a:ext cx="42474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</p:txBody>
      </p:sp>
      <p:sp>
        <p:nvSpPr>
          <p:cNvPr id="13" name="텍스트 13: 확보 요건"/>
          <p:cNvSpPr txBox="1"/>
          <p:nvPr/>
        </p:nvSpPr>
        <p:spPr>
          <a:xfrm>
            <a:off x="1937004" y="2441355"/>
            <a:ext cx="49942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확보 요건</a:t>
            </a:r>
          </a:p>
        </p:txBody>
      </p:sp>
      <p:sp>
        <p:nvSpPr>
          <p:cNvPr id="14" name="텍스트 14: 사용권원 80%"/>
          <p:cNvSpPr txBox="1"/>
          <p:nvPr/>
        </p:nvSpPr>
        <p:spPr>
          <a:xfrm>
            <a:off x="1937004" y="2617456"/>
            <a:ext cx="871638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61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사용권원 80%</a:t>
            </a:r>
          </a:p>
        </p:txBody>
      </p:sp>
      <p:sp>
        <p:nvSpPr>
          <p:cNvPr id="15" name="텍스트 15: 소유권 15%"/>
          <p:cNvSpPr txBox="1"/>
          <p:nvPr/>
        </p:nvSpPr>
        <p:spPr>
          <a:xfrm>
            <a:off x="1937004" y="2830293"/>
            <a:ext cx="883501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4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소유권 15%</a:t>
            </a:r>
          </a:p>
        </p:txBody>
      </p:sp>
      <p:sp>
        <p:nvSpPr>
          <p:cNvPr id="16" name="텍스트 16: + 조합원 50% 이상"/>
          <p:cNvSpPr txBox="1"/>
          <p:nvPr/>
        </p:nvSpPr>
        <p:spPr>
          <a:xfrm>
            <a:off x="1937004" y="3052098"/>
            <a:ext cx="104069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5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+ 조합원 50% 이상</a:t>
            </a:r>
          </a:p>
        </p:txBody>
      </p:sp>
      <p:sp>
        <p:nvSpPr>
          <p:cNvPr id="17" name="텍스트 17: 절차"/>
          <p:cNvSpPr txBox="1"/>
          <p:nvPr/>
        </p:nvSpPr>
        <p:spPr>
          <a:xfrm>
            <a:off x="1937004" y="3660809"/>
            <a:ext cx="24796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</p:txBody>
      </p:sp>
      <p:sp>
        <p:nvSpPr>
          <p:cNvPr id="18" name="텍스트 18: 조합설립인가"/>
          <p:cNvSpPr txBox="1"/>
          <p:nvPr/>
        </p:nvSpPr>
        <p:spPr>
          <a:xfrm>
            <a:off x="1937004" y="3837545"/>
            <a:ext cx="865916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6" b="1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조합설립인가</a:t>
            </a:r>
          </a:p>
        </p:txBody>
      </p:sp>
      <p:sp>
        <p:nvSpPr>
          <p:cNvPr id="19" name="텍스트 19: 이후 결원"/>
          <p:cNvSpPr txBox="1"/>
          <p:nvPr/>
        </p:nvSpPr>
        <p:spPr>
          <a:xfrm>
            <a:off x="1937004" y="4071264"/>
            <a:ext cx="769782" cy="3688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이후 결원</a:t>
            </a:r>
          </a:p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충원·추가모집</a:t>
            </a:r>
          </a:p>
        </p:txBody>
      </p:sp>
      <p:sp>
        <p:nvSpPr>
          <p:cNvPr id="20" name="텍스트 20: 3단계"/>
          <p:cNvSpPr txBox="1"/>
          <p:nvPr/>
        </p:nvSpPr>
        <p:spPr>
          <a:xfrm>
            <a:off x="3956303" y="1987267"/>
            <a:ext cx="425054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3단계</a:t>
            </a:r>
          </a:p>
        </p:txBody>
      </p:sp>
      <p:sp>
        <p:nvSpPr>
          <p:cNvPr id="21" name="텍스트 21: 확보 요건"/>
          <p:cNvSpPr txBox="1"/>
          <p:nvPr/>
        </p:nvSpPr>
        <p:spPr>
          <a:xfrm>
            <a:off x="3467734" y="2441355"/>
            <a:ext cx="49942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확보 요건</a:t>
            </a:r>
          </a:p>
        </p:txBody>
      </p:sp>
      <p:sp>
        <p:nvSpPr>
          <p:cNvPr id="22" name="텍스트 22: 토지 소유권"/>
          <p:cNvSpPr txBox="1"/>
          <p:nvPr/>
        </p:nvSpPr>
        <p:spPr>
          <a:xfrm>
            <a:off x="3467734" y="2617456"/>
            <a:ext cx="670260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1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토지 소유권</a:t>
            </a:r>
          </a:p>
        </p:txBody>
      </p:sp>
      <p:sp>
        <p:nvSpPr>
          <p:cNvPr id="23" name="텍스트 23: 80%"/>
          <p:cNvSpPr txBox="1"/>
          <p:nvPr/>
        </p:nvSpPr>
        <p:spPr>
          <a:xfrm>
            <a:off x="3467734" y="2830419"/>
            <a:ext cx="617980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11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24" name="텍스트 24: 95%에서 완화"/>
          <p:cNvSpPr txBox="1"/>
          <p:nvPr/>
        </p:nvSpPr>
        <p:spPr>
          <a:xfrm>
            <a:off x="3467734" y="3145812"/>
            <a:ext cx="788985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53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95%에서 완화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22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(2026.8)</a:t>
            </a:r>
          </a:p>
        </p:txBody>
      </p:sp>
      <p:sp>
        <p:nvSpPr>
          <p:cNvPr id="25" name="텍스트 25: 절차"/>
          <p:cNvSpPr txBox="1"/>
          <p:nvPr/>
        </p:nvSpPr>
        <p:spPr>
          <a:xfrm>
            <a:off x="3467734" y="3660809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</p:txBody>
      </p:sp>
      <p:sp>
        <p:nvSpPr>
          <p:cNvPr id="26" name="텍스트 26: 사업계획승인"/>
          <p:cNvSpPr txBox="1"/>
          <p:nvPr/>
        </p:nvSpPr>
        <p:spPr>
          <a:xfrm>
            <a:off x="3467734" y="3837545"/>
            <a:ext cx="865916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6" b="1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사업계획승인</a:t>
            </a:r>
          </a:p>
        </p:txBody>
      </p:sp>
      <p:sp>
        <p:nvSpPr>
          <p:cNvPr id="27" name="텍스트 27: 잔여 토지 매도청구"/>
          <p:cNvSpPr txBox="1"/>
          <p:nvPr/>
        </p:nvSpPr>
        <p:spPr>
          <a:xfrm>
            <a:off x="3467734" y="4090463"/>
            <a:ext cx="1022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잔여 토지 매도청구</a:t>
            </a:r>
          </a:p>
        </p:txBody>
      </p:sp>
      <p:sp>
        <p:nvSpPr>
          <p:cNvPr id="28" name="텍스트 28: 4단계"/>
          <p:cNvSpPr txBox="1"/>
          <p:nvPr/>
        </p:nvSpPr>
        <p:spPr>
          <a:xfrm>
            <a:off x="5487034" y="1987267"/>
            <a:ext cx="42474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4단계</a:t>
            </a:r>
          </a:p>
        </p:txBody>
      </p:sp>
      <p:sp>
        <p:nvSpPr>
          <p:cNvPr id="29" name="텍스트 29: 확보 요건"/>
          <p:cNvSpPr txBox="1"/>
          <p:nvPr/>
        </p:nvSpPr>
        <p:spPr>
          <a:xfrm>
            <a:off x="4998465" y="2441355"/>
            <a:ext cx="49942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확보 요건</a:t>
            </a:r>
          </a:p>
        </p:txBody>
      </p:sp>
      <p:sp>
        <p:nvSpPr>
          <p:cNvPr id="30" name="텍스트 30: 토지 소유권"/>
          <p:cNvSpPr txBox="1"/>
          <p:nvPr/>
        </p:nvSpPr>
        <p:spPr>
          <a:xfrm>
            <a:off x="4998465" y="2617456"/>
            <a:ext cx="670260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1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토지 소유권</a:t>
            </a:r>
          </a:p>
        </p:txBody>
      </p:sp>
      <p:sp>
        <p:nvSpPr>
          <p:cNvPr id="31" name="텍스트 31: 100%"/>
          <p:cNvSpPr txBox="1"/>
          <p:nvPr/>
        </p:nvSpPr>
        <p:spPr>
          <a:xfrm>
            <a:off x="4998465" y="2830419"/>
            <a:ext cx="787144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11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2" name="텍스트 32: 절차"/>
          <p:cNvSpPr txBox="1"/>
          <p:nvPr/>
        </p:nvSpPr>
        <p:spPr>
          <a:xfrm>
            <a:off x="4998465" y="3660809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</p:txBody>
      </p:sp>
      <p:sp>
        <p:nvSpPr>
          <p:cNvPr id="33" name="텍스트 33: 착공"/>
          <p:cNvSpPr txBox="1"/>
          <p:nvPr/>
        </p:nvSpPr>
        <p:spPr>
          <a:xfrm>
            <a:off x="4998465" y="3837545"/>
            <a:ext cx="305084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3" b="1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착공</a:t>
            </a:r>
          </a:p>
        </p:txBody>
      </p:sp>
      <p:sp>
        <p:nvSpPr>
          <p:cNvPr id="34" name="텍스트 34: 실제 공사 시작"/>
          <p:cNvSpPr txBox="1"/>
          <p:nvPr/>
        </p:nvSpPr>
        <p:spPr>
          <a:xfrm>
            <a:off x="4998465" y="4090463"/>
            <a:ext cx="78807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실제 공사 시작</a:t>
            </a:r>
          </a:p>
        </p:txBody>
      </p:sp>
      <p:sp>
        <p:nvSpPr>
          <p:cNvPr id="35" name="텍스트 35: 5단계"/>
          <p:cNvSpPr txBox="1"/>
          <p:nvPr/>
        </p:nvSpPr>
        <p:spPr>
          <a:xfrm>
            <a:off x="7017766" y="1987267"/>
            <a:ext cx="42474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5단계</a:t>
            </a:r>
          </a:p>
        </p:txBody>
      </p:sp>
      <p:sp>
        <p:nvSpPr>
          <p:cNvPr id="36" name="텍스트 36: 확보 요건"/>
          <p:cNvSpPr txBox="1"/>
          <p:nvPr/>
        </p:nvSpPr>
        <p:spPr>
          <a:xfrm>
            <a:off x="6528816" y="2441355"/>
            <a:ext cx="49942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확보 요건</a:t>
            </a:r>
          </a:p>
        </p:txBody>
      </p:sp>
      <p:sp>
        <p:nvSpPr>
          <p:cNvPr id="37" name="텍스트 37: —"/>
          <p:cNvSpPr txBox="1"/>
          <p:nvPr/>
        </p:nvSpPr>
        <p:spPr>
          <a:xfrm>
            <a:off x="6528816" y="2619428"/>
            <a:ext cx="208600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0" spc="4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38" name="텍스트 38: 절차"/>
          <p:cNvSpPr txBox="1"/>
          <p:nvPr/>
        </p:nvSpPr>
        <p:spPr>
          <a:xfrm>
            <a:off x="6528816" y="3660809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</p:txBody>
      </p:sp>
      <p:sp>
        <p:nvSpPr>
          <p:cNvPr id="39" name="텍스트 39: 사용검사(준공)"/>
          <p:cNvSpPr txBox="1"/>
          <p:nvPr/>
        </p:nvSpPr>
        <p:spPr>
          <a:xfrm>
            <a:off x="6528816" y="3837545"/>
            <a:ext cx="971179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1" spc="-11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사용검사(준공)</a:t>
            </a:r>
          </a:p>
        </p:txBody>
      </p:sp>
      <p:sp>
        <p:nvSpPr>
          <p:cNvPr id="40" name="텍스트 40: 입주"/>
          <p:cNvSpPr txBox="1"/>
          <p:nvPr/>
        </p:nvSpPr>
        <p:spPr>
          <a:xfrm>
            <a:off x="6528816" y="4090463"/>
            <a:ext cx="260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입주</a:t>
            </a:r>
          </a:p>
        </p:txBody>
      </p:sp>
      <p:sp>
        <p:nvSpPr>
          <p:cNvPr id="41" name="텍스트 41: 6단계"/>
          <p:cNvSpPr txBox="1"/>
          <p:nvPr/>
        </p:nvSpPr>
        <p:spPr>
          <a:xfrm>
            <a:off x="8485631" y="1987267"/>
            <a:ext cx="425053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6단계</a:t>
            </a:r>
          </a:p>
        </p:txBody>
      </p:sp>
      <p:sp>
        <p:nvSpPr>
          <p:cNvPr id="42" name="텍스트 42: 확보 요건"/>
          <p:cNvSpPr txBox="1"/>
          <p:nvPr/>
        </p:nvSpPr>
        <p:spPr>
          <a:xfrm>
            <a:off x="8059546" y="2441355"/>
            <a:ext cx="49942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확보 요건</a:t>
            </a:r>
          </a:p>
        </p:txBody>
      </p:sp>
      <p:sp>
        <p:nvSpPr>
          <p:cNvPr id="43" name="텍스트 43: —"/>
          <p:cNvSpPr txBox="1"/>
          <p:nvPr/>
        </p:nvSpPr>
        <p:spPr>
          <a:xfrm>
            <a:off x="8059546" y="2619428"/>
            <a:ext cx="208600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0" spc="4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4" name="텍스트 44: 절차"/>
          <p:cNvSpPr txBox="1"/>
          <p:nvPr/>
        </p:nvSpPr>
        <p:spPr>
          <a:xfrm>
            <a:off x="8059546" y="3660809"/>
            <a:ext cx="24796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</p:txBody>
      </p:sp>
      <p:sp>
        <p:nvSpPr>
          <p:cNvPr id="45" name="텍스트 45: 조합 해산 · 청산"/>
          <p:cNvSpPr txBox="1"/>
          <p:nvPr/>
        </p:nvSpPr>
        <p:spPr>
          <a:xfrm>
            <a:off x="8059546" y="3837545"/>
            <a:ext cx="101984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1" spc="-11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 해산 · 청산</a:t>
            </a:r>
          </a:p>
        </p:txBody>
      </p:sp>
      <p:sp>
        <p:nvSpPr>
          <p:cNvPr id="46" name="텍스트 46: 해산 절차 신설 (개정)"/>
          <p:cNvSpPr txBox="1"/>
          <p:nvPr/>
        </p:nvSpPr>
        <p:spPr>
          <a:xfrm>
            <a:off x="8059546" y="4090463"/>
            <a:ext cx="113676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2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해산 절차 신설 (개정)</a:t>
            </a:r>
          </a:p>
        </p:txBody>
      </p:sp>
      <p:sp>
        <p:nvSpPr>
          <p:cNvPr id="47" name="텍스트 47: 상담 활용"/>
          <p:cNvSpPr txBox="1"/>
          <p:nvPr/>
        </p:nvSpPr>
        <p:spPr>
          <a:xfrm>
            <a:off x="502919" y="5426046"/>
            <a:ext cx="64450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3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 활용</a:t>
            </a:r>
          </a:p>
        </p:txBody>
      </p:sp>
      <p:sp>
        <p:nvSpPr>
          <p:cNvPr id="48" name="텍스트 48: 영업 TIP"/>
          <p:cNvSpPr txBox="1"/>
          <p:nvPr/>
        </p:nvSpPr>
        <p:spPr>
          <a:xfrm>
            <a:off x="573023" y="5647966"/>
            <a:ext cx="50339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영업 TIP</a:t>
            </a:r>
          </a:p>
        </p:txBody>
      </p:sp>
      <p:sp>
        <p:nvSpPr>
          <p:cNvPr id="49" name="텍스트 49: 이렇게 말하면 유리"/>
          <p:cNvSpPr txBox="1"/>
          <p:nvPr/>
        </p:nvSpPr>
        <p:spPr>
          <a:xfrm>
            <a:off x="1524253" y="5031630"/>
            <a:ext cx="111731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이렇게 말하면 유리</a:t>
            </a:r>
          </a:p>
        </p:txBody>
      </p:sp>
      <p:sp>
        <p:nvSpPr>
          <p:cNvPr id="50" name="텍스트 50: • “지금은 1단계 모집 단계로, 헬로우시티는 토지계약"/>
          <p:cNvSpPr txBox="1"/>
          <p:nvPr/>
        </p:nvSpPr>
        <p:spPr>
          <a:xfrm>
            <a:off x="1524253" y="5267738"/>
            <a:ext cx="482047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7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0" spc="-107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“지금은 1단계 모집 단계로, 헬로우시티는 토지계약을 먼저 마친 뒤 모집하는 사업이라</a:t>
            </a:r>
          </a:p>
        </p:txBody>
      </p:sp>
      <p:sp>
        <p:nvSpPr>
          <p:cNvPr id="51" name="텍스트 51: 다음 단계 준비가 유리한 출발입니다.”"/>
          <p:cNvSpPr txBox="1"/>
          <p:nvPr/>
        </p:nvSpPr>
        <p:spPr>
          <a:xfrm>
            <a:off x="1664461" y="5465807"/>
            <a:ext cx="208366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8" b="0" spc="-11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다음 단계 준비가 유리한 출발입니다.”</a:t>
            </a:r>
          </a:p>
        </p:txBody>
      </p:sp>
      <p:sp>
        <p:nvSpPr>
          <p:cNvPr id="52" name="텍스트 52: • “3단계 사업승인 기준이 80%로 낮아져, 전체 일"/>
          <p:cNvSpPr txBox="1"/>
          <p:nvPr/>
        </p:nvSpPr>
        <p:spPr>
          <a:xfrm>
            <a:off x="1524253" y="5713920"/>
            <a:ext cx="4600186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90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6" b="0" spc="-9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“3단계 사업승인 기준이 80%로 낮아져, 전체 일정 단축이 기대되는 상황입니다.”</a:t>
            </a:r>
          </a:p>
        </p:txBody>
      </p:sp>
      <p:sp>
        <p:nvSpPr>
          <p:cNvPr id="53" name="텍스트 53: 이렇게 말하면 위험"/>
          <p:cNvSpPr txBox="1"/>
          <p:nvPr/>
        </p:nvSpPr>
        <p:spPr>
          <a:xfrm>
            <a:off x="6681216" y="5031630"/>
            <a:ext cx="111756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이렇게 말하면 위험</a:t>
            </a:r>
          </a:p>
        </p:txBody>
      </p:sp>
      <p:sp>
        <p:nvSpPr>
          <p:cNvPr id="54" name="텍스트 54: • 단계별 “완료 날짜”를 확정처럼 제시"/>
          <p:cNvSpPr txBox="1"/>
          <p:nvPr/>
        </p:nvSpPr>
        <p:spPr>
          <a:xfrm>
            <a:off x="6681216" y="5266102"/>
            <a:ext cx="204867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73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단계별 “완료 날짜”를 확정처럼 제시</a:t>
            </a:r>
          </a:p>
        </p:txBody>
      </p:sp>
      <p:sp>
        <p:nvSpPr>
          <p:cNvPr id="55" name="텍스트 55: • → 계획 일정은 “목표·예정”으로 안내"/>
          <p:cNvSpPr txBox="1"/>
          <p:nvPr/>
        </p:nvSpPr>
        <p:spPr>
          <a:xfrm>
            <a:off x="6681216" y="5506843"/>
            <a:ext cx="206086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9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79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→ 계획 일정은 “목표·예정”으로 안내</a:t>
            </a:r>
          </a:p>
        </p:txBody>
      </p:sp>
      <p:sp>
        <p:nvSpPr>
          <p:cNvPr id="56" name="텍스트 56: 자료: 주택법 제11조·제11조의3·제15조·제21조,"/>
          <p:cNvSpPr txBox="1"/>
          <p:nvPr/>
        </p:nvSpPr>
        <p:spPr>
          <a:xfrm>
            <a:off x="3908171" y="6453798"/>
            <a:ext cx="552922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49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자료: 주택법 제11조·제11조의3·제15조·제21조, 구로구청 지역주택조합 안내, 서울경제TV(2026.8.20), 본 자료 p.15</a:t>
            </a:r>
          </a:p>
        </p:txBody>
      </p:sp>
      <p:sp>
        <p:nvSpPr>
          <p:cNvPr id="57" name="텍스트 57: 7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5  ·  PART B │ 기본 ① 모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참고자료 (질문 시 활용)  │  기본 ① 모집신고 · 광고 (주택법 제11조의3 · 제11조의4 · 제11조의5)</a:t>
            </a:r>
          </a:p>
        </p:txBody>
      </p:sp>
      <p:sp>
        <p:nvSpPr>
          <p:cNvPr id="3" name="텍스트 3: 청주시 모집신고 수리 후 공개모집, 중요사항 서면 설명"/>
          <p:cNvSpPr txBox="1"/>
          <p:nvPr/>
        </p:nvSpPr>
        <p:spPr>
          <a:xfrm>
            <a:off x="304800" y="629209"/>
            <a:ext cx="7182177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청주시 모집신고 수리 후 공개모집, 중요사항 서면 설명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광고는 ‘모집 광고’ 문구 필수, ‘확정’ 표현은 금지</a:t>
            </a:r>
          </a:p>
        </p:txBody>
      </p:sp>
      <p:sp>
        <p:nvSpPr>
          <p:cNvPr id="4" name="텍스트 4: 주택법 제11조의3"/>
          <p:cNvSpPr txBox="1"/>
          <p:nvPr/>
        </p:nvSpPr>
        <p:spPr>
          <a:xfrm>
            <a:off x="304800" y="1906571"/>
            <a:ext cx="102803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6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주택법 제11조의3</a:t>
            </a:r>
          </a:p>
        </p:txBody>
      </p:sp>
      <p:sp>
        <p:nvSpPr>
          <p:cNvPr id="5" name="텍스트 5: 조합원 모집신고 및 공개모집"/>
          <p:cNvSpPr txBox="1"/>
          <p:nvPr/>
        </p:nvSpPr>
        <p:spPr>
          <a:xfrm>
            <a:off x="304800" y="2110029"/>
            <a:ext cx="2029922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5" b="1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 모집신고 및 공개모집</a:t>
            </a:r>
          </a:p>
        </p:txBody>
      </p:sp>
      <p:sp>
        <p:nvSpPr>
          <p:cNvPr id="6" name="텍스트 6: 1"/>
          <p:cNvSpPr txBox="1"/>
          <p:nvPr/>
        </p:nvSpPr>
        <p:spPr>
          <a:xfrm>
            <a:off x="406603" y="2528063"/>
            <a:ext cx="12705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텍스트 7: 토지 사용권원 50% 이상 확보"/>
          <p:cNvSpPr txBox="1"/>
          <p:nvPr/>
        </p:nvSpPr>
        <p:spPr>
          <a:xfrm>
            <a:off x="762000" y="2467215"/>
            <a:ext cx="1934494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1" spc="-97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토지 사용권원 50% 이상 확보</a:t>
            </a:r>
          </a:p>
        </p:txBody>
      </p:sp>
      <p:sp>
        <p:nvSpPr>
          <p:cNvPr id="8" name="텍스트 8: 현행 모집신고 요건"/>
          <p:cNvSpPr txBox="1"/>
          <p:nvPr/>
        </p:nvSpPr>
        <p:spPr>
          <a:xfrm>
            <a:off x="762000" y="2693545"/>
            <a:ext cx="1023288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현행 모집신고 요건</a:t>
            </a:r>
          </a:p>
        </p:txBody>
      </p:sp>
      <p:sp>
        <p:nvSpPr>
          <p:cNvPr id="9" name="텍스트 9: 2"/>
          <p:cNvSpPr txBox="1"/>
          <p:nvPr/>
        </p:nvSpPr>
        <p:spPr>
          <a:xfrm>
            <a:off x="406603" y="3112091"/>
            <a:ext cx="12725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텍스트 10: 관할 지자체(청주시) 모집신고"/>
          <p:cNvSpPr txBox="1"/>
          <p:nvPr/>
        </p:nvSpPr>
        <p:spPr>
          <a:xfrm>
            <a:off x="762000" y="3051243"/>
            <a:ext cx="1878375" cy="1905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5" b="1" spc="-12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관할 지자체(청주시) 모집신고</a:t>
            </a:r>
          </a:p>
        </p:txBody>
      </p:sp>
      <p:sp>
        <p:nvSpPr>
          <p:cNvPr id="11" name="텍스트 11: 모집공고안 등 서류 제출"/>
          <p:cNvSpPr txBox="1"/>
          <p:nvPr/>
        </p:nvSpPr>
        <p:spPr>
          <a:xfrm>
            <a:off x="762000" y="3278425"/>
            <a:ext cx="128667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모집공고안 등 서류 제출</a:t>
            </a:r>
          </a:p>
        </p:txBody>
      </p:sp>
      <p:sp>
        <p:nvSpPr>
          <p:cNvPr id="12" name="텍스트 12: 3"/>
          <p:cNvSpPr txBox="1"/>
          <p:nvPr/>
        </p:nvSpPr>
        <p:spPr>
          <a:xfrm>
            <a:off x="406603" y="3696971"/>
            <a:ext cx="12705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텍스트 13: 신고 수리"/>
          <p:cNvSpPr txBox="1"/>
          <p:nvPr/>
        </p:nvSpPr>
        <p:spPr>
          <a:xfrm>
            <a:off x="762000" y="3636123"/>
            <a:ext cx="619333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1" b="1" spc="-12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신고 수리</a:t>
            </a:r>
          </a:p>
        </p:txBody>
      </p:sp>
      <p:sp>
        <p:nvSpPr>
          <p:cNvPr id="14" name="텍스트 14: 수리 전 모집·계약은 처벌 대상"/>
          <p:cNvSpPr txBox="1"/>
          <p:nvPr/>
        </p:nvSpPr>
        <p:spPr>
          <a:xfrm>
            <a:off x="762000" y="3862752"/>
            <a:ext cx="158994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4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수리 전 모집·계약은 처벌 대상</a:t>
            </a:r>
          </a:p>
        </p:txBody>
      </p:sp>
      <p:sp>
        <p:nvSpPr>
          <p:cNvPr id="15" name="텍스트 15: 4"/>
          <p:cNvSpPr txBox="1"/>
          <p:nvPr/>
        </p:nvSpPr>
        <p:spPr>
          <a:xfrm>
            <a:off x="406603" y="4281299"/>
            <a:ext cx="12705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텍스트 16: 공개모집 개시 (10.8 모집공고)"/>
          <p:cNvSpPr txBox="1"/>
          <p:nvPr/>
        </p:nvSpPr>
        <p:spPr>
          <a:xfrm>
            <a:off x="762000" y="4220450"/>
            <a:ext cx="1998737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1" spc="-83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공개모집 개시 (10.8 모집공고)</a:t>
            </a:r>
          </a:p>
        </p:txBody>
      </p:sp>
      <p:sp>
        <p:nvSpPr>
          <p:cNvPr id="17" name="텍스트 17: 신문·인터넷 등 공개 방법 모집"/>
          <p:cNvSpPr txBox="1"/>
          <p:nvPr/>
        </p:nvSpPr>
        <p:spPr>
          <a:xfrm>
            <a:off x="762000" y="4447079"/>
            <a:ext cx="158994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4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신문·인터넷 등 공개 방법 모집</a:t>
            </a:r>
          </a:p>
        </p:txBody>
      </p:sp>
      <p:sp>
        <p:nvSpPr>
          <p:cNvPr id="18" name="텍스트 18: 주택법 제11조의4  ·  설명 의무"/>
          <p:cNvSpPr txBox="1"/>
          <p:nvPr/>
        </p:nvSpPr>
        <p:spPr>
          <a:xfrm>
            <a:off x="4979161" y="1906571"/>
            <a:ext cx="168151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주택법 제11조의4  ·  설명 의무</a:t>
            </a:r>
          </a:p>
        </p:txBody>
      </p:sp>
      <p:sp>
        <p:nvSpPr>
          <p:cNvPr id="19" name="텍스트 19: 사업 개요·자격 기준·분담금 등 비용·토지 확보 현황·"/>
          <p:cNvSpPr txBox="1"/>
          <p:nvPr/>
        </p:nvSpPr>
        <p:spPr>
          <a:xfrm>
            <a:off x="5093461" y="2258727"/>
            <a:ext cx="362413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8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사업 개요·자격 기준·분담금 등 비용·토지 확보 현황·탈퇴·환급 설명</a:t>
            </a:r>
          </a:p>
        </p:txBody>
      </p:sp>
      <p:sp>
        <p:nvSpPr>
          <p:cNvPr id="20" name="텍스트 20: → 계약서 명시 + 가입자 서명 확인서 교부·보관"/>
          <p:cNvSpPr txBox="1"/>
          <p:nvPr/>
        </p:nvSpPr>
        <p:spPr>
          <a:xfrm>
            <a:off x="5093461" y="2494947"/>
            <a:ext cx="254489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2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→ 계약서 명시 + </a:t>
            </a:r>
            <a:r>
              <a:rPr lang="ko-KR" altLang="en-US" sz="1082" b="1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가입자 서명 확인서 </a:t>
            </a:r>
            <a:r>
              <a:rPr lang="ko-KR" altLang="en-US" sz="1082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교부·보관</a:t>
            </a:r>
          </a:p>
        </p:txBody>
      </p:sp>
      <p:sp>
        <p:nvSpPr>
          <p:cNvPr id="21" name="텍스트 21: 주택법 제11조의5  ·  모집 광고"/>
          <p:cNvSpPr txBox="1"/>
          <p:nvPr/>
        </p:nvSpPr>
        <p:spPr>
          <a:xfrm>
            <a:off x="4979161" y="3024298"/>
            <a:ext cx="168151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주택법 제11조의5  ·  모집 광고</a:t>
            </a:r>
          </a:p>
        </p:txBody>
      </p:sp>
      <p:sp>
        <p:nvSpPr>
          <p:cNvPr id="22" name="텍스트 22: 반드시 포함"/>
          <p:cNvSpPr txBox="1"/>
          <p:nvPr/>
        </p:nvSpPr>
        <p:spPr>
          <a:xfrm>
            <a:off x="5733922" y="3296190"/>
            <a:ext cx="66846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7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반드시 포함</a:t>
            </a:r>
          </a:p>
        </p:txBody>
      </p:sp>
      <p:sp>
        <p:nvSpPr>
          <p:cNvPr id="23" name="텍스트 23: 사용 금지 표현"/>
          <p:cNvSpPr txBox="1"/>
          <p:nvPr/>
        </p:nvSpPr>
        <p:spPr>
          <a:xfrm>
            <a:off x="7937627" y="3296190"/>
            <a:ext cx="82086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 금지 표현</a:t>
            </a:r>
          </a:p>
        </p:txBody>
      </p:sp>
      <p:sp>
        <p:nvSpPr>
          <p:cNvPr id="24" name="텍스트 24: • “지역주택조합 조합원 모집을 위한"/>
          <p:cNvSpPr txBox="1"/>
          <p:nvPr/>
        </p:nvSpPr>
        <p:spPr>
          <a:xfrm>
            <a:off x="5080761" y="3640248"/>
            <a:ext cx="195875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80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8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“지역주택조합 조합원 모집을 위한</a:t>
            </a:r>
          </a:p>
        </p:txBody>
      </p:sp>
      <p:sp>
        <p:nvSpPr>
          <p:cNvPr id="25" name="텍스트 25: 광고” 문구"/>
          <p:cNvSpPr txBox="1"/>
          <p:nvPr/>
        </p:nvSpPr>
        <p:spPr>
          <a:xfrm>
            <a:off x="5221223" y="3823128"/>
            <a:ext cx="58690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83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광고” 문구</a:t>
            </a:r>
          </a:p>
        </p:txBody>
      </p:sp>
      <p:sp>
        <p:nvSpPr>
          <p:cNvPr id="26" name="텍스트 26: • 조합원 자격 기준"/>
          <p:cNvSpPr txBox="1"/>
          <p:nvPr/>
        </p:nvSpPr>
        <p:spPr>
          <a:xfrm>
            <a:off x="5080761" y="4033440"/>
            <a:ext cx="104588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64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64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조합원 자격 기준</a:t>
            </a:r>
          </a:p>
        </p:txBody>
      </p:sp>
      <p:sp>
        <p:nvSpPr>
          <p:cNvPr id="27" name="텍스트 27: • 토지 확보 현황(비율)"/>
          <p:cNvSpPr txBox="1"/>
          <p:nvPr/>
        </p:nvSpPr>
        <p:spPr>
          <a:xfrm>
            <a:off x="5080761" y="4242228"/>
            <a:ext cx="124801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66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6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토지 확보 현황(비율)</a:t>
            </a:r>
          </a:p>
        </p:txBody>
      </p:sp>
      <p:sp>
        <p:nvSpPr>
          <p:cNvPr id="28" name="텍스트 28: • “확정 시공사”, “확정 분양가”"/>
          <p:cNvSpPr txBox="1"/>
          <p:nvPr/>
        </p:nvSpPr>
        <p:spPr>
          <a:xfrm>
            <a:off x="7360919" y="3640248"/>
            <a:ext cx="174158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66" dirty="0">
                <a:solidFill>
                  <a:srgbClr val="8C8C8C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1" spc="-6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“확정 시공사”, “확정 분양가”</a:t>
            </a:r>
          </a:p>
        </p:txBody>
      </p:sp>
      <p:sp>
        <p:nvSpPr>
          <p:cNvPr id="29" name="텍스트 29: • 토지 확보율 부풀리기"/>
          <p:cNvSpPr txBox="1"/>
          <p:nvPr/>
        </p:nvSpPr>
        <p:spPr>
          <a:xfrm>
            <a:off x="7360919" y="3849036"/>
            <a:ext cx="128032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5" dirty="0">
                <a:solidFill>
                  <a:srgbClr val="8C8C8C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7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토지 확보율 부풀리기</a:t>
            </a:r>
          </a:p>
        </p:txBody>
      </p:sp>
      <p:sp>
        <p:nvSpPr>
          <p:cNvPr id="30" name="텍스트 30: 대체: “시공 예정”, “분양가 협의 중”"/>
          <p:cNvSpPr txBox="1"/>
          <p:nvPr/>
        </p:nvSpPr>
        <p:spPr>
          <a:xfrm>
            <a:off x="7360919" y="4083732"/>
            <a:ext cx="193055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9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대체: “시공 예정”, “분양가 협의 중”</a:t>
            </a:r>
          </a:p>
        </p:txBody>
      </p:sp>
      <p:sp>
        <p:nvSpPr>
          <p:cNvPr id="31" name="텍스트 31: 상담 활용"/>
          <p:cNvSpPr txBox="1"/>
          <p:nvPr/>
        </p:nvSpPr>
        <p:spPr>
          <a:xfrm>
            <a:off x="502919" y="5426046"/>
            <a:ext cx="64450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3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 활용</a:t>
            </a:r>
          </a:p>
        </p:txBody>
      </p:sp>
      <p:sp>
        <p:nvSpPr>
          <p:cNvPr id="32" name="텍스트 32: 영업 TIP"/>
          <p:cNvSpPr txBox="1"/>
          <p:nvPr/>
        </p:nvSpPr>
        <p:spPr>
          <a:xfrm>
            <a:off x="573023" y="5647966"/>
            <a:ext cx="50339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영업 TIP</a:t>
            </a:r>
          </a:p>
        </p:txBody>
      </p:sp>
      <p:sp>
        <p:nvSpPr>
          <p:cNvPr id="33" name="텍스트 33: 이렇게 말하면 유리"/>
          <p:cNvSpPr txBox="1"/>
          <p:nvPr/>
        </p:nvSpPr>
        <p:spPr>
          <a:xfrm>
            <a:off x="1524253" y="5031630"/>
            <a:ext cx="111731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이렇게 말하면 유리</a:t>
            </a:r>
          </a:p>
        </p:txBody>
      </p:sp>
      <p:sp>
        <p:nvSpPr>
          <p:cNvPr id="34" name="텍스트 34: • “청주시에 모집신고가 수리된 적법 모집으로, 신고필"/>
          <p:cNvSpPr txBox="1"/>
          <p:nvPr/>
        </p:nvSpPr>
        <p:spPr>
          <a:xfrm>
            <a:off x="1524253" y="5267738"/>
            <a:ext cx="424647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2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0" spc="-102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“청주시에 모집신고가 수리된 적법 모집으로, 신고필증 확인도 가능합니다.”</a:t>
            </a:r>
          </a:p>
        </p:txBody>
      </p:sp>
      <p:sp>
        <p:nvSpPr>
          <p:cNvPr id="35" name="텍스트 35: • “토지 확보 현황과 분담금은 설명서로 드리고 서명받"/>
          <p:cNvSpPr txBox="1"/>
          <p:nvPr/>
        </p:nvSpPr>
        <p:spPr>
          <a:xfrm>
            <a:off x="1524253" y="5516099"/>
            <a:ext cx="4328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9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0" spc="-109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“토지 확보 현황과 분담금은 설명서로 드리고 서명받는 구조라, 투명하게 확인</a:t>
            </a:r>
          </a:p>
        </p:txBody>
      </p:sp>
      <p:sp>
        <p:nvSpPr>
          <p:cNvPr id="36" name="텍스트 36: 가능합니다.”"/>
          <p:cNvSpPr txBox="1"/>
          <p:nvPr/>
        </p:nvSpPr>
        <p:spPr>
          <a:xfrm>
            <a:off x="1664461" y="5713920"/>
            <a:ext cx="74078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9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가능합니다.”</a:t>
            </a:r>
          </a:p>
        </p:txBody>
      </p:sp>
      <p:sp>
        <p:nvSpPr>
          <p:cNvPr id="37" name="텍스트 37: 이렇게 말하면 위험"/>
          <p:cNvSpPr txBox="1"/>
          <p:nvPr/>
        </p:nvSpPr>
        <p:spPr>
          <a:xfrm>
            <a:off x="6681216" y="5031630"/>
            <a:ext cx="111756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이렇게 말하면 위험</a:t>
            </a:r>
          </a:p>
        </p:txBody>
      </p:sp>
      <p:sp>
        <p:nvSpPr>
          <p:cNvPr id="38" name="텍스트 38: • “확정 시공사”, “분양가 확정”, “무조건 입주”"/>
          <p:cNvSpPr txBox="1"/>
          <p:nvPr/>
        </p:nvSpPr>
        <p:spPr>
          <a:xfrm>
            <a:off x="6681216" y="5266102"/>
            <a:ext cx="25093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50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5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“확정 시공사”, “분양가 확정”, “무조건 입주”</a:t>
            </a:r>
          </a:p>
        </p:txBody>
      </p:sp>
      <p:sp>
        <p:nvSpPr>
          <p:cNvPr id="39" name="텍스트 39: • → “시공 예정”, “84㎡ 6억대 공급 예정”으로"/>
          <p:cNvSpPr txBox="1"/>
          <p:nvPr/>
        </p:nvSpPr>
        <p:spPr>
          <a:xfrm>
            <a:off x="6681216" y="5506843"/>
            <a:ext cx="251172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52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52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→ “시공 예정”, “84㎡ 6억대 공급 예정”으로</a:t>
            </a:r>
          </a:p>
        </p:txBody>
      </p:sp>
      <p:sp>
        <p:nvSpPr>
          <p:cNvPr id="40" name="텍스트 40: 안내"/>
          <p:cNvSpPr txBox="1"/>
          <p:nvPr/>
        </p:nvSpPr>
        <p:spPr>
          <a:xfrm>
            <a:off x="6821423" y="5694295"/>
            <a:ext cx="26107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1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안내</a:t>
            </a:r>
          </a:p>
        </p:txBody>
      </p:sp>
      <p:sp>
        <p:nvSpPr>
          <p:cNvPr id="41" name="텍스트 41: 자료: 주택법 제11조의3·제11조의4·제11조의5(국"/>
          <p:cNvSpPr txBox="1"/>
          <p:nvPr/>
        </p:nvSpPr>
        <p:spPr>
          <a:xfrm>
            <a:off x="4999609" y="6453798"/>
            <a:ext cx="443801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자료: 주택법 제11조의3·제11조의4·제11조의5(국가법령정보센터), 구로구청 지역주택조합 안내</a:t>
            </a:r>
          </a:p>
        </p:txBody>
      </p:sp>
      <p:sp>
        <p:nvSpPr>
          <p:cNvPr id="42" name="텍스트 42: 72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900000"/>
            <a:ext cx="5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오늘 브리핑, 이 질문 하나로 시작합니다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1300000"/>
            <a:ext cx="560000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KTX오송역 바로 앞,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49층 주거복합 84㎡가</a:t>
            </a:r>
          </a:p>
          <a:p>
            <a:pPr algn="l"/>
            <a:r>
              <a:rPr sz="34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6억대</a:t>
            </a: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라면?</a:t>
            </a:r>
          </a:p>
        </p:txBody>
      </p:sp>
      <p:sp>
        <p:nvSpPr>
          <p:cNvPr id="4" name="핵심숫자 1"/>
          <p:cNvSpPr/>
          <p:nvPr/>
        </p:nvSpPr>
        <p:spPr>
          <a:xfrm>
            <a:off x="560000" y="3500000"/>
            <a:ext cx="1800000" cy="1500000"/>
          </a:xfrm>
          <a:prstGeom prst="roundRect">
            <a:avLst>
              <a:gd name="adj" fmla="val 6000"/>
            </a:avLst>
          </a:prstGeom>
          <a:solidFill>
            <a:srgbClr val="0C3827"/>
          </a:solidFill>
          <a:ln w="12700">
            <a:solidFill>
              <a:srgbClr val="C0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0000" y="3620000"/>
            <a:ext cx="15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역 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" y="4250000"/>
            <a:ext cx="155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KTX오송역 역세권 최중심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일반상업지역</a:t>
            </a:r>
          </a:p>
        </p:txBody>
      </p:sp>
      <p:sp>
        <p:nvSpPr>
          <p:cNvPr id="7" name="핵심숫자 2"/>
          <p:cNvSpPr/>
          <p:nvPr/>
        </p:nvSpPr>
        <p:spPr>
          <a:xfrm>
            <a:off x="2510000" y="3500000"/>
            <a:ext cx="1800000" cy="1500000"/>
          </a:xfrm>
          <a:prstGeom prst="roundRect">
            <a:avLst>
              <a:gd name="adj" fmla="val 6000"/>
            </a:avLst>
          </a:prstGeom>
          <a:solidFill>
            <a:srgbClr val="0C3827"/>
          </a:solidFill>
          <a:ln w="12700">
            <a:solidFill>
              <a:srgbClr val="C0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660000" y="3620000"/>
            <a:ext cx="15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49층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0000" y="4250000"/>
            <a:ext cx="155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지상 49층, 청주 랜드마크급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조망 · 480세대 한정</a:t>
            </a:r>
          </a:p>
        </p:txBody>
      </p:sp>
      <p:sp>
        <p:nvSpPr>
          <p:cNvPr id="10" name="핵심숫자 3"/>
          <p:cNvSpPr/>
          <p:nvPr/>
        </p:nvSpPr>
        <p:spPr>
          <a:xfrm>
            <a:off x="4460000" y="3500000"/>
            <a:ext cx="1800000" cy="1500000"/>
          </a:xfrm>
          <a:prstGeom prst="roundRect">
            <a:avLst>
              <a:gd name="adj" fmla="val 6000"/>
            </a:avLst>
          </a:prstGeom>
          <a:solidFill>
            <a:srgbClr val="0C3827"/>
          </a:solidFill>
          <a:ln w="12700">
            <a:solidFill>
              <a:srgbClr val="C0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10000" y="3620000"/>
            <a:ext cx="15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6억대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000" y="4250000"/>
            <a:ext cx="155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84㎡ 공급 예정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주변 리딩단지 7~10억대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" y="5350000"/>
            <a:ext cx="65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30분, 이 질문의 답을 </a:t>
            </a:r>
            <a:r>
              <a:rPr sz="16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직접 확인</a:t>
            </a: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하시게 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000" y="6450000"/>
            <a:ext cx="6000000" cy="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8D2CC"/>
                </a:solidFill>
                <a:latin typeface="맑은 고딕"/>
                <a:ea typeface="맑은 고딕"/>
                <a:cs typeface="맑은 고딕"/>
              </a:rPr>
              <a:t>본 이미지는 이해를 돕기 위해 AI로 제작한 이미지입니다. 공급가는 예정이며 변동될 수 있습니다.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오송역 헬로우시티  ·  상담 브리핑  │  오늘의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64811"/>
            <a:ext cx="9100000" cy="8539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30분이면 충분합니다,</a:t>
            </a:r>
          </a:p>
          <a:p>
            <a:pPr algn="l"/>
            <a:r>
              <a:rPr sz="24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고객님이 궁금해하실 5가지 질문 순서대로 답해드립니다</a:t>
            </a:r>
          </a:p>
        </p:txBody>
      </p:sp>
      <p:sp>
        <p:nvSpPr>
          <p:cNvPr id="4" name="순서 01"/>
          <p:cNvSpPr/>
          <p:nvPr/>
        </p:nvSpPr>
        <p:spPr>
          <a:xfrm>
            <a:off x="600000" y="1900000"/>
            <a:ext cx="8700000" cy="700000"/>
          </a:xfrm>
          <a:prstGeom prst="roundRect">
            <a:avLst>
              <a:gd name="adj" fmla="val 12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00000" y="1900000"/>
            <a:ext cx="8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0000" y="1900000"/>
            <a:ext cx="33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왜 오송인가?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0000" y="1900000"/>
            <a:ext cx="15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교통 · 개발호재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0000" y="1900000"/>
            <a:ext cx="275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전국 교통의 중심, 조 단위 투자가 몰리는 이유</a:t>
            </a:r>
          </a:p>
        </p:txBody>
      </p:sp>
      <p:sp>
        <p:nvSpPr>
          <p:cNvPr id="9" name="순서 02"/>
          <p:cNvSpPr/>
          <p:nvPr/>
        </p:nvSpPr>
        <p:spPr>
          <a:xfrm>
            <a:off x="600000" y="2720000"/>
            <a:ext cx="8700000" cy="700000"/>
          </a:xfrm>
          <a:prstGeom prst="roundRect">
            <a:avLst>
              <a:gd name="adj" fmla="val 12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0000" y="2720000"/>
            <a:ext cx="8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0000" y="2720000"/>
            <a:ext cx="33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사람이 정말 몰리나?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0000" y="2720000"/>
            <a:ext cx="15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수요 · 시장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0000" y="2720000"/>
            <a:ext cx="275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인구 2배, 공급 절벽, 172.6:1 청약</a:t>
            </a:r>
          </a:p>
        </p:txBody>
      </p:sp>
      <p:sp>
        <p:nvSpPr>
          <p:cNvPr id="14" name="순서 03"/>
          <p:cNvSpPr/>
          <p:nvPr/>
        </p:nvSpPr>
        <p:spPr>
          <a:xfrm>
            <a:off x="600000" y="3540000"/>
            <a:ext cx="8700000" cy="700000"/>
          </a:xfrm>
          <a:prstGeom prst="roundRect">
            <a:avLst>
              <a:gd name="adj" fmla="val 12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0000" y="3540000"/>
            <a:ext cx="8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3540000"/>
            <a:ext cx="33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그중 왜 헬로우시티?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0000" y="3540000"/>
            <a:ext cx="15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상품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0000" y="3540000"/>
            <a:ext cx="275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역 앞 49층, 480세대 한정 주거복합</a:t>
            </a:r>
          </a:p>
        </p:txBody>
      </p:sp>
      <p:sp>
        <p:nvSpPr>
          <p:cNvPr id="19" name="순서 04"/>
          <p:cNvSpPr/>
          <p:nvPr/>
        </p:nvSpPr>
        <p:spPr>
          <a:xfrm>
            <a:off x="600000" y="4360000"/>
            <a:ext cx="8700000" cy="700000"/>
          </a:xfrm>
          <a:prstGeom prst="roundRect">
            <a:avLst>
              <a:gd name="adj" fmla="val 12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0000" y="4360000"/>
            <a:ext cx="8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0000" y="4360000"/>
            <a:ext cx="33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왜 이 가격? 안전한가?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0000" y="4360000"/>
            <a:ext cx="15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가격 · 안심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0000" y="4360000"/>
            <a:ext cx="275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84㎡ 6억대의 이유와 안전장치</a:t>
            </a:r>
          </a:p>
        </p:txBody>
      </p:sp>
      <p:sp>
        <p:nvSpPr>
          <p:cNvPr id="24" name="순서 05"/>
          <p:cNvSpPr/>
          <p:nvPr/>
        </p:nvSpPr>
        <p:spPr>
          <a:xfrm>
            <a:off x="600000" y="5180000"/>
            <a:ext cx="8700000" cy="700000"/>
          </a:xfrm>
          <a:prstGeom prst="roundRect">
            <a:avLst>
              <a:gd name="adj" fmla="val 12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0000" y="5180000"/>
            <a:ext cx="8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0000" y="5180000"/>
            <a:ext cx="33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앞으로, 그리고 어떻게?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0000" y="5180000"/>
            <a:ext cx="150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미래가치 · 결정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0000" y="5180000"/>
            <a:ext cx="275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입주 전후 이어지는 호재와 계약 절차</a:t>
            </a:r>
          </a:p>
        </p:txBody>
      </p:sp>
      <p:sp>
        <p:nvSpPr>
          <p:cNvPr id="29" name="쪽번호"/>
          <p:cNvSpPr txBox="1"/>
          <p:nvPr/>
        </p:nvSpPr>
        <p:spPr>
          <a:xfrm>
            <a:off x="9480000" y="6621913"/>
            <a:ext cx="310000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700000"/>
            <a:ext cx="2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S T E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2000000"/>
            <a:ext cx="250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3150000"/>
            <a:ext cx="52000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집값은 호재가,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호재는 교통이 만듭니다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4500000"/>
            <a:ext cx="52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왜 지금, 오송인가?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00000" y="1690000"/>
            <a:ext cx="2700000" cy="480000"/>
          </a:xfrm>
          <a:prstGeom prst="roundRect">
            <a:avLst>
              <a:gd name="adj" fmla="val 20000"/>
            </a:avLst>
          </a:prstGeom>
          <a:solidFill>
            <a:srgbClr val="16503A"/>
          </a:solidFill>
          <a:ln w="12700">
            <a:solidFill>
              <a:srgbClr val="C0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700000" y="175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50000" y="175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왜 오송인가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0000" y="240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0000" y="240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진짜 수요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0000" y="305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0000" y="305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왜 헬로우시티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0000" y="370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0000" y="370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가격과 안심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0000" y="435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0000" y="435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미래가치와 결정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700000"/>
            <a:ext cx="2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S T E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2000000"/>
            <a:ext cx="250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3150000"/>
            <a:ext cx="52000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사람이 몰리는 곳에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집이 부족합니다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4500000"/>
            <a:ext cx="52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수요는 진짜인가?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0000" y="175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0000" y="175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왜 오송인가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00000" y="2340000"/>
            <a:ext cx="2700000" cy="480000"/>
          </a:xfrm>
          <a:prstGeom prst="roundRect">
            <a:avLst>
              <a:gd name="adj" fmla="val 20000"/>
            </a:avLst>
          </a:prstGeom>
          <a:solidFill>
            <a:srgbClr val="16503A"/>
          </a:solidFill>
          <a:ln w="12700">
            <a:solidFill>
              <a:srgbClr val="C0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00000" y="240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0000" y="240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진짜 수요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0000" y="305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0000" y="305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왜 헬로우시티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0000" y="370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0000" y="370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가격과 안심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0000" y="435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0000" y="435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미래가치와 결정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700000"/>
            <a:ext cx="2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S T E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2000000"/>
            <a:ext cx="250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3150000"/>
            <a:ext cx="52000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 앞 49층,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 480세대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4500000"/>
            <a:ext cx="52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그중 왜 헬로우시티인가?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0000" y="175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0000" y="175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왜 오송인가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0000" y="240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50000" y="240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진짜 수요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00000" y="2990000"/>
            <a:ext cx="2700000" cy="480000"/>
          </a:xfrm>
          <a:prstGeom prst="roundRect">
            <a:avLst>
              <a:gd name="adj" fmla="val 20000"/>
            </a:avLst>
          </a:prstGeom>
          <a:solidFill>
            <a:srgbClr val="16503A"/>
          </a:solidFill>
          <a:ln w="12700">
            <a:solidFill>
              <a:srgbClr val="C0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00000" y="305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0000" y="305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왜 헬로우시티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0000" y="370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0000" y="370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가격과 안심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0000" y="435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0000" y="435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미래가치와 결정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700000"/>
            <a:ext cx="2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S T E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2000000"/>
            <a:ext cx="250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3150000"/>
            <a:ext cx="52000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84㎡ 6억대,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그리고 안전장치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4500000"/>
            <a:ext cx="52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왜 이 가격이고, 안전한가?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0000" y="175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0000" y="175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왜 오송인가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0000" y="240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50000" y="240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진짜 수요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0000" y="305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0000" y="305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왜 헬로우시티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00000" y="3640000"/>
            <a:ext cx="2700000" cy="480000"/>
          </a:xfrm>
          <a:prstGeom prst="roundRect">
            <a:avLst>
              <a:gd name="adj" fmla="val 20000"/>
            </a:avLst>
          </a:prstGeom>
          <a:solidFill>
            <a:srgbClr val="16503A"/>
          </a:solidFill>
          <a:ln w="12700">
            <a:solidFill>
              <a:srgbClr val="C0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00000" y="370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0000" y="370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가격과 안심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0000" y="435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0000" y="435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E7D6E"/>
                </a:solidFill>
                <a:latin typeface="맑은 고딕"/>
                <a:ea typeface="맑은 고딕"/>
                <a:cs typeface="맑은 고딕"/>
              </a:rPr>
              <a:t>미래가치와 결정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700000"/>
            <a:ext cx="2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S T E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2000000"/>
            <a:ext cx="250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3150000"/>
            <a:ext cx="52000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입주 전에도, 입주 후에도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호재는 계속됩니다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4500000"/>
            <a:ext cx="52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앞으로의 가치, 그리고 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0000" y="175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0000" y="175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왜 오송인가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0000" y="240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50000" y="240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진짜 수요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0000" y="305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0000" y="305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왜 헬로우시티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0000" y="370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0000" y="370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8FA89B"/>
                </a:solidFill>
                <a:latin typeface="맑은 고딕"/>
                <a:ea typeface="맑은 고딕"/>
                <a:cs typeface="맑은 고딕"/>
              </a:rPr>
              <a:t>가격과 안심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00000" y="4290000"/>
            <a:ext cx="2700000" cy="480000"/>
          </a:xfrm>
          <a:prstGeom prst="roundRect">
            <a:avLst>
              <a:gd name="adj" fmla="val 20000"/>
            </a:avLst>
          </a:prstGeom>
          <a:solidFill>
            <a:srgbClr val="16503A"/>
          </a:solidFill>
          <a:ln w="12700">
            <a:solidFill>
              <a:srgbClr val="C0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00000" y="4350000"/>
            <a:ext cx="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0000" y="4350000"/>
            <a:ext cx="19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미래가치와 결정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3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4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5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6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  <p:sp>
        <p:nvSpPr>
          <p:cNvPr id="7" name="STEP 라벨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오송인가  │  교통호재 한눈에</a:t>
            </a:r>
          </a:p>
        </p:txBody>
      </p:sp>
      <p:sp>
        <p:nvSpPr>
          <p:cNvPr id="8" name="제목"/>
          <p:cNvSpPr txBox="1"/>
          <p:nvPr/>
        </p:nvSpPr>
        <p:spPr>
          <a:xfrm>
            <a:off x="304800" y="664811"/>
            <a:ext cx="9100000" cy="8539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지금도 서울 50분대, 앞으로 더 빨라집니다</a:t>
            </a:r>
          </a:p>
          <a:p>
            <a:pPr algn="l"/>
            <a:r>
              <a:rPr sz="24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오송역을 중심으로 추진 중인 교통호재 5가지</a:t>
            </a:r>
          </a:p>
        </p:txBody>
      </p:sp>
      <p:sp>
        <p:nvSpPr>
          <p:cNvPr id="9" name="현재 서울"/>
          <p:cNvSpPr/>
          <p:nvPr/>
        </p:nvSpPr>
        <p:spPr>
          <a:xfrm>
            <a:off x="600000" y="1900000"/>
            <a:ext cx="2050000" cy="950000"/>
          </a:xfrm>
          <a:prstGeom prst="roundRect">
            <a:avLst>
              <a:gd name="adj" fmla="val 1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0000" y="1980000"/>
            <a:ext cx="18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현재 · 서울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000" y="2250000"/>
            <a:ext cx="180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50분대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000" y="2620000"/>
            <a:ext cx="18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D8CF"/>
                </a:solidFill>
                <a:latin typeface="맑은 고딕"/>
                <a:ea typeface="맑은 고딕"/>
                <a:cs typeface="맑은 고딕"/>
              </a:rPr>
              <a:t>KTX</a:t>
            </a:r>
          </a:p>
        </p:txBody>
      </p:sp>
      <p:sp>
        <p:nvSpPr>
          <p:cNvPr id="13" name="현재 부산·광주"/>
          <p:cNvSpPr/>
          <p:nvPr/>
        </p:nvSpPr>
        <p:spPr>
          <a:xfrm>
            <a:off x="2800000" y="1900000"/>
            <a:ext cx="2050000" cy="950000"/>
          </a:xfrm>
          <a:prstGeom prst="roundRect">
            <a:avLst>
              <a:gd name="adj" fmla="val 1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50000" y="1980000"/>
            <a:ext cx="18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현재 · 부산·광주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0000" y="2250000"/>
            <a:ext cx="180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1시간대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0000" y="2620000"/>
            <a:ext cx="18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D8CF"/>
                </a:solidFill>
                <a:latin typeface="맑은 고딕"/>
                <a:ea typeface="맑은 고딕"/>
                <a:cs typeface="맑은 고딕"/>
              </a:rPr>
              <a:t>KTX</a:t>
            </a:r>
          </a:p>
        </p:txBody>
      </p:sp>
      <p:sp>
        <p:nvSpPr>
          <p:cNvPr id="17" name="현재 세종"/>
          <p:cNvSpPr/>
          <p:nvPr/>
        </p:nvSpPr>
        <p:spPr>
          <a:xfrm>
            <a:off x="5000000" y="1900000"/>
            <a:ext cx="2050000" cy="950000"/>
          </a:xfrm>
          <a:prstGeom prst="roundRect">
            <a:avLst>
              <a:gd name="adj" fmla="val 1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50000" y="1980000"/>
            <a:ext cx="18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현재 · 세종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0000" y="2250000"/>
            <a:ext cx="180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30분대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0000" y="2620000"/>
            <a:ext cx="18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D8CF"/>
                </a:solidFill>
                <a:latin typeface="맑은 고딕"/>
                <a:ea typeface="맑은 고딕"/>
                <a:cs typeface="맑은 고딕"/>
              </a:rPr>
              <a:t>BRT</a:t>
            </a:r>
          </a:p>
        </p:txBody>
      </p:sp>
      <p:sp>
        <p:nvSpPr>
          <p:cNvPr id="21" name="현재 오송역 이용객"/>
          <p:cNvSpPr/>
          <p:nvPr/>
        </p:nvSpPr>
        <p:spPr>
          <a:xfrm>
            <a:off x="7200000" y="1900000"/>
            <a:ext cx="2050000" cy="950000"/>
          </a:xfrm>
          <a:prstGeom prst="roundRect">
            <a:avLst>
              <a:gd name="adj" fmla="val 1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50000" y="1980000"/>
            <a:ext cx="18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현재 · 오송역 이용객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0000" y="2250000"/>
            <a:ext cx="180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1,250만명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0000" y="2620000"/>
            <a:ext cx="18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8D8CF"/>
                </a:solidFill>
                <a:latin typeface="맑은 고딕"/>
                <a:ea typeface="맑은 고딕"/>
                <a:cs typeface="맑은 고딕"/>
              </a:rPr>
              <a:t>2025년, 10년간 약 3배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000" y="305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앞으로 더해질 교통호재</a:t>
            </a:r>
          </a:p>
        </p:txBody>
      </p:sp>
      <p:sp>
        <p:nvSpPr>
          <p:cNvPr id="26" name="교통호재 1"/>
          <p:cNvSpPr/>
          <p:nvPr/>
        </p:nvSpPr>
        <p:spPr>
          <a:xfrm>
            <a:off x="600000" y="3420000"/>
            <a:ext cx="1640000" cy="255000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0000" y="3550000"/>
            <a:ext cx="142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CTX 충청권 광역급행철도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" y="4170000"/>
            <a:ext cx="142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'34년 12월 예정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4550000"/>
            <a:ext cx="14200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대전청사~오송~청주공항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77분 → 50분대</a:t>
            </a:r>
          </a:p>
        </p:txBody>
      </p:sp>
      <p:sp>
        <p:nvSpPr>
          <p:cNvPr id="30" name="교통호재 2"/>
          <p:cNvSpPr/>
          <p:nvPr/>
        </p:nvSpPr>
        <p:spPr>
          <a:xfrm>
            <a:off x="2360000" y="3420000"/>
            <a:ext cx="1640000" cy="255000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480000" y="3550000"/>
            <a:ext cx="142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서울~세종 고속도로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0000" y="4170000"/>
            <a:ext cx="142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'28년 예정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80000" y="4550000"/>
            <a:ext cx="14200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오송지선 6.2km 연결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108분 → 74분</a:t>
            </a:r>
          </a:p>
        </p:txBody>
      </p:sp>
      <p:sp>
        <p:nvSpPr>
          <p:cNvPr id="34" name="교통호재 3"/>
          <p:cNvSpPr/>
          <p:nvPr/>
        </p:nvSpPr>
        <p:spPr>
          <a:xfrm>
            <a:off x="4120000" y="3420000"/>
            <a:ext cx="1640000" cy="255000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240000" y="3550000"/>
            <a:ext cx="142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평택~오송 2복선화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0000" y="4170000"/>
            <a:ext cx="142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'28년 예정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0000" y="4550000"/>
            <a:ext cx="14200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KTX·SRT 선로 용량 확대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증편 기반 마련</a:t>
            </a:r>
          </a:p>
        </p:txBody>
      </p:sp>
      <p:sp>
        <p:nvSpPr>
          <p:cNvPr id="38" name="교통호재 4"/>
          <p:cNvSpPr/>
          <p:nvPr/>
        </p:nvSpPr>
        <p:spPr>
          <a:xfrm>
            <a:off x="5880000" y="3420000"/>
            <a:ext cx="1640000" cy="255000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000000" y="3550000"/>
            <a:ext cx="142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천안~청주공항 복선전철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00000" y="4170000"/>
            <a:ext cx="142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'30년 예정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00000" y="4550000"/>
            <a:ext cx="14200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수도권 전철망을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오송·청주공항까지</a:t>
            </a:r>
          </a:p>
        </p:txBody>
      </p:sp>
      <p:sp>
        <p:nvSpPr>
          <p:cNvPr id="42" name="교통호재 5"/>
          <p:cNvSpPr/>
          <p:nvPr/>
        </p:nvSpPr>
        <p:spPr>
          <a:xfrm>
            <a:off x="7640000" y="3420000"/>
            <a:ext cx="1640000" cy="255000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760000" y="3550000"/>
            <a:ext cx="142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충북선 고속화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60000" y="4170000"/>
            <a:ext cx="142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'31년 예정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60000" y="4550000"/>
            <a:ext cx="14200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강호축 고속철도망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오송 연결 강화</a:t>
            </a:r>
          </a:p>
        </p:txBody>
      </p:sp>
      <p:sp>
        <p:nvSpPr>
          <p:cNvPr id="46" name="각주"/>
          <p:cNvSpPr txBox="1"/>
          <p:nvPr/>
        </p:nvSpPr>
        <p:spPr>
          <a:xfrm>
            <a:off x="304800" y="6215000"/>
            <a:ext cx="9300000" cy="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※ 계획 일정은 관계기관 추진 상황에 따라 변경될 수 있습니다.  자료: 교육자료 p.6, p.55~58</a:t>
            </a:r>
          </a:p>
        </p:txBody>
      </p:sp>
      <p:sp>
        <p:nvSpPr>
          <p:cNvPr id="47" name="쪽번호"/>
          <p:cNvSpPr txBox="1"/>
          <p:nvPr/>
        </p:nvSpPr>
        <p:spPr>
          <a:xfrm>
            <a:off x="9480000" y="6621913"/>
            <a:ext cx="310000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3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4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5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6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  <p:sp>
        <p:nvSpPr>
          <p:cNvPr id="7" name="STEP 라벨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오송인가  │  오송에 들어오는 돈</a:t>
            </a:r>
          </a:p>
        </p:txBody>
      </p:sp>
      <p:sp>
        <p:nvSpPr>
          <p:cNvPr id="8" name="제목"/>
          <p:cNvSpPr txBox="1"/>
          <p:nvPr/>
        </p:nvSpPr>
        <p:spPr>
          <a:xfrm>
            <a:off x="304800" y="664811"/>
            <a:ext cx="9100000" cy="8539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돈과 일자리가 들어오는 곳에 사람이 모입니다</a:t>
            </a:r>
          </a:p>
          <a:p>
            <a:pPr algn="l"/>
            <a:r>
              <a:rPr sz="24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오송에 투자되는 숫자들</a:t>
            </a:r>
          </a:p>
        </p:txBody>
      </p:sp>
      <p:sp>
        <p:nvSpPr>
          <p:cNvPr id="9" name="투자 1"/>
          <p:cNvSpPr/>
          <p:nvPr/>
        </p:nvSpPr>
        <p:spPr>
          <a:xfrm>
            <a:off x="600000" y="1900000"/>
            <a:ext cx="4250000" cy="1850000"/>
          </a:xfrm>
          <a:prstGeom prst="roundRect">
            <a:avLst>
              <a:gd name="adj" fmla="val 6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50000" y="2080000"/>
            <a:ext cx="3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셀트리온그룹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000" y="2420000"/>
            <a:ext cx="3800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2조원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3080000"/>
            <a:ext cx="38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5E2DA"/>
                </a:solidFill>
                <a:latin typeface="맑은 고딕"/>
                <a:ea typeface="맑은 고딕"/>
                <a:cs typeface="맑은 고딕"/>
              </a:rPr>
              <a:t>6만평 생산시설 투자협약('26.10)</a:t>
            </a:r>
          </a:p>
          <a:p>
            <a:pPr algn="l"/>
            <a:r>
              <a:rPr sz="1100" b="0">
                <a:solidFill>
                  <a:srgbClr val="D5E2DA"/>
                </a:solidFill>
                <a:latin typeface="맑은 고딕"/>
                <a:ea typeface="맑은 고딕"/>
                <a:cs typeface="맑은 고딕"/>
              </a:rPr>
              <a:t>'28년 착공 · 신규 고용 700명</a:t>
            </a:r>
          </a:p>
        </p:txBody>
      </p:sp>
      <p:sp>
        <p:nvSpPr>
          <p:cNvPr id="13" name="투자 2"/>
          <p:cNvSpPr/>
          <p:nvPr/>
        </p:nvSpPr>
        <p:spPr>
          <a:xfrm>
            <a:off x="5000000" y="1900000"/>
            <a:ext cx="4250000" cy="1850000"/>
          </a:xfrm>
          <a:prstGeom prst="roundRect">
            <a:avLst>
              <a:gd name="adj" fmla="val 6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250000" y="2080000"/>
            <a:ext cx="3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오송제3생명과학 국가산단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0000" y="2420000"/>
            <a:ext cx="3800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2조 3,481억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0000" y="3080000"/>
            <a:ext cx="38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사업비 · 생산유발 1조 7,968억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고용유발 1만 1,562명</a:t>
            </a:r>
          </a:p>
        </p:txBody>
      </p:sp>
      <p:sp>
        <p:nvSpPr>
          <p:cNvPr id="17" name="투자 3"/>
          <p:cNvSpPr/>
          <p:nvPr/>
        </p:nvSpPr>
        <p:spPr>
          <a:xfrm>
            <a:off x="600000" y="3950000"/>
            <a:ext cx="4250000" cy="1850000"/>
          </a:xfrm>
          <a:prstGeom prst="roundRect">
            <a:avLst>
              <a:gd name="adj" fmla="val 6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0000" y="4130000"/>
            <a:ext cx="3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오송역 환승센터 복합개발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000" y="4470000"/>
            <a:ext cx="3800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1조원+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000" y="5130000"/>
            <a:ext cx="38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215,541㎡ 상업·업무·숙박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복합 랜드마크 (재공모 진행 중)</a:t>
            </a:r>
          </a:p>
        </p:txBody>
      </p:sp>
      <p:sp>
        <p:nvSpPr>
          <p:cNvPr id="21" name="투자 4"/>
          <p:cNvSpPr/>
          <p:nvPr/>
        </p:nvSpPr>
        <p:spPr>
          <a:xfrm>
            <a:off x="5000000" y="3950000"/>
            <a:ext cx="4250000" cy="1850000"/>
          </a:xfrm>
          <a:prstGeom prst="roundRect">
            <a:avLst>
              <a:gd name="adj" fmla="val 6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250000" y="4130000"/>
            <a:ext cx="3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KAIST · 서울대병원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0000" y="4470000"/>
            <a:ext cx="3800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바이오 캠퍼스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0000" y="5130000"/>
            <a:ext cx="38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5E2DA"/>
                </a:solidFill>
                <a:latin typeface="맑은 고딕"/>
                <a:ea typeface="맑은 고딕"/>
                <a:cs typeface="맑은 고딕"/>
              </a:rPr>
              <a:t>KAIST 바이오메디컬 캠퍼스 '32 목표</a:t>
            </a:r>
          </a:p>
          <a:p>
            <a:pPr algn="l"/>
            <a:r>
              <a:rPr sz="1100" b="0">
                <a:solidFill>
                  <a:srgbClr val="D5E2DA"/>
                </a:solidFill>
                <a:latin typeface="맑은 고딕"/>
                <a:ea typeface="맑은 고딕"/>
                <a:cs typeface="맑은 고딕"/>
              </a:rPr>
              <a:t>서울대 R&amp;D 임상병원 600병상 계획</a:t>
            </a:r>
          </a:p>
        </p:txBody>
      </p:sp>
      <p:sp>
        <p:nvSpPr>
          <p:cNvPr id="25" name="각주"/>
          <p:cNvSpPr txBox="1"/>
          <p:nvPr/>
        </p:nvSpPr>
        <p:spPr>
          <a:xfrm>
            <a:off x="304800" y="6215000"/>
            <a:ext cx="9300000" cy="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※ 예정사항으로 사업 진행 상황에 따라 변경될 수 있습니다.  자료: 교육자료 p.10, p.59, p.62, p.64</a:t>
            </a:r>
          </a:p>
        </p:txBody>
      </p:sp>
      <p:sp>
        <p:nvSpPr>
          <p:cNvPr id="26" name="쪽번호"/>
          <p:cNvSpPr txBox="1"/>
          <p:nvPr/>
        </p:nvSpPr>
        <p:spPr>
          <a:xfrm>
            <a:off x="9480000" y="6621913"/>
            <a:ext cx="310000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3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4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5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6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  <p:sp>
        <p:nvSpPr>
          <p:cNvPr id="7" name="STEP 라벨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4  ·  가격과 안심  │  솔직한 답변</a:t>
            </a:r>
          </a:p>
        </p:txBody>
      </p:sp>
      <p:sp>
        <p:nvSpPr>
          <p:cNvPr id="8" name="제목"/>
          <p:cNvSpPr txBox="1"/>
          <p:nvPr/>
        </p:nvSpPr>
        <p:spPr>
          <a:xfrm>
            <a:off x="304800" y="664811"/>
            <a:ext cx="9100000" cy="8539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지역주택조합, 걱정되시죠?</a:t>
            </a:r>
          </a:p>
          <a:p>
            <a:pPr algn="l"/>
            <a:r>
              <a:rPr sz="24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가장 많이 하시는 걱정 4가지에 서류로 답합니다</a:t>
            </a:r>
          </a:p>
        </p:txBody>
      </p:sp>
      <p:sp>
        <p:nvSpPr>
          <p:cNvPr id="9" name="걱정 1"/>
          <p:cNvSpPr/>
          <p:nvPr/>
        </p:nvSpPr>
        <p:spPr>
          <a:xfrm>
            <a:off x="600000" y="1900000"/>
            <a:ext cx="4250000" cy="17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0000" y="2060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걱정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000" y="2320000"/>
            <a:ext cx="39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땅을 못 사서 사업이 멈춘다?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00" y="2760000"/>
            <a:ext cx="39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5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 99.9% 계약 완료 후 모집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000" y="3160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토지 확보가 끝난 뒤 출발하는 사업입니다</a:t>
            </a:r>
          </a:p>
        </p:txBody>
      </p:sp>
      <p:sp>
        <p:nvSpPr>
          <p:cNvPr id="14" name="걱정 2"/>
          <p:cNvSpPr/>
          <p:nvPr/>
        </p:nvSpPr>
        <p:spPr>
          <a:xfrm>
            <a:off x="5000000" y="1900000"/>
            <a:ext cx="4250000" cy="17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20000" y="2060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걱정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0000" y="2320000"/>
            <a:ext cx="39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용도변경이 안 될 수도?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0000" y="2760000"/>
            <a:ext cx="39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5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인·허가 완료된 도시개발사업지구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0000" y="3160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오송역세권 도시개발사업지구 · 일반상업지역</a:t>
            </a:r>
          </a:p>
        </p:txBody>
      </p:sp>
      <p:sp>
        <p:nvSpPr>
          <p:cNvPr id="19" name="걱정 3"/>
          <p:cNvSpPr/>
          <p:nvPr/>
        </p:nvSpPr>
        <p:spPr>
          <a:xfrm>
            <a:off x="600000" y="3800000"/>
            <a:ext cx="4250000" cy="17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0000" y="3960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걱정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000" y="4220000"/>
            <a:ext cx="39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내 돈은 안전한가?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000" y="4660000"/>
            <a:ext cx="39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5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신한자산신탁 신탁계좌 분리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000" y="5060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대행사·개인 계좌로는 받지 않습니다</a:t>
            </a:r>
          </a:p>
        </p:txBody>
      </p:sp>
      <p:sp>
        <p:nvSpPr>
          <p:cNvPr id="24" name="걱정 4"/>
          <p:cNvSpPr/>
          <p:nvPr/>
        </p:nvSpPr>
        <p:spPr>
          <a:xfrm>
            <a:off x="5000000" y="3800000"/>
            <a:ext cx="4250000" cy="17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220000" y="3960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걱정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0000" y="4220000"/>
            <a:ext cx="39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추가분담금·지연은?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0000" y="4660000"/>
            <a:ext cx="39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5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토지계약 선행으로 사업비 비교적 안정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0000" y="5060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2031년 2월 입주 예정 · 변동 조항은 계약서로 설명</a:t>
            </a:r>
          </a:p>
        </p:txBody>
      </p:sp>
      <p:sp>
        <p:nvSpPr>
          <p:cNvPr id="29" name="핵심 멘트"/>
          <p:cNvSpPr/>
          <p:nvPr/>
        </p:nvSpPr>
        <p:spPr>
          <a:xfrm>
            <a:off x="600000" y="5720000"/>
            <a:ext cx="8650000" cy="420000"/>
          </a:xfrm>
          <a:prstGeom prst="roundRect">
            <a:avLst>
              <a:gd name="adj" fmla="val 3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00000" y="5720000"/>
            <a:ext cx="865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“의심하시는 게 당연합니다. 저희 말만 믿지 마시고, 서류로 직접 확인하십시오.”</a:t>
            </a:r>
          </a:p>
        </p:txBody>
      </p:sp>
      <p:sp>
        <p:nvSpPr>
          <p:cNvPr id="31" name="쪽번호"/>
          <p:cNvSpPr txBox="1"/>
          <p:nvPr/>
        </p:nvSpPr>
        <p:spPr>
          <a:xfrm>
            <a:off x="9480000" y="6621913"/>
            <a:ext cx="310000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진행표시 1"/>
          <p:cNvSpPr/>
          <p:nvPr/>
        </p:nvSpPr>
        <p:spPr>
          <a:xfrm>
            <a:off x="548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 입지·호재</a:t>
            </a:r>
          </a:p>
        </p:txBody>
      </p:sp>
      <p:sp>
        <p:nvSpPr>
          <p:cNvPr id="3" name="진행표시 2"/>
          <p:cNvSpPr/>
          <p:nvPr/>
        </p:nvSpPr>
        <p:spPr>
          <a:xfrm>
            <a:off x="617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 수요</a:t>
            </a:r>
          </a:p>
        </p:txBody>
      </p:sp>
      <p:sp>
        <p:nvSpPr>
          <p:cNvPr id="4" name="진행표시 3"/>
          <p:cNvSpPr/>
          <p:nvPr/>
        </p:nvSpPr>
        <p:spPr>
          <a:xfrm>
            <a:off x="686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 상품</a:t>
            </a:r>
          </a:p>
        </p:txBody>
      </p:sp>
      <p:sp>
        <p:nvSpPr>
          <p:cNvPr id="5" name="진행표시 4"/>
          <p:cNvSpPr/>
          <p:nvPr/>
        </p:nvSpPr>
        <p:spPr>
          <a:xfrm>
            <a:off x="755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 가격·안심</a:t>
            </a:r>
          </a:p>
        </p:txBody>
      </p:sp>
      <p:sp>
        <p:nvSpPr>
          <p:cNvPr id="6" name="진행표시 5"/>
          <p:cNvSpPr/>
          <p:nvPr/>
        </p:nvSpPr>
        <p:spPr>
          <a:xfrm>
            <a:off x="8240000" y="3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F1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0">
                <a:solidFill>
                  <a:srgbClr val="9AA59F"/>
                </a:solidFill>
                <a:latin typeface="맑은 고딕"/>
                <a:ea typeface="맑은 고딕"/>
                <a:cs typeface="맑은 고딕"/>
              </a:rPr>
              <a:t>5 결정</a:t>
            </a:r>
          </a:p>
        </p:txBody>
      </p:sp>
      <p:sp>
        <p:nvSpPr>
          <p:cNvPr id="7" name="STEP 라벨"/>
          <p:cNvSpPr txBox="1"/>
          <p:nvPr/>
        </p:nvSpPr>
        <p:spPr>
          <a:xfrm>
            <a:off x="304800" y="383496"/>
            <a:ext cx="5300000" cy="183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4  ·  가격과 안심  │  법이 지켜주는 안전장치</a:t>
            </a:r>
          </a:p>
        </p:txBody>
      </p:sp>
      <p:sp>
        <p:nvSpPr>
          <p:cNvPr id="8" name="제목"/>
          <p:cNvSpPr txBox="1"/>
          <p:nvPr/>
        </p:nvSpPr>
        <p:spPr>
          <a:xfrm>
            <a:off x="304800" y="664811"/>
            <a:ext cx="9100000" cy="8539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개인의 약속이 아니라, 법이 정한 안전장치입니다</a:t>
            </a:r>
          </a:p>
          <a:p>
            <a:pPr algn="l"/>
            <a:r>
              <a:rPr sz="24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2026년 주택법 개정으로 조합원 보호가 더 강화되었습니다</a:t>
            </a:r>
          </a:p>
        </p:txBody>
      </p:sp>
      <p:sp>
        <p:nvSpPr>
          <p:cNvPr id="9" name="안전장치 1"/>
          <p:cNvSpPr/>
          <p:nvPr/>
        </p:nvSpPr>
        <p:spPr>
          <a:xfrm>
            <a:off x="600000" y="1900000"/>
            <a:ext cx="2780000" cy="3200000"/>
          </a:xfrm>
          <a:prstGeom prst="roundRect">
            <a:avLst>
              <a:gd name="adj" fmla="val 5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0000" y="2050000"/>
            <a:ext cx="24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01  사업 속도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000" y="2400000"/>
            <a:ext cx="24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95% → 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00" y="3050000"/>
            <a:ext cx="24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사업계획승인 토지 소유권 기준 완화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000" y="3650000"/>
            <a:ext cx="2450000" cy="1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✔ </a:t>
            </a:r>
            <a:r>
              <a:rPr sz="12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2026.8 주택법 개정, 공포 즉시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✔ </a:t>
            </a:r>
            <a:r>
              <a:rPr sz="12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남은 토지는 매도청구로 확보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✔ </a:t>
            </a:r>
            <a:r>
              <a:rPr sz="12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‘알박기’로 멈출 위험 감소</a:t>
            </a:r>
          </a:p>
        </p:txBody>
      </p:sp>
      <p:sp>
        <p:nvSpPr>
          <p:cNvPr id="14" name="안전장치 2"/>
          <p:cNvSpPr/>
          <p:nvPr/>
        </p:nvSpPr>
        <p:spPr>
          <a:xfrm>
            <a:off x="3530000" y="1900000"/>
            <a:ext cx="2780000" cy="3200000"/>
          </a:xfrm>
          <a:prstGeom prst="roundRect">
            <a:avLst>
              <a:gd name="adj" fmla="val 5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0000" y="2050000"/>
            <a:ext cx="24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02  기한 장치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0000" y="2400000"/>
            <a:ext cx="24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2년 · 3년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0000" y="3050000"/>
            <a:ext cx="24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사업이 기약 없이 늘어지지 않는 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0000" y="3650000"/>
            <a:ext cx="2450000" cy="1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✔ </a:t>
            </a:r>
            <a:r>
              <a:rPr sz="12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모집신고 후 2년 내 조합설립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✔ </a:t>
            </a:r>
            <a:r>
              <a:rPr sz="12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설립 후 3년 내 사업승인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✔ </a:t>
            </a:r>
            <a:r>
              <a:rPr sz="12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미달 시 총회에서 조합원이 결정</a:t>
            </a:r>
          </a:p>
        </p:txBody>
      </p:sp>
      <p:sp>
        <p:nvSpPr>
          <p:cNvPr id="19" name="안전장치 3"/>
          <p:cNvSpPr/>
          <p:nvPr/>
        </p:nvSpPr>
        <p:spPr>
          <a:xfrm>
            <a:off x="6460000" y="1900000"/>
            <a:ext cx="2780000" cy="3200000"/>
          </a:xfrm>
          <a:prstGeom prst="roundRect">
            <a:avLst>
              <a:gd name="adj" fmla="val 5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80000" y="2050000"/>
            <a:ext cx="24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03  가입비 보호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0000" y="2400000"/>
            <a:ext cx="24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30일 철회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0000" y="3050000"/>
            <a:ext cx="24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신탁(예치기관) 보관, 이유 없이 철회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0000" y="3650000"/>
            <a:ext cx="2450000" cy="1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✔ </a:t>
            </a:r>
            <a:r>
              <a:rPr sz="12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가입비 예치일부터 30일 이내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✔ </a:t>
            </a:r>
            <a:r>
              <a:rPr sz="12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철회 시 최대 17일 내 전액 반환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✔ </a:t>
            </a:r>
            <a:r>
              <a:rPr sz="12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위약금·손해배상 청구 불가</a:t>
            </a:r>
          </a:p>
        </p:txBody>
      </p:sp>
      <p:sp>
        <p:nvSpPr>
          <p:cNvPr id="24" name="안전장치 요약"/>
          <p:cNvSpPr/>
          <p:nvPr/>
        </p:nvSpPr>
        <p:spPr>
          <a:xfrm>
            <a:off x="600000" y="5330000"/>
            <a:ext cx="8640000" cy="560000"/>
          </a:xfrm>
          <a:prstGeom prst="roundRect">
            <a:avLst>
              <a:gd name="adj" fmla="val 30000"/>
            </a:avLst>
          </a:prstGeom>
          <a:solidFill>
            <a:srgbClr val="0F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0000" y="5330000"/>
            <a:ext cx="864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모든 내용은 계약서 · 신탁계약서 · 모집공고문으로 직접 확인하실 수 있습니다</a:t>
            </a:r>
          </a:p>
        </p:txBody>
      </p:sp>
      <p:sp>
        <p:nvSpPr>
          <p:cNvPr id="26" name="각주"/>
          <p:cNvSpPr txBox="1"/>
          <p:nvPr/>
        </p:nvSpPr>
        <p:spPr>
          <a:xfrm>
            <a:off x="304800" y="6215000"/>
            <a:ext cx="9300000" cy="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※ 근거: 주택법 제11조의6·제14조의2·제22조. 철회기간 60일 연장은 정부 추진 중(미확정)으로 현행 30일 기준 안내.  자료: 교육자료 p.70, 73, 74</a:t>
            </a:r>
          </a:p>
        </p:txBody>
      </p:sp>
      <p:sp>
        <p:nvSpPr>
          <p:cNvPr id="27" name="쪽번호"/>
          <p:cNvSpPr txBox="1"/>
          <p:nvPr/>
        </p:nvSpPr>
        <p:spPr>
          <a:xfrm>
            <a:off x="9480000" y="6621913"/>
            <a:ext cx="310000" cy="168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520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결정하시기 전에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850000"/>
            <a:ext cx="88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직접 확인하실 6가지, 저희가 모두 보여드리겠습니다</a:t>
            </a:r>
          </a:p>
        </p:txBody>
      </p:sp>
      <p:sp>
        <p:nvSpPr>
          <p:cNvPr id="4" name="확인 1"/>
          <p:cNvSpPr/>
          <p:nvPr/>
        </p:nvSpPr>
        <p:spPr>
          <a:xfrm>
            <a:off x="560000" y="1700000"/>
            <a:ext cx="2780000" cy="580000"/>
          </a:xfrm>
          <a:prstGeom prst="roundRect">
            <a:avLst>
              <a:gd name="adj" fmla="val 15000"/>
            </a:avLst>
          </a:prstGeom>
          <a:solidFill>
            <a:srgbClr val="0C3827"/>
          </a:solidFill>
          <a:ln w="12700">
            <a:solidFill>
              <a:srgbClr val="5E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0000" y="1700000"/>
            <a:ext cx="255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☐  </a:t>
            </a: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토지계약 현황 (99.9%)</a:t>
            </a:r>
          </a:p>
        </p:txBody>
      </p:sp>
      <p:sp>
        <p:nvSpPr>
          <p:cNvPr id="6" name="확인 2"/>
          <p:cNvSpPr/>
          <p:nvPr/>
        </p:nvSpPr>
        <p:spPr>
          <a:xfrm>
            <a:off x="3460000" y="1700000"/>
            <a:ext cx="2780000" cy="580000"/>
          </a:xfrm>
          <a:prstGeom prst="roundRect">
            <a:avLst>
              <a:gd name="adj" fmla="val 15000"/>
            </a:avLst>
          </a:prstGeom>
          <a:solidFill>
            <a:srgbClr val="0C3827"/>
          </a:solidFill>
          <a:ln w="12700">
            <a:solidFill>
              <a:srgbClr val="5E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10000" y="1700000"/>
            <a:ext cx="255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☐  </a:t>
            </a: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조합원 모집신고 필증 (청주시)</a:t>
            </a:r>
          </a:p>
        </p:txBody>
      </p:sp>
      <p:sp>
        <p:nvSpPr>
          <p:cNvPr id="8" name="확인 3"/>
          <p:cNvSpPr/>
          <p:nvPr/>
        </p:nvSpPr>
        <p:spPr>
          <a:xfrm>
            <a:off x="560000" y="2400000"/>
            <a:ext cx="2780000" cy="580000"/>
          </a:xfrm>
          <a:prstGeom prst="roundRect">
            <a:avLst>
              <a:gd name="adj" fmla="val 15000"/>
            </a:avLst>
          </a:prstGeom>
          <a:solidFill>
            <a:srgbClr val="0C3827"/>
          </a:solidFill>
          <a:ln w="12700">
            <a:solidFill>
              <a:srgbClr val="5E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0000" y="2400000"/>
            <a:ext cx="255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☐  </a:t>
            </a: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신탁 자금관리 (신한자산신탁)</a:t>
            </a:r>
          </a:p>
        </p:txBody>
      </p:sp>
      <p:sp>
        <p:nvSpPr>
          <p:cNvPr id="10" name="확인 4"/>
          <p:cNvSpPr/>
          <p:nvPr/>
        </p:nvSpPr>
        <p:spPr>
          <a:xfrm>
            <a:off x="3460000" y="2400000"/>
            <a:ext cx="2780000" cy="580000"/>
          </a:xfrm>
          <a:prstGeom prst="roundRect">
            <a:avLst>
              <a:gd name="adj" fmla="val 15000"/>
            </a:avLst>
          </a:prstGeom>
          <a:solidFill>
            <a:srgbClr val="0C3827"/>
          </a:solidFill>
          <a:ln w="12700">
            <a:solidFill>
              <a:srgbClr val="5E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10000" y="2400000"/>
            <a:ext cx="255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☐  </a:t>
            </a: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진행 단계 및 일정</a:t>
            </a:r>
          </a:p>
        </p:txBody>
      </p:sp>
      <p:sp>
        <p:nvSpPr>
          <p:cNvPr id="12" name="확인 5"/>
          <p:cNvSpPr/>
          <p:nvPr/>
        </p:nvSpPr>
        <p:spPr>
          <a:xfrm>
            <a:off x="560000" y="3100000"/>
            <a:ext cx="2780000" cy="580000"/>
          </a:xfrm>
          <a:prstGeom prst="roundRect">
            <a:avLst>
              <a:gd name="adj" fmla="val 15000"/>
            </a:avLst>
          </a:prstGeom>
          <a:solidFill>
            <a:srgbClr val="0C3827"/>
          </a:solidFill>
          <a:ln w="12700">
            <a:solidFill>
              <a:srgbClr val="5E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0000" y="3100000"/>
            <a:ext cx="255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☐  </a:t>
            </a: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주변 84㎡ 실거래가 (7~10억대)</a:t>
            </a:r>
          </a:p>
        </p:txBody>
      </p:sp>
      <p:sp>
        <p:nvSpPr>
          <p:cNvPr id="14" name="확인 6"/>
          <p:cNvSpPr/>
          <p:nvPr/>
        </p:nvSpPr>
        <p:spPr>
          <a:xfrm>
            <a:off x="3460000" y="3100000"/>
            <a:ext cx="2780000" cy="580000"/>
          </a:xfrm>
          <a:prstGeom prst="roundRect">
            <a:avLst>
              <a:gd name="adj" fmla="val 15000"/>
            </a:avLst>
          </a:prstGeom>
          <a:solidFill>
            <a:srgbClr val="0C3827"/>
          </a:solidFill>
          <a:ln w="12700">
            <a:solidFill>
              <a:srgbClr val="5E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10000" y="3100000"/>
            <a:ext cx="255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☐  </a:t>
            </a: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팍스디앤엠 사업수행 이력</a:t>
            </a:r>
          </a:p>
        </p:txBody>
      </p:sp>
      <p:sp>
        <p:nvSpPr>
          <p:cNvPr id="16" name="계약 안내"/>
          <p:cNvSpPr/>
          <p:nvPr/>
        </p:nvSpPr>
        <p:spPr>
          <a:xfrm>
            <a:off x="6550000" y="1700000"/>
            <a:ext cx="2800000" cy="3380000"/>
          </a:xfrm>
          <a:prstGeom prst="roundRect">
            <a:avLst>
              <a:gd name="adj" fmla="val 5000"/>
            </a:avLst>
          </a:prstGeom>
          <a:solidFill>
            <a:srgbClr val="F7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50000" y="1820000"/>
            <a:ext cx="24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오늘 기준 진행 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0000" y="2200000"/>
            <a:ext cx="24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정계약 (계약권한자)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0000" y="2460000"/>
            <a:ext cx="24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10/23(금)~10/25(일)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0000" y="2820000"/>
            <a:ext cx="24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예비자 정계약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0000" y="3080000"/>
            <a:ext cx="24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10/26(월)~10/30(금)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0000" y="3440000"/>
            <a:ext cx="24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잔여 지위 선착순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0000" y="3700000"/>
            <a:ext cx="24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10/31(토)부터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0000" y="4130000"/>
            <a:ext cx="24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준비물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0000" y="4420000"/>
            <a:ext cx="245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신분증 · 주민등록등본 · 통장사본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0000" y="3950000"/>
            <a:ext cx="57000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충북 167만, 청주 89만 명 중 </a:t>
            </a:r>
            <a:r>
              <a:rPr sz="14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단 480세대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계약 후에도 </a:t>
            </a:r>
            <a:r>
              <a:rPr sz="1400" b="1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가입비 예치일부터 30일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철회 가능한 안전장치</a:t>
            </a:r>
          </a:p>
        </p:txBody>
      </p:sp>
      <p:sp>
        <p:nvSpPr>
          <p:cNvPr id="27" name="클로징 멘트"/>
          <p:cNvSpPr/>
          <p:nvPr/>
        </p:nvSpPr>
        <p:spPr>
          <a:xfrm>
            <a:off x="560000" y="5400000"/>
            <a:ext cx="8790000" cy="600000"/>
          </a:xfrm>
          <a:prstGeom prst="roundRect">
            <a:avLst>
              <a:gd name="adj" fmla="val 30000"/>
            </a:avLst>
          </a:prstGeom>
          <a:solidFill>
            <a:srgbClr val="C0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60000" y="5400000"/>
            <a:ext cx="8790000" cy="6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C3827"/>
                </a:solidFill>
                <a:latin typeface="맑은 고딕"/>
                <a:ea typeface="맑은 고딕"/>
                <a:cs typeface="맑은 고딕"/>
              </a:rPr>
              <a:t>오송역 앞 49층, 84㎡가 6억대. 경쟁력이 있는지 고객님께서 직접 판단해 주십시오.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000" y="6300000"/>
            <a:ext cx="8790000" cy="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8D2CC"/>
                </a:solidFill>
                <a:latin typeface="맑은 고딕"/>
                <a:ea typeface="맑은 고딕"/>
                <a:cs typeface="맑은 고딕"/>
              </a:rPr>
              <a:t>※ 일정·조건은 모집공고 및 계약서 기준이며 변경될 수 있습니다. 진행 단계 날짜는 브리핑 당일 기준으로 수정해 사용하세요.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